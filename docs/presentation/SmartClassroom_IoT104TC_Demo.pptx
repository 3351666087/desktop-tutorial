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40623c6e884d4c" /><Relationship Type="http://schemas.openxmlformats.org/officeDocument/2006/relationships/extended-properties" Target="/docProps/app.xml" Id="Ree7835efb56c4130" /><Relationship Type="http://schemas.openxmlformats.org/officeDocument/2006/relationships/officeDocument" Target="/ppt/presentation.xml" Id="R8474391b2ea8481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0875dbc8ca24d81"/>
  </p:sldMasterIdLst>
  <p:notesMasterIdLst>
    <p:notesMasterId xmlns:r="http://schemas.openxmlformats.org/officeDocument/2006/relationships" r:id="Rc377341d7c08451c"/>
  </p:notesMasterIdLst>
  <p:sldIdLst>
    <p:sldId xmlns:r="http://schemas.openxmlformats.org/officeDocument/2006/relationships" id="256" r:id="R4747e86d1ec649c8"/>
    <p:sldId xmlns:r="http://schemas.openxmlformats.org/officeDocument/2006/relationships" id="257" r:id="R9867d1b958314ffa"/>
    <p:sldId xmlns:r="http://schemas.openxmlformats.org/officeDocument/2006/relationships" id="258" r:id="Rc457067c5a4c4562"/>
    <p:sldId xmlns:r="http://schemas.openxmlformats.org/officeDocument/2006/relationships" id="259" r:id="R08021fd641f04612"/>
    <p:sldId xmlns:r="http://schemas.openxmlformats.org/officeDocument/2006/relationships" id="260" r:id="R6696cb5b4ee94a55"/>
    <p:sldId xmlns:r="http://schemas.openxmlformats.org/officeDocument/2006/relationships" id="261" r:id="R35263d2112394fad"/>
    <p:sldId xmlns:r="http://schemas.openxmlformats.org/officeDocument/2006/relationships" id="262" r:id="R1fc19c87e88d4850"/>
    <p:sldId xmlns:r="http://schemas.openxmlformats.org/officeDocument/2006/relationships" id="263" r:id="Rd45ae40a696440b6"/>
    <p:sldId xmlns:r="http://schemas.openxmlformats.org/officeDocument/2006/relationships" id="264" r:id="R2fad8c6e223042c2"/>
    <p:sldId xmlns:r="http://schemas.openxmlformats.org/officeDocument/2006/relationships" id="265" r:id="Re8e12326f0e24c73"/>
    <p:sldId xmlns:r="http://schemas.openxmlformats.org/officeDocument/2006/relationships" id="266" r:id="R97666b85307a4fcc"/>
    <p:sldId xmlns:r="http://schemas.openxmlformats.org/officeDocument/2006/relationships" id="267" r:id="R1b4c68d7133649d8"/>
    <p:sldId xmlns:r="http://schemas.openxmlformats.org/officeDocument/2006/relationships" id="268" r:id="Rfc7c909df6fc440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875dbc8ca24d81" /><Relationship Type="http://schemas.openxmlformats.org/officeDocument/2006/relationships/theme" Target="/ppt/theme/theme1.xml" Id="Rd262c9c715c8418a" /><Relationship Type="http://schemas.openxmlformats.org/officeDocument/2006/relationships/notesMaster" Target="/ppt/notesMasters/notesMaster1.xml" Id="Rc377341d7c08451c" /><Relationship Type="http://schemas.openxmlformats.org/officeDocument/2006/relationships/presProps" Target="/ppt/presProps.xml" Id="Rbd1e9acd713b441c" /><Relationship Type="http://schemas.openxmlformats.org/officeDocument/2006/relationships/viewProps" Target="/ppt/viewProps.xml" Id="R546f92cec03b4144" /><Relationship Type="http://schemas.openxmlformats.org/officeDocument/2006/relationships/tableStyles" Target="/ppt/tableStyles.xml" Id="R08df8d77deb143c2" /><Relationship Type="http://schemas.openxmlformats.org/officeDocument/2006/relationships/slide" Target="/ppt/slides/slide1.xml" Id="R4747e86d1ec649c8" /><Relationship Type="http://schemas.openxmlformats.org/officeDocument/2006/relationships/slide" Target="/ppt/slides/slide2.xml" Id="R9867d1b958314ffa" /><Relationship Type="http://schemas.openxmlformats.org/officeDocument/2006/relationships/slide" Target="/ppt/slides/slide3.xml" Id="Rc457067c5a4c4562" /><Relationship Type="http://schemas.openxmlformats.org/officeDocument/2006/relationships/slide" Target="/ppt/slides/slide4.xml" Id="R08021fd641f04612" /><Relationship Type="http://schemas.openxmlformats.org/officeDocument/2006/relationships/slide" Target="/ppt/slides/slide5.xml" Id="R6696cb5b4ee94a55" /><Relationship Type="http://schemas.openxmlformats.org/officeDocument/2006/relationships/slide" Target="/ppt/slides/slide6.xml" Id="R35263d2112394fad" /><Relationship Type="http://schemas.openxmlformats.org/officeDocument/2006/relationships/slide" Target="/ppt/slides/slide7.xml" Id="R1fc19c87e88d4850" /><Relationship Type="http://schemas.openxmlformats.org/officeDocument/2006/relationships/slide" Target="/ppt/slides/slide8.xml" Id="Rd45ae40a696440b6" /><Relationship Type="http://schemas.openxmlformats.org/officeDocument/2006/relationships/slide" Target="/ppt/slides/slide9.xml" Id="R2fad8c6e223042c2" /><Relationship Type="http://schemas.openxmlformats.org/officeDocument/2006/relationships/slide" Target="/ppt/slides/slide10.xml" Id="Re8e12326f0e24c73" /><Relationship Type="http://schemas.openxmlformats.org/officeDocument/2006/relationships/slide" Target="/ppt/slides/slide11.xml" Id="R97666b85307a4fcc" /><Relationship Type="http://schemas.openxmlformats.org/officeDocument/2006/relationships/slide" Target="/ppt/slides/slide12.xml" Id="R1b4c68d7133649d8" /><Relationship Type="http://schemas.openxmlformats.org/officeDocument/2006/relationships/slide" Target="/ppt/slides/slide13.xml" Id="Rfc7c909df6fc44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5e772d8244584d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9e99c07e804c89" /><Relationship Type="http://schemas.openxmlformats.org/officeDocument/2006/relationships/notesMaster" Target="/ppt/notesMasters/notesMaster1.xml" Id="R4123440ffc4f4b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46b84ed91d42f5" /><Relationship Type="http://schemas.openxmlformats.org/officeDocument/2006/relationships/notesMaster" Target="/ppt/notesMasters/notesMaster1.xml" Id="Rbe5269434a314a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7892405407d4b95" /><Relationship Type="http://schemas.openxmlformats.org/officeDocument/2006/relationships/notesMaster" Target="/ppt/notesMasters/notesMaster1.xml" Id="R24abcc969dea40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0d208cd7ac4e75" /><Relationship Type="http://schemas.openxmlformats.org/officeDocument/2006/relationships/notesMaster" Target="/ppt/notesMasters/notesMaster1.xml" Id="R6a536e2af25042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e72e932e3847b9" /><Relationship Type="http://schemas.openxmlformats.org/officeDocument/2006/relationships/notesMaster" Target="/ppt/notesMasters/notesMaster1.xml" Id="R1f8d9f3e7d1d49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189259a1ef4aed" /><Relationship Type="http://schemas.openxmlformats.org/officeDocument/2006/relationships/notesMaster" Target="/ppt/notesMasters/notesMaster1.xml" Id="R383a32853f9a4f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ce2758294204f53" /><Relationship Type="http://schemas.openxmlformats.org/officeDocument/2006/relationships/notesMaster" Target="/ppt/notesMasters/notesMaster1.xml" Id="Ree74d687a34341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7afa1f7b344590" /><Relationship Type="http://schemas.openxmlformats.org/officeDocument/2006/relationships/notesMaster" Target="/ppt/notesMasters/notesMaster1.xml" Id="R6cc616471ec946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38a12e76904ebe" /><Relationship Type="http://schemas.openxmlformats.org/officeDocument/2006/relationships/notesMaster" Target="/ppt/notesMasters/notesMaster1.xml" Id="Rea2dba03a18a4f5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d72efd54c6406a" /><Relationship Type="http://schemas.openxmlformats.org/officeDocument/2006/relationships/notesMaster" Target="/ppt/notesMasters/notesMaster1.xml" Id="R471a228974eb469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5ada056a84547b7" /><Relationship Type="http://schemas.openxmlformats.org/officeDocument/2006/relationships/notesMaster" Target="/ppt/notesMasters/notesMaster1.xml" Id="Rf1f6da7a54b340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848d535bc04443" /><Relationship Type="http://schemas.openxmlformats.org/officeDocument/2006/relationships/notesMaster" Target="/ppt/notesMasters/notesMaster1.xml" Id="Rb3cbcf62a5de499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1da78bc760424b" /><Relationship Type="http://schemas.openxmlformats.org/officeDocument/2006/relationships/notesMaster" Target="/ppt/notesMasters/notesMaster1.xml" Id="R36460b77fc2a4c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633f4aff8d447c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9eef5c4a32b44d7" /><Relationship Type="http://schemas.openxmlformats.org/officeDocument/2006/relationships/slideLayout" Target="/ppt/slideLayouts/slideLayout2.xml" Id="Ra62c7efa08904b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2c7efa08904b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9e320fec2543bf" /><Relationship Type="http://schemas.openxmlformats.org/officeDocument/2006/relationships/notesSlide" Target="/ppt/notesSlides/notesSlide1.xml" Id="R835339dbb8364a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56c9f8890a4f15" /><Relationship Type="http://schemas.openxmlformats.org/officeDocument/2006/relationships/image" Target="/ppt/media/image.png" Id="Rebbc24bf30ec4443" /><Relationship Type="http://schemas.openxmlformats.org/officeDocument/2006/relationships/notesSlide" Target="/ppt/notesSlides/notesSlide2.xml" Id="R16f00c7e934149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68b5fa691f443d" /><Relationship Type="http://schemas.openxmlformats.org/officeDocument/2006/relationships/notesSlide" Target="/ppt/notesSlides/notesSlide3.xml" Id="Rb6dd5dc4dbe74e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1f866818be455b" /><Relationship Type="http://schemas.openxmlformats.org/officeDocument/2006/relationships/notesSlide" Target="/ppt/notesSlides/notesSlide4.xml" Id="R8a0ee3e645444c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adf94a21a04fc4" /><Relationship Type="http://schemas.openxmlformats.org/officeDocument/2006/relationships/notesSlide" Target="/ppt/notesSlides/notesSlide5.xml" Id="Rbd0dc92c60d644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629c4c02f6419b" /><Relationship Type="http://schemas.openxmlformats.org/officeDocument/2006/relationships/notesSlide" Target="/ppt/notesSlides/notesSlide6.xml" Id="R9ce7d7b0007e43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4e14aa7af34944" /><Relationship Type="http://schemas.openxmlformats.org/officeDocument/2006/relationships/notesSlide" Target="/ppt/notesSlides/notesSlide7.xml" Id="R09a00ecc9c3a4f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38451bfb104dbd" /><Relationship Type="http://schemas.openxmlformats.org/officeDocument/2006/relationships/image" Target="/ppt/media/image2.png" Id="R0bc2cc73b93c4ea5" /><Relationship Type="http://schemas.openxmlformats.org/officeDocument/2006/relationships/image" Target="/ppt/media/image3.png" Id="Rf20a469ecd1f4190" /><Relationship Type="http://schemas.openxmlformats.org/officeDocument/2006/relationships/notesSlide" Target="/ppt/notesSlides/notesSlide8.xml" Id="R1b52371147ff46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db8a9638ac4cd2" /><Relationship Type="http://schemas.openxmlformats.org/officeDocument/2006/relationships/image" Target="/ppt/media/image4.png" Id="R4f5394eff09b428b" /><Relationship Type="http://schemas.openxmlformats.org/officeDocument/2006/relationships/notesSlide" Target="/ppt/notesSlides/notesSlide9.xml" Id="R64172b55199948a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9f6a5bb20df4a46" /><Relationship Type="http://schemas.openxmlformats.org/officeDocument/2006/relationships/image" Target="/ppt/media/image5.png" Id="R94af03368aed4c9c" /><Relationship Type="http://schemas.openxmlformats.org/officeDocument/2006/relationships/notesSlide" Target="/ppt/notesSlides/notesSlide10.xml" Id="Rc601007c85234c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ad8b04da624941" /><Relationship Type="http://schemas.openxmlformats.org/officeDocument/2006/relationships/image" Target="/ppt/media/image6.png" Id="Rd8bee8331fd7439f" /><Relationship Type="http://schemas.openxmlformats.org/officeDocument/2006/relationships/notesSlide" Target="/ppt/notesSlides/notesSlide11.xml" Id="Ree3b0a160c9f4c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274ff7b14642ce" /><Relationship Type="http://schemas.openxmlformats.org/officeDocument/2006/relationships/notesSlide" Target="/ppt/notesSlides/notesSlide12.xml" Id="R2cfa560e51104fc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c7284adb8e4906" /><Relationship Type="http://schemas.openxmlformats.org/officeDocument/2006/relationships/notesSlide" Target="/ppt/notesSlides/notesSlide13.xml" Id="R77df97823fc4425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E4B18A-A80F-4B6D-98F1-0060EAFA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6EE4E-9A2D-4B14-BE84-47FC8EF4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4162C-B39A-4C39-AFF7-BBEABBC91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C9D23-90F8-4124-90CD-E61153EE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7CAE4-75D9-4831-8480-10FAEA8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4BD3CE-4C8B-4103-AA8C-F1CE5C05D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SMART CLASSROOM IOT SERVICE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EAE79-945D-4B0B-8F36-09EAB425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43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Smart Classroom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B0553-82F1-4907-8368-D8E5DC10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288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Energy-Saving, Safety &amp; Asset Monitoring 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0F9D8D-0624-43F0-BA64-60DB1E19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Arduino UNO edge control + ESP32 MQTT gateway + local dashboard + AI task planning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7988D8-6B98-4917-B292-40136DCC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20002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ADE39-CB16-46EB-9172-806A9CF3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67125"/>
            <a:ext cx="1657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4AD170-7132-42FE-BE06-9365257C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24300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176D6-E1EE-4933-8803-C4312843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862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idea, design, operations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95400C-67D7-4EA8-B810-DD4948DC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2425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9496BC-A370-4D3B-B600-923E90D4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6712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TECHNICAL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97CFA3-EDE8-4E7A-984F-F4BC7A9C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24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441CD-85C5-40E3-AEF5-7B5D6F54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8625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architecture + working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0F3C0C-5F24-4CFB-B44C-5FFADB89D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52425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8D3EF5-319E-4270-9B17-071F048C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6712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685C6-C9F6-49C2-9311-F21425A7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9243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E63AF-EB12-4355-A76C-30FC1907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commercial IoT service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F07233-46AD-49BA-BABB-E0A13ABA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123950"/>
            <a:ext cx="2800350" cy="3505200"/>
          </a:xfrm>
          <a:prstGeom xmlns:a="http://schemas.openxmlformats.org/drawingml/2006/main" prst="roundRect">
            <a:avLst>
              <a:gd name="adj" fmla="val 11565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60A5F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97EA1C-90AB-4B1C-9CDA-616C1214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668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Live Demo Promise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B7F8F-1641-46BF-A389-BB3F8D9A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955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B3439-A3C7-40AC-A760-EDE12A7B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479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control locally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F4D98D-0007-454B-B7D0-BB589D96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289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Warn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13301E-988B-4F4B-93A8-417F8897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813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override safely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57F475-854B-40C9-8DC1-16938EDC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624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Explain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A05646-F040-4D6E-9AE0-456B1F46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14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with telemetry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AE4243-73A4-465A-813E-5C8F1089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3429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F0C90A-031D-4AA0-A67F-0CE9E6FA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05500"/>
            <a:ext cx="32004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10-minute IOT104TC group demonstration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263170-FDCB-4F49-9DC8-241B6938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8674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Scope matches coursework: IoT application/service, hardware/software, architecture, security/privacy, operations, and practical use-case.</a:t>
            </a:r>
          </a:p>
        </p:txBody>
      </p:sp>
    </p:spTree>
    <p:extLst>
      <p:ext uri="{BB962C8B-B14F-4D97-AF65-F5344CB8AC3E}">
        <p14:creationId xmlns:p14="http://schemas.microsoft.com/office/powerpoint/2010/main" val="196620999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04FE9F-0794-4A44-B153-0950718D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6AB56-4278-44A5-89AB-3FFB1C42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4E553-A834-4410-A451-40C936628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A4013-E9B7-4CCE-B2AA-CFE5A3FE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EF499-8F08-4B21-9658-8791863C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CC0011-11CE-45B0-B0D0-4BBB4D30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E472F-390A-461E-96C6-0EAF705F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Assessment fit: every slide maps to the marking scheme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1F06D-1D9D-46DD-8449-15B6AC5D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deck is structured around the official 20 / 50 / 30 evaluation split.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bc24bf30ec4443"/>
          <a:stretch xmlns:a="http://schemas.openxmlformats.org/drawingml/2006/main"/>
        </p:blipFill>
        <p:spPr>
          <a:xfrm xmlns:a="http://schemas.openxmlformats.org/drawingml/2006/main">
            <a:off x="6477000" y="1583329"/>
            <a:ext cx="4762500" cy="264359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6013A0-4FC4-414A-B46A-9C48009BD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62100"/>
            <a:ext cx="5143500" cy="3505200"/>
          </a:xfrm>
          <a:prstGeom xmlns:a="http://schemas.openxmlformats.org/drawingml/2006/main" prst="roundRect">
            <a:avLst>
              <a:gd name="adj" fmla="val 7065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490766-445E-4CF6-AFC6-8F47F518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669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What markers need to see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1E46D-3D7F-45BE-8E3A-757A43C2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62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A7A572-40BD-4D73-8D91-983D491F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955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Presentation: problem, use-case, demo story, and visually understandable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B6654-4A70-4CEC-8510-C31F6409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28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FC1C4-F5C6-4DFA-9A25-0507854B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623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Technical knowledge: layered architecture, hardware interfaces, state machine, network protocol, security/privacy.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9340F-4F4B-4755-953A-F21AEEFC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67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FBA9B3-0AD8-4B3D-BCCC-DE720732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005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Practical use-case: deployable classroom energy saving, safety warning, remote operation, data-driven optimization.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55CC2-522F-4FAF-88C0-D64DFF6EB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8630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Marking reference: IOT104TC Coursework 2 Group Work Lab Demonstrations, demonstration date 27 May 2026.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15106-CE5C-459D-8BF5-0F36D8B1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Reference: IOT104TC Group project with marking scheme AY25/26-final.pdf, pages 2-4.</a:t>
            </a:r>
          </a:p>
        </p:txBody>
      </p:sp>
    </p:spTree>
    <p:extLst>
      <p:ext uri="{BB962C8B-B14F-4D97-AF65-F5344CB8AC3E}">
        <p14:creationId xmlns:p14="http://schemas.microsoft.com/office/powerpoint/2010/main" val="14803478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76922B-691B-466E-96ED-D9EF9045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65D6BF-95F5-459E-9146-02B23D21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AE337-C345-4DAB-895D-152BDDA6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77853-552C-478D-AF97-EF349922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CD46A-876C-4CF2-82AC-DF4C8964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39960-07EB-439D-9F74-FD7F8CB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D33857-2349-4C2A-88B8-50E7B8FA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Use-case: one classroom, three operational problems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04F5C-0DC8-441B-B377-35A26529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Energy saving is useful, but the commercial value comes from combining comfort, safety, and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B7686-3E48-4AFF-A891-DEDF5955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38300"/>
            <a:ext cx="3009900" cy="1771650"/>
          </a:xfrm>
          <a:prstGeom xmlns:a="http://schemas.openxmlformats.org/drawingml/2006/main" prst="roundRect">
            <a:avLst>
              <a:gd name="adj" fmla="val 15054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EC301-6865-4866-B532-F40BB4E0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193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Energy waste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F166E-DE88-4C79-A591-7743CD28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52700"/>
            <a:ext cx="2343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lights and ventilation stay active when rooms are empty or bright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2DFE0A-B243-45F9-88F7-1B8FB5D4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38300"/>
            <a:ext cx="3009900" cy="1771650"/>
          </a:xfrm>
          <a:prstGeom xmlns:a="http://schemas.openxmlformats.org/drawingml/2006/main" prst="roundRect">
            <a:avLst>
              <a:gd name="adj" fmla="val 15054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D2007-28B4-4CD3-A8AA-64F470DE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193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Safety blind spot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BA21EB-E751-49B3-8225-27173A16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343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gas/flame/emergency events must override normal automation instantly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C0D2AA-5071-4AAC-9F04-A5254963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38300"/>
            <a:ext cx="3009900" cy="1771650"/>
          </a:xfrm>
          <a:prstGeom xmlns:a="http://schemas.openxmlformats.org/drawingml/2006/main" prst="roundRect">
            <a:avLst>
              <a:gd name="adj" fmla="val 15054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35B2E5-7377-46EA-9285-EFAC177D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193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Operational opacity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A8B779-FA57-448A-8086-5C4D9152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2343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without telemetry, staff cannot see faults, commands, or device health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BAFA00-8AE6-4196-BCA4-80C9E04E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05300"/>
            <a:ext cx="9334500" cy="1066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4DD95D-6265-48D6-ABFD-B5183F72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572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Service answer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12CEB8-2EE6-4674-8A15-5F9D321B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33900"/>
            <a:ext cx="647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 local edge node makes safety-critical decisions; the network layer turns those decisions into observable, configurable, and auditable IoT operations.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EC5129-B95A-4972-A088-9A161310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686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CA513C-8794-4E27-B59E-EE287E7F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619750"/>
            <a:ext cx="790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Commercial framing: facilities managers care about energy KPIs, response time, fault visibility, and simple override controls.</a:t>
            </a:r>
          </a:p>
        </p:txBody>
      </p:sp>
    </p:spTree>
    <p:extLst>
      <p:ext uri="{BB962C8B-B14F-4D97-AF65-F5344CB8AC3E}">
        <p14:creationId xmlns:p14="http://schemas.microsoft.com/office/powerpoint/2010/main" val="7689241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F167DC-1E00-458C-A6B0-1557651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7DBB8-A6CC-4BDB-B723-C985F576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1BF685-50B9-46D5-BB02-1BD6FA94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379AB-5078-457F-BF85-ADBE38B4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6D0290-AA64-4FD5-BE38-5EECCE9B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70993-4531-4BC3-8FFC-91FA4FC8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C0AE5-F4C7-49CA-AF5E-250540FA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Layered IoT architecture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5F9AE-F8AC-4B4A-ABAE-D8DF79D39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Safety-critical actuator control stays local; cloud-like intelligence remains supervisory.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9075DA-5C34-494B-8727-55A879E2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476500" cy="12573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D3CC8-3666-4A2B-A5EE-61C6481C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28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2D4496-7F8A-4628-A13D-74AFF49A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Sensor / actuator layer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8A8B6-6F4F-4487-A13E-C3687162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145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PIR, TEMT6000, LM35, gas, flame, button, LED, buzzer, relay fan, PWM, tach, R/Y/G status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8A07E0-CC23-42ED-9DAC-2D740858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19250"/>
            <a:ext cx="2476500" cy="12573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313C2-810E-48A0-AF6E-58C8574E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28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7F0187-1631-444A-8DA9-DA90ABE4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716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Arduino UNO edge node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5D3FC0-05E8-4A80-8C70-5F69B3C68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145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millis state machine, safety priority, fan/lamp control, UART telemetry, command 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D19876-11B6-4CE2-91E2-1A31F8545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19250"/>
            <a:ext cx="2476500" cy="12573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0A5FA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8E7152-A2E6-4CFD-B342-6916CEF0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828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1EE8A2-CA90-4386-A7E1-024B8F56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71650"/>
            <a:ext cx="186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2D8899-C1AF-4E0C-91E4-0CC1AA43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145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UART bridge, Wi-Fi reconnect, MQTT publish/subscribe, LM35 ADC route on GPIO34/GPIO35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93FBCD-A856-400B-AA26-56978EDD3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095750"/>
            <a:ext cx="3143250" cy="12573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22DC09-A2A4-474E-BBDB-3ED4E5AE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305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1CC0DB-8AEF-4BE5-9531-FD97D189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2481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Laptop service layer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FE6FCA-5D63-40AB-87F0-7CEAE834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91050"/>
            <a:ext cx="2533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local MQTT broker, WebSocket dashboard, HTTPS mic endpoint, Qwen planner, analytics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77F45B-27B0-4A27-833E-F3EBD0FB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479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83E6C4-6128-45EF-8366-8E5330C7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40A1E7-EB8F-4B2E-963D-9CEE264F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76550"/>
            <a:ext cx="190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8AA7C5-7973-4038-B319-A21D06156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724400"/>
            <a:ext cx="571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EE242-9ED0-4C6E-8213-50D33DB9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Protocol chain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425C24-56BD-4D58-BFF5-28839E36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3865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UNO SC2 CSV telemetry -&gt; ESP32 JSON MQTT -&gt; WebSocket cards/charts -&gt; MQTT commands -&gt; UNO ACK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73204C-9DA0-4984-B3BA-C074EC87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829300"/>
            <a:ext cx="885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Design principle: if Wi-Fi or AI fails, UNO continues local energy-saving and safety alarm operation.</a:t>
            </a:r>
          </a:p>
        </p:txBody>
      </p:sp>
    </p:spTree>
    <p:extLst>
      <p:ext uri="{BB962C8B-B14F-4D97-AF65-F5344CB8AC3E}">
        <p14:creationId xmlns:p14="http://schemas.microsoft.com/office/powerpoint/2010/main" val="6512721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C1A3DE-D7F5-45BF-8BFA-0D017431F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C1303-3076-447F-8909-56B21E1A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8FF8A2-CA01-46D4-8435-A6E5257E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F0498-AFB3-48CB-9AC4-891495B9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F3A6C0-E761-4257-994F-6F9DF351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9D55B-CE05-4CA1-BB1A-59A014D8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22C807-B858-4914-8452-AAE7900C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Hardware map: photo-numbered modules plus exact interfaces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DCC16-F044-486A-BAF9-441AEC4C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Kit-photo modules are separated from external components so teammates can assemble the system on-site.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5BD5B-F796-48A5-98CA-7A72FAC1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673FBE-05C3-4AAC-926B-5C42D7C0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#18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10F35-9C9A-4785-B5A9-A629CCC2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B1073-61CF-4FE9-8B74-4CB9EB4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D2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AAF3B-E0E1-408D-8578-B6D9E082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63830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A59A7-70CD-4367-B3D0-CA29E488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79070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#30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B63824-405E-4D59-89BB-8E56F4F6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95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TEMT6000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BCF451-514C-46EE-81D8-858B58CE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A0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62EFD-3380-44A3-B918-01D06D52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3830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3B4D28-F63E-4B74-BBD1-2C1BB423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9070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#39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E13A1-A49E-4BDE-B7E3-4F53D34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LM35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90BA65-9AC3-4A1C-B496-ABB084F3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ESP32 GPIO34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D36A65-7504-4C81-9274-F4B8746A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63830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307651-E698-464E-A1FB-7D0956B0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79070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#25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F3F91-1BFE-4052-92B9-6BB11609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95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Gas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22823D-2AC7-4304-A1DA-012FC506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003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A1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081A41-4C9C-421F-A501-B71D8604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6705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6B9403-27E2-405E-B66D-0421E26B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#16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08B421-3D50-4127-9484-474AB835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Flame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A52F3D-A085-4607-A7E6-4A323348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D8 / A3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7D9D1F-FA2E-460B-A707-D2ECA441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06705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C85772-5E02-4706-9197-A3994D3D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1945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#5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42F87C-FAF6-4B3D-8248-ADB0FC0C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Buzzer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E4264A-7AA7-48F2-A1EC-41A1671F9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290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D7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BD3384-A15C-49DF-88B2-E9A384DB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6705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60A5FA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AD8724-E56C-4E34-A703-59A6CFE8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1945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60A5FA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0A5FA"/>
                </a:solidFill>
                <a:latin typeface="Aptos"/>
                <a:ea typeface="Aptos"/>
                <a:cs typeface="Aptos"/>
              </a:rPr>
              <a:t>#4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7238CD-B39A-485C-BC0E-D1BAD0DD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Traffic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509916-9ADC-452D-8308-6ABEA3CA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290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D10/D11/D12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C16B5E-9B22-4B76-A0D0-4C755F50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067050"/>
            <a:ext cx="2333625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316A867-D2A3-458E-8A4D-59C19944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19450"/>
            <a:ext cx="590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Extra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57F2EA-21C5-44FF-BE46-2EE1614D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5242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Fan + relay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79EA76-30E3-4CB4-A874-5EB8096A8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2905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D6/D9/D3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CB1EE2-6A92-45C4-A608-FE375E22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FACC15">
              <a:alpha val="80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905ADD-CC55-43BF-B5C1-364BA6E6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Current build note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0274720-A156-40DD-A6C0-6A1C72DC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029200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No capacitors are installed. LM35 is powered from ESP32 5V/VIN and read on GPIO34; GPIO35 is used as dummy ADC reference with 100k pulldown.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E88995B-0744-4FE0-976F-0776EF9A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Detailed Chinese wiring checklist: docs/SmartClassroom_Onsite_Assembly_Checklist.pdf</a:t>
            </a:r>
          </a:p>
        </p:txBody>
      </p:sp>
    </p:spTree>
    <p:extLst>
      <p:ext uri="{BB962C8B-B14F-4D97-AF65-F5344CB8AC3E}">
        <p14:creationId xmlns:p14="http://schemas.microsoft.com/office/powerpoint/2010/main" val="20625860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BEAD56-E68C-4D26-BEFF-82210DFB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1A8F4-256D-4972-8A55-5A7FFCC5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A29AA-9519-466E-A272-7D3A3679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A3B2F-0492-4C62-9DF4-96EE7216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F68A5-9DF4-447D-90A8-A780E22A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FBA58F-0FF6-4CFA-85D8-71D06A35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8BF90-2C4C-477E-9937-8C12C019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Control logic: deterministic edge intelligence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5E74-3844-4A4A-B8CF-72FADCE3C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UNO mode priority makes the system explainable during a live lab demonstration.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C6208-0194-44D5-A753-D228AF31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16954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DEE42-3A1D-4D3B-921F-EE36272C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3A06B-0227-4C00-BBCE-3F02E25A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527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green monitoring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23388-BA88-4DE6-A726-ED671B68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384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0652BA-48FE-4A12-83FB-B02DF722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09750"/>
            <a:ext cx="16954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3D079-0A27-451D-8BC3-3325A655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34555-F66F-41C7-B78A-4FB7804E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occupied + dark -&gt; lamp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6A33E-41D4-496B-9C35-E30317D32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384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AD3BB-FA69-417F-9CA0-F12D5DD5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09750"/>
            <a:ext cx="16954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3EFA91-F820-4A82-9EF9-F2F17202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A01160-64EE-4544-9DA2-3DC168C4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5527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temperature policy -&gt; fan PWM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9355FF-64D1-4FB7-861F-1EDCBCAE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4384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B40BB3-6B8A-4EAF-8164-6B9E8DCA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16954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0A5F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7EEC6-DD9D-49EC-9E7A-0F33806C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60A5FA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60A5FA"/>
                </a:solidFill>
                <a:latin typeface="Aptos"/>
                <a:ea typeface="Aptos"/>
                <a:cs typeface="Aptos"/>
              </a:rPr>
              <a:t>ENERGY SAVING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FF5C81-11D5-49F0-88BB-DBE89A08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527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empty/bright -&gt; reduce outputs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35D13D-EE19-4236-9CF9-99745BB0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384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55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6DC334-BFD9-4490-A41D-03D72145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09750"/>
            <a:ext cx="169545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AEEE62-ECFF-44C5-A1E4-81BA19A5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095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3446FA-2FB0-4046-BE60-390264E5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552700"/>
            <a:ext cx="1352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gas/flame/button -&gt; red + buzzer + fan high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6D1E30-ACA7-417D-8B6D-C71AD60D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00500"/>
            <a:ext cx="9486900" cy="1123950"/>
          </a:xfrm>
          <a:prstGeom xmlns:a="http://schemas.openxmlformats.org/drawingml/2006/main" prst="roundRect">
            <a:avLst>
              <a:gd name="adj" fmla="val 23729"/>
            </a:avLst>
          </a:prstGeom>
          <a:solidFill xmlns:a="http://schemas.openxmlformats.org/drawingml/2006/main">
            <a:srgbClr val="FB7185">
              <a:alpha val="110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04D84E9-C1C4-47F7-B362-741F4F9E7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Priority rule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AF7090-0728-4D65-A7E1-EFBEA4B7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210050"/>
            <a:ext cx="657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SAFETY_ALARM &gt; SENSOR_ERROR &gt; COOLING &gt; LIGHTING &gt; ENERGY_SAVING &gt; NORMAL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43D4D3-BD14-4F4C-9BF6-69B4EFBA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006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Manual control is intentionally supervised by command ACK; safety alarm still stays visible and auditable.</a:t>
            </a:r>
          </a:p>
        </p:txBody>
      </p:sp>
    </p:spTree>
    <p:extLst>
      <p:ext uri="{BB962C8B-B14F-4D97-AF65-F5344CB8AC3E}">
        <p14:creationId xmlns:p14="http://schemas.microsoft.com/office/powerpoint/2010/main" val="101746246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C8470B-56FD-49F1-B55E-75AFB659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A5270C-727E-40C7-9B5F-E3680326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5AB4C3-E23D-468E-8968-7FB0346E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93D24-3938-4FEA-A5D3-DEB50F6F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733C4-863F-49A7-826E-E050AF97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15CD7-FE5E-4657-8007-3AAF89026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128AA0-F952-4CE4-816D-7A2F757D4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Security and privacy are handled as demo-level 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6A424-2993-4734-827C-F5DEF401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project explicitly separates local safety from network convenience.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544A0-6007-44B2-A902-0C4155F96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24000"/>
            <a:ext cx="4953000" cy="361950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B34CD4-E562-474B-AD1C-45E34BA7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47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Security/privacy choices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EA917-14C1-451F-98ED-6A66B695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86010C-6197-4C2B-803C-FD308EBE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384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Local-first safety: UNO alarm/fan logic works even if Wi-Fi, MQTT, or AI is offline.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A76E8A-417C-4468-B858-E7990E06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90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5F03DE-0129-4573-B80D-2E91CCC2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No API keys in firmware or Git; Qwen key is server-side only via environment/secrets file.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55D97-8F9F-44F2-B566-E7EECE98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76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0368F-085E-4A3D-BA2C-ABF6F3431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100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LAN microphone uses HTTPS because browser audio capture requires a secure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3CF24A-CFC6-40D3-9899-A898BE96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62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D893AA-E5F4-4E10-A53B-6D7341D41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9580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MQTT is anonymous for lab speed; production hardening needs auth, TLS, and role-based controls.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5B130C-27A6-4A6C-B139-7F52A839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24000"/>
            <a:ext cx="4476750" cy="361950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47C4C7-62AD-4273-BD45-B1935A83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47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Risk register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EC60B2-CED7-4825-B7AF-3DE5DC85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765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Prototype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0BB16F-0E5E-4EF9-B66B-50D67248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765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Mitigation shown in demo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8BBE2-BFA0-44EB-B416-F6A8E8E8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57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Sensor drift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F34EED-58E5-4C2D-B582-E7147D9FD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ESP32 ADC route + dummy reference + dashboard guard flags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219064-755E-4F51-8CF7-B74DA11E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528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Network loss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A336DB-5942-4E78-9844-D8CEA859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3528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UNO keeps local control; ESP32 publishes offline status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3D0F6F-57AC-405D-9F26-029B5711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48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Unsafe remote command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DBAB89-FFCE-4E40-8B96-0FE8EE721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481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ACK logging + manual mode visibility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1A3098-A122-487B-AAEF-915A7A69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Privacy concern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44FF55-CEED-4013-8A28-0588ABA0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3434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local LAN voice processing endpoint; no browser mic without user action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3F711D-C67A-4DF9-99C3-DD3B8286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Reference: MQTT OASIS Standard; ESP32 ADC/GPIO docs; project README security notes.</a:t>
            </a:r>
          </a:p>
        </p:txBody>
      </p:sp>
    </p:spTree>
    <p:extLst>
      <p:ext uri="{BB962C8B-B14F-4D97-AF65-F5344CB8AC3E}">
        <p14:creationId xmlns:p14="http://schemas.microsoft.com/office/powerpoint/2010/main" val="17873234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609754-54B6-4BEB-B014-FB84245D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944EF-273D-4C78-8AB6-714A96F5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ADC95-9B71-4CB7-A08C-E267B15C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417B2C-B162-4F30-BFA4-F1EFFB5E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4A8FA-47E3-432D-B79C-B12339E8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E4F6D-3CBA-46FE-B20C-C73F0632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145EE-275B-4B98-969B-1D8816C1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Data evidence: telemetry turns a lab circuit into an IoT service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ABA4C0-B6A2-4B7E-80F6-D0093076B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dashboard stores operational samples, not just live serial text.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2cc73b93c4ea5"/>
          <a:stretch xmlns:a="http://schemas.openxmlformats.org/drawingml/2006/main"/>
        </p:blipFill>
        <p:spPr>
          <a:xfrm xmlns:a="http://schemas.openxmlformats.org/drawingml/2006/main">
            <a:off x="552450" y="1593507"/>
            <a:ext cx="6286500" cy="2718486"/>
          </a:xfrm>
          <a:prstGeom xmlns:a="http://schemas.openxmlformats.org/drawingml/2006/main" prst="rect">
            <a:avLst/>
          </a:prstGeom>
        </p:spPr>
      </p:pic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a469ecd1f4190"/>
          <a:stretch xmlns:a="http://schemas.openxmlformats.org/drawingml/2006/main"/>
        </p:blipFill>
        <p:spPr>
          <a:xfrm xmlns:a="http://schemas.openxmlformats.org/drawingml/2006/main">
            <a:off x="7143750" y="1815202"/>
            <a:ext cx="4095750" cy="227509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3E5B0-2381-45DE-A14A-6DC0D92E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09550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AE1BD-1903-4BA3-93DF-76DA1210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95875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TELEMETRY SAMPLES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F8AB1-7254-4808-8FE1-2625E101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9,764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99C21-2558-48FE-8CA0-A37F90D8C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1500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432.8 min local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F691C-E82B-4C57-8738-14DE2F28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53000"/>
            <a:ext cx="209550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D16484-6346-413E-B9D9-9872F9F4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095875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AVG TEMPERATURE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10D017-F440-4174-8B47-6DD9BB67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3530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28.3 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689EB-0838-4CCD-9FCF-E570F2C9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71500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ESP32 LM35 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04752A-8403-49C5-9DFB-341F3E79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53000"/>
            <a:ext cx="209550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25E9B-C649-487D-9AC9-5C7854CD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95875"/>
            <a:ext cx="1752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FAN DUTY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F1ED60-6634-4E3F-8E4F-870EBEBD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530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31.5%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5FA1E7-6F94-4F29-8A07-2EFEA4B6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71500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ventilation active samples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210D30-9308-4273-AA94-395B8318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53000"/>
            <a:ext cx="23812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BF400A-59F9-4407-BD1E-E1FC52989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95875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SAFETY EVENTS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47F7D3-E3EE-4DB7-843F-A6332E4A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5305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4F2F69-A4B0-49B3-A61A-D3B863AE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7150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button/gas/flame alarm records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168C7E-47D4-490A-9E43-26460331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Data source: SmartClassroom_WebDashboard/data/telemetry_samples.jsonl captured during local prototype runs.</a:t>
            </a:r>
          </a:p>
        </p:txBody>
      </p:sp>
    </p:spTree>
    <p:extLst>
      <p:ext uri="{BB962C8B-B14F-4D97-AF65-F5344CB8AC3E}">
        <p14:creationId xmlns:p14="http://schemas.microsoft.com/office/powerpoint/2010/main" val="65017827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D8F137-7645-4B8C-B7AE-B827C7A6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E5742-9C61-41B3-B73C-C0132737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892441-30EF-4F46-9DF2-1AB9BA8DB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27C2A-6730-4FD9-897D-C175E5DF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80078-152D-482B-948B-6A1B74FA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A612C5-A083-4D92-9CC9-C5142126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58419A-C8C1-4597-B402-484CBB56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Dashboard screenshot: operational control center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2856E-E85D-4D51-8FD9-235CEDBF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UI exposes telemetry, charts, AI planning, manual override, presets, and ACK feedback.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40FFE-B370-481C-9484-5A049D71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7905750" cy="4476750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5394eff09b428b"/>
          <a:srcRect xmlns:a="http://schemas.openxmlformats.org/drawingml/2006/main" l="0" t="7959" r="0" b="7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543050"/>
            <a:ext cx="7600950" cy="41719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FCA61-C5DB-4618-BD4A-A6C4343E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573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What this proves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F01CC-B3E6-4801-93D1-33CE44F09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098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A0BCB-C68D-4411-8C39-5074CAA98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098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Every actuator has visible state and ACK feedback.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3E5560-DF5F-4365-B5BE-F89C06FB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289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DF1E8-6152-432D-84B4-10F735CC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0289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Charts make energy/safety behavior explainable to non-engineers.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AF5F92-D8D3-4E06-AE26-BC2F2026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862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C094E-7C5F-4203-B66A-F9D228E3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862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Manual and automatic policies can be demonstrated live.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4B2141-FCBE-4ADB-8E12-7AFFCA9E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Screenshot captured from local dashboard at http://127.0.0.1:3000.</a:t>
            </a:r>
          </a:p>
        </p:txBody>
      </p:sp>
    </p:spTree>
    <p:extLst>
      <p:ext uri="{BB962C8B-B14F-4D97-AF65-F5344CB8AC3E}">
        <p14:creationId xmlns:p14="http://schemas.microsoft.com/office/powerpoint/2010/main" val="130279885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AF0F46-358D-481B-A777-855F44B3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AAFD5-47EA-489A-A717-173BCAF3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FB3237-F533-43F5-A0B4-F42833C5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EC7D4-5435-4C9D-8A7D-3C726379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82F2E-DA32-4FC7-AEF5-BE42BC5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E08A8-FFC3-42AF-A3E4-CB59011C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33622-894C-462F-8D97-72A554AA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Mobile and AI layer: optional intelligence, still operationally useful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14075B-9E99-42E5-9A8D-1C5EE5E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Any phone on the LAN can view the dashboard; voice/text commands become structured task timelines.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D7182-2C77-4D5B-96BD-C2B8B17E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2724150" cy="4810125"/>
          </a:xfrm>
          <a:prstGeom xmlns:a="http://schemas.openxmlformats.org/drawingml/2006/main" prst="roundRect">
            <a:avLst>
              <a:gd name="adj" fmla="val 10490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C084FC"/>
            </a:solidFill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f03368aed4c9c"/>
          <a:srcRect xmlns:a="http://schemas.openxmlformats.org/drawingml/2006/main" l="0" t="1583" r="0" b="15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" y="1466850"/>
            <a:ext cx="2419350" cy="45053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6ECFD-DFB7-493A-9B31-A58DDD3B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19250"/>
            <a:ext cx="6477000" cy="95250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6C336-62E1-4D85-A61C-8BFFFDC1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847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Natural command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788A7-EED3-4E01-98B3-91365550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097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"3 minutes later switch to manual mode, set fan PWM to 180, then return to auto 2 minutes later."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E9289-3A38-4E53-BC3C-5763E480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62300"/>
            <a:ext cx="5143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C442E8-2E83-452B-A506-FCCDDEC7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337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T+180s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BF812-6DFA-4623-B577-B1D3A3C1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766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set_manual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4B2D4E-5153-4B16-96C6-11BAACB6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956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fan=true, pwm=180, status=ALL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F9258-1E25-44E9-82FA-F23F794D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43350"/>
            <a:ext cx="5143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CEE9A6-225E-4923-B97D-6DFAB63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1480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T+300s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74401-23DB-42BF-87BC-7540F40F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5765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return_auto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C1C536-99CF-43C0-B76D-9978FE4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767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restore local policy control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CBE1C7-DBD3-4DE3-90EC-A38E0348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5143500" cy="552450"/>
          </a:xfrm>
          <a:prstGeom xmlns:a="http://schemas.openxmlformats.org/drawingml/2006/main" prst="roundRect">
            <a:avLst>
              <a:gd name="adj" fmla="val 31034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3FCC31-8181-4509-9222-4ABD53B6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958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1125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T+301s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49AF9C-C54C-4D13-B5D7-713856CF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38700"/>
            <a:ext cx="133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command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B1AA71-B2F6-4D79-8D83-DA71B2B8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577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7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short buzzer confirmation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3B67DE-630F-4673-A47B-4B504D42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6578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After execution, the completed timeline auto-clears so the interface returns to a calm monitoring state.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C23D34-119C-4A66-93BA-F9BD1E2A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Implementation: SmartClassroom_WebDashboard Qwen planner + local scheduler + MQTT command channel.</a:t>
            </a:r>
          </a:p>
        </p:txBody>
      </p:sp>
    </p:spTree>
    <p:extLst>
      <p:ext uri="{BB962C8B-B14F-4D97-AF65-F5344CB8AC3E}">
        <p14:creationId xmlns:p14="http://schemas.microsoft.com/office/powerpoint/2010/main" val="123615546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8C650-0770-40A5-9FC3-E724E595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90267-ACDE-4AA1-A623-9C124746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5F8C2D-F083-49DA-8CBE-854EE594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AB791-F9D6-4059-903B-3A093CFE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189E41-F2DF-48DC-925A-4F7A3169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F7452-10FE-4745-A0AB-DA1295E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D06C33-7F33-4278-A8E7-D7275CD5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Operations KPIs: practical use-case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ACAD20-C472-4733-9FF0-F909A342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These metrics are the bridge from lab prototype to facility-management service.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bee8331fd7439f"/>
          <a:stretch xmlns:a="http://schemas.openxmlformats.org/drawingml/2006/main"/>
        </p:blipFill>
        <p:spPr>
          <a:xfrm xmlns:a="http://schemas.openxmlformats.org/drawingml/2006/main">
            <a:off x="685800" y="1509269"/>
            <a:ext cx="4857750" cy="2696463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F2891-9178-419C-94AE-70280D3B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6EE7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0FB5A1-FD2C-43B5-8960-52DFC6A0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6687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OCCUPANCY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F26A3-5C5A-4486-80E3-AAB6B812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9240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6EE7B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6EE7B7"/>
                </a:solidFill>
                <a:latin typeface="Aptos"/>
                <a:ea typeface="Aptos"/>
                <a:cs typeface="Aptos"/>
              </a:rPr>
              <a:t>17.6%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C9700-ABEF-4C57-A79C-ABB6EBA1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8600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room-use estimate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4E2EBE-8804-412E-B5FB-0BD147B7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2400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5125D0-1955-4596-8B20-07C209E0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6687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LAMP DUTY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AB1EF-0FFA-4622-866C-AFE325AD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240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17.3%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53BB34-5094-4851-B827-812103E3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lighting energy proxy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33AE23-CCE9-4154-9A55-5738EE87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B718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8985E-E46C-4746-B3C6-441D69BA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7182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ADC GUARD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C3BFCA-5A2B-4AF1-9F6B-62F79558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290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FB7185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B7185"/>
                </a:solidFill>
                <a:latin typeface="Aptos"/>
                <a:ea typeface="Aptos"/>
                <a:cs typeface="Aptos"/>
              </a:rPr>
              <a:t>62.8%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B8CD99-9D62-478E-8156-08FCA1C4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9095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sensor quality flag rate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1EACEB-95C7-41B5-8782-A46E6F02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28950"/>
            <a:ext cx="2190750" cy="1104900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FFFFFF">
              <a:alpha val="7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52D14F-54F2-444F-A733-7909D12E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71825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1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MODES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D6A81D-54ED-4A0E-B0F0-D037174B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290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2E495D-A827-4385-9F5E-FDA42FFE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1847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normal, cooling, alarm, manual...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2F49E8-5223-4D60-BA43-6E90DBB1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Commercial value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EE5F40-17DF-4922-84A6-F60B3AFE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91490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 school or office can quantify occupancy, lighting usage, cooling demand, safety events, and device health from one low-cost edge system.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9D840A-2FCA-4846-9938-99A58751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Prototype KPI calculations from local telemetry log; not fabricated data.</a:t>
            </a:r>
          </a:p>
        </p:txBody>
      </p:sp>
    </p:spTree>
    <p:extLst>
      <p:ext uri="{BB962C8B-B14F-4D97-AF65-F5344CB8AC3E}">
        <p14:creationId xmlns:p14="http://schemas.microsoft.com/office/powerpoint/2010/main" val="89856521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30E815-AE66-4F84-B22C-1701BFAD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2E371-9197-488F-ADB6-A0F07D759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DAFE6-5130-4079-BEFE-BD858881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F369A5-A5FA-4C04-A64F-7970072D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3060C-5CF6-4C0D-8CE7-A96EB800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F2B22-B176-4DFB-8217-A103D6F5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65123-E1A6-4AA5-92EA-86C00C57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10-minute live demonstration runbook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2B3F4-93B6-48D3-955C-91571C4D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 simple sequence makes the project easy for every group member to present.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3D469-71B5-4991-9E1C-B58EBCBE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2400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1A55F-3FBE-4C9F-9EBB-2A47B909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33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B7700-DDCA-46FE-8D49-E8DFFB53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288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26754-1A87-49D2-83E3-5CF95CF0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6859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Power and online check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2739D-9C99-4D03-9E7C-9CFF5809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95262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ESP32 online, MQTT status, telemetry age &lt; 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29A64-AEB3-4B8C-8CA6-9C238713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8C482A-57D7-479B-90DE-464B2790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33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62E37-E2A2-4A5F-BA31-4DF37625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288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C7764F-0D95-4C0F-855C-842C3F3E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859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Energy-saving layer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D4D6D-911B-44F0-ABBC-EE2EAE5F8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5262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cover light sensor / trigger PIR / show lamp logic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896739-2EDC-46C3-BE4F-18D64B47D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DBB54A-CA66-4DCC-8F36-BDFC736E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46E6BF-9D74-4DAC-9EB8-4945E87E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6AB262-78BC-4390-9573-B59E82166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4797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Cooling behavior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00D04D-25A6-4899-A34D-1542CA50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1467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adjust threshold or warm LM35 / show fan PWM and RPM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7B46E-A09E-44CF-9CEA-00E9CEBB5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8605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F3899E-49E9-4389-ADA3-821522FD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95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487172-BD3B-43CA-9206-A4ECAEB1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9085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56F9AF-7A10-4142-A562-892BD29A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4797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DA4627-4EAE-4A1A-BC8A-E9017123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1467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press emergency button / red light + buzzer + fan high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87EB1E-4919-4CE8-9139-258EF24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79D381-8A62-4BAA-92DE-7DE9F12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7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5F344B-9807-45D9-9A89-94779306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52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A6747C-BBEF-4A6F-8B2C-C6242CB1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Dashboard operations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900816-5064-4E80-A80E-3474C48F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7672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manual mode, presets, custom policy, command ACK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8B0144-7A24-493E-8029-DB92D012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48100"/>
            <a:ext cx="4381500" cy="819150"/>
          </a:xfrm>
          <a:prstGeom xmlns:a="http://schemas.openxmlformats.org/drawingml/2006/main" prst="roundRect">
            <a:avLst>
              <a:gd name="adj" fmla="val 23256"/>
            </a:avLst>
          </a:prstGeom>
          <a:solidFill xmlns:a="http://schemas.openxmlformats.org/drawingml/2006/main">
            <a:srgbClr val="FFFFFF">
              <a:alpha val="7000"/>
            </a:srgbClr>
          </a:solidFill>
          <a:ln xmlns:a="http://schemas.openxmlformats.org/drawingml/2006/main" w="9525">
            <a:solidFill>
              <a:srgbClr val="325F83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817A6B-C3FF-4B60-AA01-E5E97F16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57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84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D9438D2-DCD8-42F0-B3B6-3973E528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52900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06101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6101D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731BF5-40E6-4DB6-B25E-7D7BC79D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100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AI timeline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897E75-D897-4515-8986-A6952615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76725"/>
            <a:ext cx="3486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900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text/voice command -&gt; structured tasks -&gt; scheduled execution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CC2214-4A86-43A0-8C75-D1615FA6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581650"/>
            <a:ext cx="9258300" cy="457200"/>
          </a:xfrm>
          <a:prstGeom xmlns:a="http://schemas.openxmlformats.org/drawingml/2006/main" prst="roundRect">
            <a:avLst>
              <a:gd name="adj" fmla="val 45833"/>
            </a:avLst>
          </a:prstGeom>
          <a:solidFill xmlns:a="http://schemas.openxmlformats.org/drawingml/2006/main">
            <a:srgbClr val="22D3EE">
              <a:alpha val="80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FC9B2E-CAD0-40C1-9A89-B4CB6778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715000"/>
            <a:ext cx="847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Speaker handoff rule: each teammate owns one layer: hardware, edge logic, network/dashboard, security/privacy, use-case.</a:t>
            </a:r>
          </a:p>
        </p:txBody>
      </p:sp>
    </p:spTree>
    <p:extLst>
      <p:ext uri="{BB962C8B-B14F-4D97-AF65-F5344CB8AC3E}">
        <p14:creationId xmlns:p14="http://schemas.microsoft.com/office/powerpoint/2010/main" val="137686767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9661C4-D6DE-4B7F-89B2-74FA511D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01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6EFCAE-00FD-46DB-88A2-70D74FC0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/>
              </a:gs>
              <a:gs pos="46000">
                <a:srgbClr val="0A1B30"/>
              </a:gs>
              <a:gs pos="100000">
                <a:srgbClr val="12365A"/>
              </a:gs>
            </a:gsLst>
            <a:lin ang="81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24E41E-2023-49CA-A102-93260D7F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-2476500"/>
            <a:ext cx="5905500" cy="590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4A7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1D4A57-6058-4B1E-9F8D-521519FC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00250" y="4762500"/>
            <a:ext cx="4762500" cy="476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596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8D09CE-7CEE-4651-9D2A-7C0F71CE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6101D">
                  <a:alpha val="10000"/>
                </a:srgbClr>
              </a:gs>
              <a:gs pos="100000">
                <a:srgbClr val="06101D">
                  <a:alpha val="74000"/>
                </a:srgbClr>
              </a:gs>
            </a:gsLst>
            <a:lin ang="54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05248E-BA62-4E11-BD81-31B02D0F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825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IOT104TC GROUP LAB DEMONSTRATION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C053E-A31B-4BCD-B189-875A6441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References and production hardening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5273C-BC14-407A-9D4E-D8C37DCFD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5252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 i="0">
                <a:solidFill>
                  <a:srgbClr val="A8BAD4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A8BAD4"/>
                </a:solidFill>
                <a:latin typeface="Aptos"/>
                <a:ea typeface="Aptos"/>
                <a:cs typeface="Aptos"/>
              </a:rPr>
              <a:t>The prototype is built from verifiable course requirements and standard IoT building blocks.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0F3DB-21F7-4C7D-A810-574F4598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048250" cy="4000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22D3EE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0BA523-21FB-4FDE-973C-090B8AD2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526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22D3EE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549C5-97D1-4759-9AE0-9CF8145BC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88E277-2320-499D-9F06-0454A358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241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IOT104TC Coursework 2 Group Work Lab Demonstrations marking scheme, AY25/26.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E1BCC4-C27C-4683-8EDD-66C0A88F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62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970E2A-6E56-4D11-B3D1-4B62EB53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Arduino UNO R3 official datasheet: ATmega328P, 14 digital I/O, 6 analog inputs, PWM and interrupt capability.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D8E2C7-BB7C-4B59-A68F-04FDCCDF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052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C485-85AA-414A-BB3B-8DC77C48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3855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ESP-IDF ADC/GPIO documentation: ADC1 GPIO34/GPIO35 are input-only ADC channels; ADC2 is restricted when Wi-Fi is active.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222BC8-9633-4E37-B499-FC9EAD8A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0A5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D6316-2E55-4769-A935-74DFA02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5295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MQTT 3.1.1 OASIS Standard and PubSubClient API for lightweight publish/subscribe telemetry.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0F4B2C-7C75-446D-A706-55BB8464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28750"/>
            <a:ext cx="4476750" cy="4000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>
              <a:alpha val="6500"/>
            </a:srgbClr>
          </a:solidFill>
          <a:ln xmlns:a="http://schemas.openxmlformats.org/drawingml/2006/main" w="9525">
            <a:solidFill>
              <a:srgbClr val="FACC1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47FAAD-A211-40FB-A651-74103BE2A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752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 i="0">
                <a:solidFill>
                  <a:srgbClr val="FACC1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ACC15"/>
                </a:solidFill>
                <a:latin typeface="Aptos"/>
                <a:ea typeface="Aptos"/>
                <a:cs typeface="Aptos"/>
              </a:rPr>
              <a:t>Next hardening steps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71F43-EABE-47A7-BC96-5986F650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90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85FFD1-78A2-4911-A3D0-834447B6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3241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Electrical enclosure, fused 12V fan supply, stable sensor front-end, and calibration log.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344A63-90EE-473B-9137-FCD2CEAB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095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87D71B-15FC-4767-96A9-8D688424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289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MQTT authentication, TLS, per-role dashboard accounts, and audit export.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AC39D9-D72D-406B-A103-EA1A72DD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8004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E7B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CFE289-D221-454A-9403-32256964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338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Asset layer extension: RFID/BLE tags or accelerometer modules for equipment tracking.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D895C-11DC-4681-B692-AB13143A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505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84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272BCD-F6E7-465E-97DA-B16045DA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43865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0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125" b="0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Better model validation: longer telemetry collection and comfort/energy objective functions.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8C49CC-9E2B-40D5-A2C5-0B00DF7E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905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 i="0">
                <a:solidFill>
                  <a:srgbClr val="F8FAFC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F8FAFC"/>
                </a:solidFill>
                <a:latin typeface="Aptos"/>
                <a:ea typeface="Aptos"/>
                <a:cs typeface="Aptos"/>
              </a:rPr>
              <a:t>Conclusion: the current system already demonstrates hardware, software, architecture, security/privacy awareness, operations, and a realistic IoT service.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64DC60-482C-4EB0-81F1-4F7C803A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 i="0">
                <a:solidFill>
                  <a:srgbClr val="6F86A8"/>
                </a:solidFill>
                <a:latin typeface="Aptos"/>
                <a:ea typeface="Aptos"/>
                <a:cs typeface="Aptos"/>
              </a:defRPr>
            </a:pPr>
            <a:r>
              <a:rPr sz="750" b="0" i="0">
                <a:solidFill>
                  <a:srgbClr val="6F86A8"/>
                </a:solidFill>
                <a:latin typeface="Aptos"/>
                <a:ea typeface="Aptos"/>
                <a:cs typeface="Aptos"/>
              </a:rPr>
              <a:t>URLs used: docs.arduino.cc, docs.espressif.com, docs.oasis-open.org/mqtt, pubsubclient.knolleary.net.</a:t>
            </a:r>
          </a:p>
        </p:txBody>
      </p:sp>
    </p:spTree>
    <p:extLst>
      <p:ext uri="{BB962C8B-B14F-4D97-AF65-F5344CB8AC3E}">
        <p14:creationId xmlns:p14="http://schemas.microsoft.com/office/powerpoint/2010/main" val="19021153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2026-05-18T15:15:57.1850000Z</dcterms:created>
  <dcterms:modified xsi:type="dcterms:W3CDTF">2026-05-18T15:15:57.1850000Z</dcterms:modified>
</coreProperties>
</file>