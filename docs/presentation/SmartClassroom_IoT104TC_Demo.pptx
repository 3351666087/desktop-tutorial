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d02d211a654cbb" /><Relationship Type="http://schemas.openxmlformats.org/officeDocument/2006/relationships/extended-properties" Target="/docProps/app.xml" Id="R8fd8b0f5cdb0470e" /><Relationship Type="http://schemas.openxmlformats.org/officeDocument/2006/relationships/officeDocument" Target="/ppt/presentation.xml" Id="R49d0f868d94049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1f6e0f75b64e91"/>
  </p:sldMasterIdLst>
  <p:notesMasterIdLst>
    <p:notesMasterId xmlns:r="http://schemas.openxmlformats.org/officeDocument/2006/relationships" r:id="Rbe82aa4316514a99"/>
  </p:notesMasterIdLst>
  <p:sldIdLst>
    <p:sldId xmlns:r="http://schemas.openxmlformats.org/officeDocument/2006/relationships" id="256" r:id="R79adb8e273574a1a"/>
    <p:sldId xmlns:r="http://schemas.openxmlformats.org/officeDocument/2006/relationships" id="257" r:id="Rb06b00f64abc4d7f"/>
    <p:sldId xmlns:r="http://schemas.openxmlformats.org/officeDocument/2006/relationships" id="258" r:id="R112e3522774f49b6"/>
    <p:sldId xmlns:r="http://schemas.openxmlformats.org/officeDocument/2006/relationships" id="259" r:id="Rb8f14c3dc1fc4938"/>
    <p:sldId xmlns:r="http://schemas.openxmlformats.org/officeDocument/2006/relationships" id="260" r:id="Rd49444c8a4da4664"/>
    <p:sldId xmlns:r="http://schemas.openxmlformats.org/officeDocument/2006/relationships" id="261" r:id="Rbb3c376f4c834ef6"/>
    <p:sldId xmlns:r="http://schemas.openxmlformats.org/officeDocument/2006/relationships" id="262" r:id="Refa9ffc398164ae9"/>
    <p:sldId xmlns:r="http://schemas.openxmlformats.org/officeDocument/2006/relationships" id="263" r:id="Rd2e31f0874a642cb"/>
    <p:sldId xmlns:r="http://schemas.openxmlformats.org/officeDocument/2006/relationships" id="264" r:id="Rd5ccd225048945c7"/>
    <p:sldId xmlns:r="http://schemas.openxmlformats.org/officeDocument/2006/relationships" id="265" r:id="Rbdaf55e3c30e4038"/>
    <p:sldId xmlns:r="http://schemas.openxmlformats.org/officeDocument/2006/relationships" id="266" r:id="R017c8eee71374d96"/>
    <p:sldId xmlns:r="http://schemas.openxmlformats.org/officeDocument/2006/relationships" id="267" r:id="Rc6cb69285769462e"/>
    <p:sldId xmlns:r="http://schemas.openxmlformats.org/officeDocument/2006/relationships" id="268" r:id="R4fcd4d69a31a48cf"/>
    <p:sldId xmlns:r="http://schemas.openxmlformats.org/officeDocument/2006/relationships" id="269" r:id="R7f7c8dd94f904348"/>
    <p:sldId xmlns:r="http://schemas.openxmlformats.org/officeDocument/2006/relationships" id="270" r:id="Rfba325f229f24af9"/>
    <p:sldId xmlns:r="http://schemas.openxmlformats.org/officeDocument/2006/relationships" id="271" r:id="R4857e43a654a461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1f6e0f75b64e91" /><Relationship Type="http://schemas.openxmlformats.org/officeDocument/2006/relationships/theme" Target="/ppt/theme/theme1.xml" Id="Re7474c0ff7324c64" /><Relationship Type="http://schemas.openxmlformats.org/officeDocument/2006/relationships/notesMaster" Target="/ppt/notesMasters/notesMaster1.xml" Id="Rbe82aa4316514a99" /><Relationship Type="http://schemas.openxmlformats.org/officeDocument/2006/relationships/presProps" Target="/ppt/presProps.xml" Id="Rdd91d7fb9bd5404b" /><Relationship Type="http://schemas.openxmlformats.org/officeDocument/2006/relationships/viewProps" Target="/ppt/viewProps.xml" Id="R38b91c9cdf07435c" /><Relationship Type="http://schemas.openxmlformats.org/officeDocument/2006/relationships/tableStyles" Target="/ppt/tableStyles.xml" Id="R68da592a928a4881" /><Relationship Type="http://schemas.openxmlformats.org/officeDocument/2006/relationships/slide" Target="/ppt/slides/slide1.xml" Id="R79adb8e273574a1a" /><Relationship Type="http://schemas.openxmlformats.org/officeDocument/2006/relationships/slide" Target="/ppt/slides/slide2.xml" Id="Rb06b00f64abc4d7f" /><Relationship Type="http://schemas.openxmlformats.org/officeDocument/2006/relationships/slide" Target="/ppt/slides/slide3.xml" Id="R112e3522774f49b6" /><Relationship Type="http://schemas.openxmlformats.org/officeDocument/2006/relationships/slide" Target="/ppt/slides/slide4.xml" Id="Rb8f14c3dc1fc4938" /><Relationship Type="http://schemas.openxmlformats.org/officeDocument/2006/relationships/slide" Target="/ppt/slides/slide5.xml" Id="Rd49444c8a4da4664" /><Relationship Type="http://schemas.openxmlformats.org/officeDocument/2006/relationships/slide" Target="/ppt/slides/slide6.xml" Id="Rbb3c376f4c834ef6" /><Relationship Type="http://schemas.openxmlformats.org/officeDocument/2006/relationships/slide" Target="/ppt/slides/slide7.xml" Id="Refa9ffc398164ae9" /><Relationship Type="http://schemas.openxmlformats.org/officeDocument/2006/relationships/slide" Target="/ppt/slides/slide8.xml" Id="Rd2e31f0874a642cb" /><Relationship Type="http://schemas.openxmlformats.org/officeDocument/2006/relationships/slide" Target="/ppt/slides/slide9.xml" Id="Rd5ccd225048945c7" /><Relationship Type="http://schemas.openxmlformats.org/officeDocument/2006/relationships/slide" Target="/ppt/slides/slide10.xml" Id="Rbdaf55e3c30e4038" /><Relationship Type="http://schemas.openxmlformats.org/officeDocument/2006/relationships/slide" Target="/ppt/slides/slide11.xml" Id="R017c8eee71374d96" /><Relationship Type="http://schemas.openxmlformats.org/officeDocument/2006/relationships/slide" Target="/ppt/slides/slide12.xml" Id="Rc6cb69285769462e" /><Relationship Type="http://schemas.openxmlformats.org/officeDocument/2006/relationships/slide" Target="/ppt/slides/slide13.xml" Id="R4fcd4d69a31a48cf" /><Relationship Type="http://schemas.openxmlformats.org/officeDocument/2006/relationships/slide" Target="/ppt/slides/slide14.xml" Id="R7f7c8dd94f904348" /><Relationship Type="http://schemas.openxmlformats.org/officeDocument/2006/relationships/slide" Target="/ppt/slides/slide15.xml" Id="Rfba325f229f24af9" /><Relationship Type="http://schemas.openxmlformats.org/officeDocument/2006/relationships/slide" Target="/ppt/slides/slide16.xml" Id="R4857e43a654a46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6ff0abafa1d4a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c13de42f2643d8" /><Relationship Type="http://schemas.openxmlformats.org/officeDocument/2006/relationships/notesMaster" Target="/ppt/notesMasters/notesMaster1.xml" Id="Rd544c6e43ef843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5f76b501df4b74" /><Relationship Type="http://schemas.openxmlformats.org/officeDocument/2006/relationships/notesMaster" Target="/ppt/notesMasters/notesMaster1.xml" Id="R9d89360aad7a45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8522a7a88740d3" /><Relationship Type="http://schemas.openxmlformats.org/officeDocument/2006/relationships/notesMaster" Target="/ppt/notesMasters/notesMaster1.xml" Id="R4e0d77f84b8340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05ce4ef10244c6" /><Relationship Type="http://schemas.openxmlformats.org/officeDocument/2006/relationships/notesMaster" Target="/ppt/notesMasters/notesMaster1.xml" Id="R1fe874ec448249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4fce28742f4d4d" /><Relationship Type="http://schemas.openxmlformats.org/officeDocument/2006/relationships/notesMaster" Target="/ppt/notesMasters/notesMaster1.xml" Id="Rf371c4f1ecc34d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608a4666d3430d" /><Relationship Type="http://schemas.openxmlformats.org/officeDocument/2006/relationships/notesMaster" Target="/ppt/notesMasters/notesMaster1.xml" Id="Rebb776a1a0c947b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3359d1b86748fc" /><Relationship Type="http://schemas.openxmlformats.org/officeDocument/2006/relationships/notesMaster" Target="/ppt/notesMasters/notesMaster1.xml" Id="R61b110ff5e5044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e4a6b082e44e27" /><Relationship Type="http://schemas.openxmlformats.org/officeDocument/2006/relationships/notesMaster" Target="/ppt/notesMasters/notesMaster1.xml" Id="R82e05ffe8ea24f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abc97124594ec3" /><Relationship Type="http://schemas.openxmlformats.org/officeDocument/2006/relationships/notesMaster" Target="/ppt/notesMasters/notesMaster1.xml" Id="Rdd312d09477e4c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867fb0d123e47ca" /><Relationship Type="http://schemas.openxmlformats.org/officeDocument/2006/relationships/notesMaster" Target="/ppt/notesMasters/notesMaster1.xml" Id="Rc2b5aaae5b1a43b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dba2369933416a" /><Relationship Type="http://schemas.openxmlformats.org/officeDocument/2006/relationships/notesMaster" Target="/ppt/notesMasters/notesMaster1.xml" Id="Rd72e2dab8bab41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272bcf0a0694f41" /><Relationship Type="http://schemas.openxmlformats.org/officeDocument/2006/relationships/notesMaster" Target="/ppt/notesMasters/notesMaster1.xml" Id="Ra5c8bf159d984e3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d8387a2dbf84c7b" /><Relationship Type="http://schemas.openxmlformats.org/officeDocument/2006/relationships/notesMaster" Target="/ppt/notesMasters/notesMaster1.xml" Id="R166b32b83fb94be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2e16d5e59c49fb" /><Relationship Type="http://schemas.openxmlformats.org/officeDocument/2006/relationships/notesMaster" Target="/ppt/notesMasters/notesMaster1.xml" Id="Rc61db5c9a9664ae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b287284fed4dbf" /><Relationship Type="http://schemas.openxmlformats.org/officeDocument/2006/relationships/notesMaster" Target="/ppt/notesMasters/notesMaster1.xml" Id="R5f177eecf94a464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ddfca9d7e5c4132" /><Relationship Type="http://schemas.openxmlformats.org/officeDocument/2006/relationships/notesMaster" Target="/ppt/notesMasters/notesMaster1.xml" Id="Rd5120f07797e46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0994f8cf75426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8ed6aad5f60476b" /><Relationship Type="http://schemas.openxmlformats.org/officeDocument/2006/relationships/slideLayout" Target="/ppt/slideLayouts/slideLayout2.xml" Id="Re83ea6156cc346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3ea6156cc346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65d9f0962d44d4" /><Relationship Type="http://schemas.openxmlformats.org/officeDocument/2006/relationships/notesSlide" Target="/ppt/notesSlides/notesSlide1.xml" Id="R4b128d9282414d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d5d8a444794fe3" /><Relationship Type="http://schemas.openxmlformats.org/officeDocument/2006/relationships/image" Target="/ppt/media/image.png" Id="R7142cc0eb48c4b7e" /><Relationship Type="http://schemas.openxmlformats.org/officeDocument/2006/relationships/notesSlide" Target="/ppt/notesSlides/notesSlide2.xml" Id="Rc052ac7c364b4f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ca9fd6f0ca4f88" /><Relationship Type="http://schemas.openxmlformats.org/officeDocument/2006/relationships/notesSlide" Target="/ppt/notesSlides/notesSlide3.xml" Id="R380b5f73ca0444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e81b3d040c4b21" /><Relationship Type="http://schemas.openxmlformats.org/officeDocument/2006/relationships/notesSlide" Target="/ppt/notesSlides/notesSlide4.xml" Id="R61047bd6f9664c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c57b29b1e041d3" /><Relationship Type="http://schemas.openxmlformats.org/officeDocument/2006/relationships/notesSlide" Target="/ppt/notesSlides/notesSlide5.xml" Id="R0fd28b20f43c49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bc463d646748cb" /><Relationship Type="http://schemas.openxmlformats.org/officeDocument/2006/relationships/notesSlide" Target="/ppt/notesSlides/notesSlide6.xml" Id="R19738d52365745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f51e81c461493b" /><Relationship Type="http://schemas.openxmlformats.org/officeDocument/2006/relationships/notesSlide" Target="/ppt/notesSlides/notesSlide7.xml" Id="R6eec8bc49d5440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4b0320812f4644" /><Relationship Type="http://schemas.openxmlformats.org/officeDocument/2006/relationships/notesSlide" Target="/ppt/notesSlides/notesSlide8.xml" Id="Red2ef779559a4c3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95029df1ec4264" /><Relationship Type="http://schemas.openxmlformats.org/officeDocument/2006/relationships/notesSlide" Target="/ppt/notesSlides/notesSlide9.xml" Id="Ra957646e21de47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54889713b249b7" /><Relationship Type="http://schemas.openxmlformats.org/officeDocument/2006/relationships/image" Target="/ppt/media/image2.png" Id="R924181fa9c114bb7" /><Relationship Type="http://schemas.openxmlformats.org/officeDocument/2006/relationships/image" Target="/ppt/media/image3.png" Id="Rc5b1a073a9324b40" /><Relationship Type="http://schemas.openxmlformats.org/officeDocument/2006/relationships/image" Target="/ppt/media/image4.png" Id="R8a22fc4fd6984a04" /><Relationship Type="http://schemas.openxmlformats.org/officeDocument/2006/relationships/notesSlide" Target="/ppt/notesSlides/notesSlide10.xml" Id="R0d4f220b5d844c7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f246b94fad45b8" /><Relationship Type="http://schemas.openxmlformats.org/officeDocument/2006/relationships/image" Target="/ppt/media/image5.png" Id="R300fa0c508754e7e" /><Relationship Type="http://schemas.openxmlformats.org/officeDocument/2006/relationships/image" Target="/ppt/media/image6.png" Id="R55682e1c6b50467f" /><Relationship Type="http://schemas.openxmlformats.org/officeDocument/2006/relationships/notesSlide" Target="/ppt/notesSlides/notesSlide11.xml" Id="R6f843bf67f784e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60bd0cb9ff4b2e" /><Relationship Type="http://schemas.openxmlformats.org/officeDocument/2006/relationships/image" Target="/ppt/media/image7.png" Id="R48e9311c68aa4c75" /><Relationship Type="http://schemas.openxmlformats.org/officeDocument/2006/relationships/notesSlide" Target="/ppt/notesSlides/notesSlide12.xml" Id="R6614313ee2a44b4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b1f5eb6bcc4120" /><Relationship Type="http://schemas.openxmlformats.org/officeDocument/2006/relationships/image" Target="/ppt/media/image8.png" Id="R589d11e4421647c3" /><Relationship Type="http://schemas.openxmlformats.org/officeDocument/2006/relationships/notesSlide" Target="/ppt/notesSlides/notesSlide13.xml" Id="R88737f3d90bd45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1d7269421f4b4e" /><Relationship Type="http://schemas.openxmlformats.org/officeDocument/2006/relationships/notesSlide" Target="/ppt/notesSlides/notesSlide14.xml" Id="R9f01fc2e8a694bb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d7c7ee099240a0" /><Relationship Type="http://schemas.openxmlformats.org/officeDocument/2006/relationships/notesSlide" Target="/ppt/notesSlides/notesSlide15.xml" Id="R47abc016ced1420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19bd85dc9b44c7" /><Relationship Type="http://schemas.openxmlformats.org/officeDocument/2006/relationships/notesSlide" Target="/ppt/notesSlides/notesSlide16.xml" Id="R8db417cf32a8405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3ACA9E-6363-44C6-BAE6-EE907D1B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C7FA16-8E58-4AD6-B82A-BA2FAA83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99C52C-7C47-4742-ABFF-0BD8E238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BAA5E8-C4BB-4A09-A015-8AC619A5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12E19-52E3-418A-B759-881EC8CF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C39E36-96CB-4478-B7EF-2771F678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DB93B-E54E-4EB1-85C6-02C94693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74E66-7F1A-4B17-AC5A-65CF2FDD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DBC43-00AC-497B-BD4F-EC236098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A092BE-C9D3-4307-A67C-D6E4883F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A04E0F-F266-4936-8153-86A4DC80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FAE180-A4F2-4136-8EA3-C198DD97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565FCD-48CD-4961-BDCE-7E32B780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6D0382-C398-4C48-B6B1-779280BE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7674B0-E90D-4911-8F91-6C8BBEF7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F009B3-FCDA-4A39-AC7A-99831A91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6BFC0E-2633-43A8-94F6-CDAFFCBD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D0D5AF-2359-4ADB-B6E9-7BF95433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C861B3-B81F-42E8-B767-5FBC3D78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963273-FAD7-42F0-9751-7E7FC22F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8C453B-AF84-42E6-8D5C-CE295EAF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D14DEE-E63C-4688-BC04-CB7DBB50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A19360-2F6A-449A-8C77-50A8DF21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E11658-CC07-4A7A-B87F-5FBD8CBD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402291-21E0-4108-8A83-50D47086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4F0126-6390-4A72-9E18-D2B402B9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925558-AC83-4AE1-8732-452342CD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22FDC5-FA37-4F44-9AF4-FAE9916B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1DF42B-155F-4658-A000-1B82AA92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8105D6-0C88-4FFF-8D15-D1D0497C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6B9A87-BB18-4C24-9E4A-836BA087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B470EE-CABB-4469-A6E7-C53CAB39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F64C65-471A-432D-B9B9-0CADD61B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C63452-1CBB-43D1-AE00-319EB8D0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1581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IOT104TC GROUP PROJECT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01EE37-C317-4CEF-93C1-B2E24D47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1550"/>
            <a:ext cx="6572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Smart Classroom</a:t>
            </a:r>
          </a:p>
          <a:p xmlns:a="http://schemas.openxmlformats.org/drawingml/2006/main">
            <a:pPr algn="l">
              <a:defRPr sz="3225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Energy-Saving, Safety</a:t>
            </a:r>
          </a:p>
          <a:p xmlns:a="http://schemas.openxmlformats.org/drawingml/2006/main">
            <a:pPr algn="l">
              <a:defRPr sz="3225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&amp; Asset Monitoring System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13F3A9-334A-4F3E-A6AF-F9E814D0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6191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A two-board IoT system where UNO makes real-time local decisions, ESP32 bridges UART to MQTT, and a web dashboard adds operations, analytics, voice control, and scenario automation.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6CF2C6-0041-499C-865B-D08FA407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876300"/>
            <a:ext cx="37147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>
              <a:alpha val="80000"/>
            </a:srgbClr>
          </a:solidFill>
          <a:ln xmlns:a="http://schemas.openxmlformats.org/drawingml/2006/main" w="9525">
            <a:solidFill>
              <a:srgbClr val="74EFFF">
                <a:alpha val="33333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3EA96E-2554-4F7F-BCF4-F6CF8D25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162050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EDGE NODE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082D19-79BF-43EF-BA4C-F7A41ADF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4097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Arduino UNO R3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C63459-477F-4EFE-AA6A-4C6E57A5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790700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PIR • Light • LM35 • Gas • Flame</a:t>
            </a:r>
          </a:p>
          <a:p xmlns:a="http://schemas.openxmlformats.org/drawingml/2006/main">
            <a:pPr algn="l">
              <a:defRPr sz="9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Relay fan • PWM • Tach • LED • Buzzer • R/Y/G status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93DCD53-C22C-47F9-9FA9-E899C024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2362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C3C"/>
          </a:solidFill>
          <a:ln xmlns:a="http://schemas.openxmlformats.org/drawingml/2006/main" w="9525">
            <a:solidFill>
              <a:srgbClr val="FFFFFF">
                <a:alpha val="13333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9386BA-418C-4588-A52D-DEB3C245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813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UART SC2 telemetry + ACK command channel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D36C0C-C71F-4B3F-B3F9-90E6F981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195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ESP32 Gateway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4E912B-C04F-4DEE-B3F6-889E2312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00500"/>
            <a:ext cx="295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Wi-Fi • MQTT • JSON topics • offline status • dashboard control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9B1EAE-51AB-4739-A222-30888D5B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3050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26667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0F24BB-95F9-45B7-B605-B956EFF6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9+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5E9F89-DBFA-43F7-B427-5F90D6F6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hardware signals used in final demo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A3DF69C-54F8-4115-949F-E61B8EAA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62500"/>
            <a:ext cx="23050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5F7E">
                <a:alpha val="26667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EE7F376-B4AF-4AA8-A3C8-45D95042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933950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5F7E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5F7E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2F1AD59-9B7B-4453-8CCB-34D9325A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149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priority modes including safety alarm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9A9EF5-1EFC-4E69-BD55-2EC8B6D8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762500"/>
            <a:ext cx="23050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26667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836F97-F4D6-416C-95CD-1BE1CABD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933950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rPr>
              <a:t>1s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75B6B4F-67C7-424B-905C-46C811D9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149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telemetry cadence across UART/MQTT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46A6519-9604-4A13-91A3-6F1C234C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62500"/>
            <a:ext cx="23050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26667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A650A08-4184-40AB-819D-44AF12F3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33950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rPr>
              <a:t>432m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CB040B8-6855-4982-A73F-31349110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3149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captured telemetry span for evidence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4F8224D-771F-4E67-AFFF-ACB9C84A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A64F30-159A-442D-8568-4DEC057F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Architecture-first demonstration: local safety still works if the network disappears.</a:t>
            </a:r>
          </a:p>
        </p:txBody>
      </p:sp>
    </p:spTree>
    <p:extLst>
      <p:ext uri="{BB962C8B-B14F-4D97-AF65-F5344CB8AC3E}">
        <p14:creationId xmlns:p14="http://schemas.microsoft.com/office/powerpoint/2010/main" val="9823546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257148-37A4-4632-B44F-24D4D31D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549D3-6B7E-4E29-940C-AF58C5B4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3B2E12-AEE9-490A-860F-31E8A4F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58FC6-8ABA-4701-B38C-7707D467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F31B0-CB13-4F23-B4C5-4D2F9306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5983B-FC65-4DC5-AAD0-8D85DF9A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FDABCE-960E-4446-896A-07610ACC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A3C1A9-E314-4511-9C8B-D1096745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D53460-24FB-4592-9CC5-88B1E810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B7B393-004B-4C8A-B564-4A49B66B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413BD-C17E-45B5-AA98-193F4B38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531CD-A600-4224-919F-2029C381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F2E18A-A404-45CF-A210-844D2892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03D481-BCEB-4437-A2B4-C49264F1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CD558-B20B-4EA0-B9FE-48F8C1C0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DC20E-C2E7-4D88-B0A5-9F3755DA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2AFE23-F59C-462B-AB81-0321A131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0CEDBE-FB6E-43B9-B440-23AC9052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C74838-3D11-4FAB-945E-4E500566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0948AB-1495-480C-866E-57AFF23B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74E97C-CBF5-4C55-AE28-E9F524A6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517BA6-FF19-4796-8C7C-B88B0F1D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F13035-0E26-4585-923F-8388DF9D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D1B3CB-3339-47B3-ABF7-3DA5C993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A246D0-63ED-4A5D-9261-37AE838D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7B980E-8DE1-4C7C-8E4F-EAC9096D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E44021-5A77-4918-AB19-60EA99FB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D06E7B-142C-4BDC-B4B1-696F6509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4FA0AC-49DF-4F5C-82D2-AEA6420E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A4901A-85C6-43BC-836E-BD0092E4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31B56B-C932-4078-9D07-9C0D1735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1F6D1A-EE8A-43DE-9BA6-1C3AB5CA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9980C6-9597-439F-AF4D-E4C31066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ASSESSMENT FIT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7437E0-880A-484E-970D-53B51A3D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The design maps directly to the marking scheme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C05766-3353-466A-B7E4-383C6BD6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Hardware, software, IoT service, architecture, security/privacy, operations, and practical use-case are all visible in the demo.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2D64ED-7534-44E6-899F-356109C8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43A12F-ED53-4A93-AC9B-BC4CCEE1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967273-5283-424B-AFC1-2F08900C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47053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98"/>
            </a:srgbClr>
          </a:solidFill>
          <a:ln xmlns:a="http://schemas.openxmlformats.org/drawingml/2006/main" w="9525">
            <a:solidFill>
              <a:srgbClr val="FFFFFF">
                <a:alpha val="16863"/>
              </a:srgbClr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2cc0eb48c4b7e"/>
          <a:stretch xmlns:a="http://schemas.openxmlformats.org/drawingml/2006/main"/>
        </p:blipFill>
        <p:spPr>
          <a:xfrm xmlns:a="http://schemas.openxmlformats.org/drawingml/2006/main">
            <a:off x="609600" y="2411964"/>
            <a:ext cx="4591050" cy="2548422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C0073C-9998-4D6D-81D1-5704E5F2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5265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3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424815-2DEE-4721-A5AA-870CAF37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860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FDA464-11E4-4B55-8437-C46C4BFA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526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2DF52F-1B1C-4F13-9BAE-F4FE1C4D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6700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Application/service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5A5A017-C93F-4A7C-8F76-3B9E3BF1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028950"/>
            <a:ext cx="2209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Smart classroom energy saving plus safety monitoring. The use-case is not a sensor showcase; it demonstrates a service workflow.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EF36A66-B6D7-4AEE-884A-1788B6D3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33333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81A953-F94B-4F11-98EC-1889F580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1765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08A7B2-85ED-4D03-8B79-2D977A04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526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AEE6D5-B417-49F3-BC6C-EB48BC6F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6700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Hardware/software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01BA22-E939-4106-9F0C-EA9206C8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28950"/>
            <a:ext cx="2209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UNO owns real-time control. ESP32 owns networking. Web dashboard owns operation, analytics, and commands.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602BFE5-A7F9-4153-B7EF-97D3E5CB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48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33333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F3F5F20-4B4C-4FF4-BA97-E49D7DD7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98145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11765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0578E23-B393-4EAA-B02D-44EA0C68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0481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B9518C2-0F37-4979-8CD2-7250BE3D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3624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ECBCE0-E281-4147-B2E2-786D059B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724400"/>
            <a:ext cx="2209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Edge-first safety path, UART protocol, MQTT topics, ACK loop, offline handling, and dashboard persistence.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E5F9211-3EE1-4E83-89AA-C3157D8E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48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5F7E">
                <a:alpha val="33333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0686D42-4265-4F51-BE30-57B41556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11765"/>
            </a:srgbClr>
          </a:solidFill>
          <a:ln xmlns:a="http://schemas.openxmlformats.org/drawingml/2006/main" w="9525">
            <a:solidFill>
              <a:srgbClr val="FF5F7E">
                <a:alpha val="4000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A92FEDD-2FDC-47D4-9B87-8C58A9F5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481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5F7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5F7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7062A76-A212-42D7-8E33-834D1AE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624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Security &amp; ops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8AF7061-774C-43DE-9C9D-50999E09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24400"/>
            <a:ext cx="2209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Local LAN scope, secrets excluded from git, browser permissions for mic, manual fallback, self-check before demo.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3C0B1AD-383D-4980-94B1-D294CBA6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492AD89-B91B-42CD-8ACB-F7310E13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29250"/>
            <a:ext cx="931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Every major feature has a live demo path.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223393B-5E25-4B03-9201-DD15DFFD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FC5DD8F-2E92-4D05-8E83-ACDAA38A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67400"/>
            <a:ext cx="931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Every claim can be traced to firmware, MQTT, dashboard, or telemetry data.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6E6EC20-5009-4EF2-B37C-C3EE8DA6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7B3370C-CE76-4855-9D44-1722644B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305550"/>
            <a:ext cx="931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The deck ends with references and a self-check gate.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212E5B2-0E5E-4BD2-8EAD-7533253C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FCD7CB6-42AC-477E-9FCA-A61A2E60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1784695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CB1930-075B-46CD-94CC-D3651521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8CBFA-1F2A-4029-9989-878A456C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56111-CD4D-4E17-A0F6-29F6A8AE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0F0FE0-AFD6-4E8E-A863-EF96EA34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4D164-FF59-4DBE-BCAD-4178DF77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0E9E8-7A5D-4E1F-95BE-01292CDD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18861-55F9-4AF6-A2BA-92D3C603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95C7CB-BE30-4485-B55A-C84F7CB0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EC9648-99F3-4A68-99C1-59EA6824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5BD5F-BF22-4BD8-A6D7-F1DD3DEC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64F1E9-A55F-40A1-AE51-05EBC62F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10544F-D2BC-4EAD-8E84-990A6D18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50DC3-B5A3-4C4A-A48E-542BFBFA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42A908-079B-4C28-ABC2-D48CFC3F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39FB2-30E8-462B-ADD4-E6FCABAF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7CF72A-8988-4DDA-A9C2-AF732696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541471-E909-4C4A-95F8-D4977AC5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24E2E2-2646-4B3C-935F-E506064F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D3B31E-AE0E-49A8-AAC9-83A1D731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9FA8E4-CC32-4910-950B-39B4CAEC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1CCFD1-3DF7-4D4E-A0D0-0F44C972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74DEBC-0C63-4743-95EC-35D8AF57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F0EACA-211F-41C2-879E-F2628A0F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EDC760-BDF0-438C-92BB-47B6A2D3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65521F-2C66-4A83-A031-34C2047E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78DDE3-FBC0-4C71-8DCD-A1EDB85F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AE9890-D183-41DD-95AF-285549AD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4EA09F-83F7-4274-AE01-9A9DE84A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E6BE3-ACEE-4C54-87B4-E78D8D4B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D3F4E2-22C7-4072-8743-0003D79A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861879-ACAF-4AE5-B789-6EB61A4F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4F2B0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B2DFEE-D214-4A4E-8BF4-AA3422B0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451939-025A-46D6-9CD5-3297F1BC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2438C4-8212-4BA8-A921-2A29D332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A classroom that reacts locally and reports globally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1F4723-BDDB-40B2-BF82-57AEE5B6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The project is framed as a small building-management service rather than a disconnected lab circuit.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5C6470-7E34-44DF-A138-0D4BFE45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75AA885-37DA-4B1D-94BE-EB30A631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FB8CCF-EF4C-44D0-B275-33C2F51D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286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33333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1D2830-81B7-4692-AA96-8218DE62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8E7C0A-419B-4830-980D-D90B6FAE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812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Sense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0D8BF9-584D-4E85-9141-AAE79B60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Room context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5BEB90-4D71-42A9-B880-D98C09BF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943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PIR occupancy, ambient light, LM35 temperature, gas concentration, flame DO/AO, and emergency button are sampled without blocking.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D4E144-8CBB-4FAF-9387-982E13BD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2286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33333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F8B3FD-DF30-4AB4-949E-0C2FC4C5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146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11765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0DDFFD9-6412-4E50-9232-EF9F14EA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812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F1724E1-7080-4F82-9BAB-A1D5405B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89560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Edge state machine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C33001-ACB8-4F24-8034-1CF3251A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57550"/>
            <a:ext cx="1943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Safety Alarm has highest priority. Otherwise the system balances lighting, comfort cooling, and energy-saving behavior.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AFF88E-41E8-450E-84E9-957CB3ED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2286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5F7E">
                <a:alpha val="33333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DF71561-DADF-4FA8-B588-C148753E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146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11765"/>
            </a:srgbClr>
          </a:solidFill>
          <a:ln xmlns:a="http://schemas.openxmlformats.org/drawingml/2006/main" w="9525">
            <a:solidFill>
              <a:srgbClr val="FF5F7E">
                <a:alpha val="4000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20636A7-1CD6-4B8D-BCCF-F0E281BF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812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5F7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5F7E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A28CEB4-831C-42C6-A28A-EF104B3F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9560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Physical response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94AE0BC-4E31-46AD-8F6A-C2EFE609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57550"/>
            <a:ext cx="1943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LED classroom lamp, relay fan power, fan PWM, tach RPM, traffic light and intermittent buzzer make the behavior observable.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275EEE4-6D0E-4FAB-8F0A-3DEDD0D7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2286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33333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5F61B0-EDBE-4257-BDFC-DEAAEEAC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146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1765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156B3D-54B4-4F2C-AAF9-F9D84613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812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Operate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577CB26-0C7F-4578-92EE-67813874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9560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IoT service layer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666CBAC-A2AE-4AD6-9756-EF941442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257550"/>
            <a:ext cx="1943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ESP32 publishes MQTT telemetry and accepts structured commands from dashboard, timeline, presets, and voice/AI control.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9CFD1EA-C2D5-4033-80C9-3B3A9CAB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3718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1F62ADD-4A96-4763-8672-71A023E2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337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BBD71B2-E766-4B8D-8844-20220B69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718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5A30D7B-C004-4EAC-B6AC-A064F68E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337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CA6A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01C797A-208E-468B-B998-6B21506B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3718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DD84566-7939-47A4-B1D2-44CD38D5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3337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5F7E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157ED78-AEC8-443A-8320-7C624599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5F7E">
                <a:alpha val="26667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890A8B2-AAF8-49F5-BCF4-1AB398BFE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244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5F7E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5F7E"/>
                </a:solidFill>
                <a:latin typeface="Aptos Display"/>
                <a:ea typeface="Aptos Display"/>
                <a:cs typeface="Aptos Display"/>
              </a:rPr>
              <a:t>Safety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0608CEA-89DF-49FA-AB7F-496CADBC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gas/flame/button instantly override comfort logic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3535DB7-CC91-436D-A636-E4D55086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26667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2A8FF02-C94F-4CFD-ADE0-B946B31D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244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Comfort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1C75FBB-C715-44ED-BD7A-10C647CB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5054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fan and lamp avoid harsh on/off behavior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878E80B-1A49-4C98-B4FD-C4EAD64E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9530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26667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787AF0A-D043-435E-8998-E49D5CCD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244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rPr>
              <a:t>Ops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1E99630-F5A9-498C-8731-5AE3C976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manual mode, config persistence and ACK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F199036-7023-4EC8-8FCE-A7CABBEC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9530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26667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123FC64-2787-4FD8-B13E-7AB2CFC0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1244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rPr>
              <a:t>Evidence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BCB8B57-E47C-4C08-A9EF-A13A5F58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5054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charts from telemetry history and demo logs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E775AC0-6101-4AB4-B5D8-0879871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2218FBA-0200-4E7E-9972-7847D0AC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9862098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A589E3-9652-4405-9152-AA8F4D2F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4903A2-D58A-4469-9DA5-6962C960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2F11E9-C793-451A-BAEF-05061E39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FF4B64-FF14-437F-8330-DADBD5F8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A9922-46F5-448C-88A5-EC95F5D8D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DAE9B-FFB2-4C46-A837-0451D262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53440-9D04-4299-9D3F-AA9F413C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D51929-2952-4446-A141-9DE352F4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755752-4EF0-4D03-87CC-748FC1F7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99494-E3A7-4EBD-B39F-87A05B44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248275-7CEB-49E2-9A4B-0514A6C1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2DCF82-3671-4643-B10C-DDBB5131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3D5A5-C73E-4A15-8087-128661C5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97274-3528-49F0-95E2-44B2CD96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33540E-D2B5-4D02-9EEE-094DF269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0A91AC-E00C-4DFB-A9A6-3EB1ACD3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940C1C-58D4-450E-9822-E825B89A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1C9D39-01C0-4CE3-9DA5-9405E1C2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B9F63-3D36-495D-97BA-B378698C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31A4FC-ADF9-4875-A165-186C987B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3ED715-125B-40BF-A33F-7838685C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FB6D15-7AEC-4AB6-B05E-F2B54EA3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2D8121-C404-46D9-8AD6-A36920AA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DD57D3-9CB2-4D53-B414-FF18A132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97E524-C6F1-4D5F-8444-E8B82D94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13A00F-B62B-4543-9E01-5316755B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B7B32F-B529-411B-A27E-E318956B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2EBDF3-0065-46A0-BACC-C37947DC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BA19CB-216C-4670-B81D-48AE7305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72DF4F-F552-4537-94D8-A5A0F9D2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5BE309-1310-4DF7-BB65-25B8C287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4B8DFF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D47242-EB02-4D87-B718-252B2180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601987-C413-4B03-AEF7-BD9F3ED6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22F3E2-8710-4C2C-8DFE-09E3B508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The hard real-time loop stays on UNO; the network is a gateway, not a dependency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896C28-FA72-4160-AF3F-E0A4726D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This separation is the main architecture decision: safety and comfort remain local even if Wi-Fi, MQTT, or the browser fail.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842B24-F8EB-47E4-B5F2-F302FA23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E6998F-BF5E-40A3-8853-5DDA3726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0A1587-C77A-407F-B15D-8C89A900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2190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18E0C7-BD6C-4B7B-BD6B-CE351BC1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7B3109-3E75-423D-8D61-C5584A68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38425"/>
            <a:ext cx="1200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Sensors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C783ED-CC27-4C1A-B566-D8DDF058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05150"/>
            <a:ext cx="1676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PIR D2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Light A0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Gas A1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LM35 A2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Flame D8/A3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Button D4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CAAE74-8567-41B5-BED2-A240A2F7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33625"/>
            <a:ext cx="2190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009C68-76B9-47A1-9AB0-A15C9AF9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11765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7D6FED-9409-4B34-8ADC-F1497314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38425"/>
            <a:ext cx="1200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UNO Edge Control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131D1C-2CD1-441F-B3F6-CA232BC2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05150"/>
            <a:ext cx="1676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millis loop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priority state machine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relay/PWM/tach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buzzer pattern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status light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832A4D-EC80-4CE7-97CF-60370BD8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33625"/>
            <a:ext cx="2190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3630A3-9E2D-47F1-BF2D-B8614AAF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71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1765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10D69D-4AA6-442E-8433-935A2C1D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38425"/>
            <a:ext cx="1200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ESP32 Gateway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967D996-8B1F-46E5-9A58-0F076DAD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05150"/>
            <a:ext cx="1676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Serial2 RX/TX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Wi-Fi reconnect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MQTT publish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command parser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ACK relay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123BC5B-8805-4428-8933-65A759D6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33625"/>
            <a:ext cx="2190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B884FF">
                <a:alpha val="4000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F057812-AC7B-45F9-960C-629C7804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71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FF">
              <a:alpha val="11765"/>
            </a:srgbClr>
          </a:solidFill>
          <a:ln xmlns:a="http://schemas.openxmlformats.org/drawingml/2006/main" w="9525">
            <a:solidFill>
              <a:srgbClr val="B884FF">
                <a:alpha val="4000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F0C8CE-7F13-436E-B93B-BD3E8EA1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38425"/>
            <a:ext cx="1200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B884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B884FF"/>
                </a:solidFill>
                <a:latin typeface="Aptos"/>
                <a:ea typeface="Aptos"/>
                <a:cs typeface="Aptos"/>
              </a:rPr>
              <a:t>Laptop Service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60B251C-36AB-4556-9E03-D7CD3B51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05150"/>
            <a:ext cx="1676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Mosquitto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Node server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web dashboard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Qwen command planner</a:t>
            </a:r>
          </a:p>
          <a:p xmlns:a="http://schemas.openxmlformats.org/drawingml/2006/main">
            <a:pPr algn="l">
              <a:defRPr sz="12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local history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EFB8E5A-AA74-445D-B0DD-C430370C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623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004D00-5240-46A4-84C0-0AEFADC9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242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67FAF5-051E-4582-80E6-794FE942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5623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91F2FFE-9CD2-482D-ACBF-6C711883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242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CA6A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8568FCA-1438-439A-B56A-CBF0A648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623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A0114E3-28DC-4C4E-9C54-39E3F42E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5242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4F2B0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8187D4E-8DF0-4230-B245-883203A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19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SC2 telemetry line every 1s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87EFB73-714E-4203-8A85-C9D7AC36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1970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JSON + key topics over MQTT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C6AC92E-61E0-405C-8540-402994DE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Command path returns ACK to the dashboard so operators know a setting actually landed.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5A5E305-BEC4-4C3B-B7FB-C14F5DF1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7617D53-B824-4566-9222-DEBB0514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109047344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DE3D18-74D8-44C5-8696-B202A6FB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83BD8-39C0-4447-A1A8-0E7164CA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0AB06-33F0-4B3A-8F0D-5AD6F961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161BE-8D20-4CA1-9240-FE05C648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244BE-8852-4B43-B392-858B3A31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2BC1B-1404-403A-97F8-B6B4C645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5CE15-D874-4B6C-8B9A-71D3906A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ADF68-D0FC-415C-AEC1-7E337459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92073A-3992-4F24-BC07-C9231B9B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8C4F80-14AD-4BAF-B4AE-C032F5A4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1A890-8CDD-4B83-8CCF-F88AE4CE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E41E3-1FB3-453E-9940-9A4B4CEB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69418-F53A-4309-8B20-888DEC81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45D81-7A44-4878-A474-F0E68EEB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29A69-D7EE-4ED4-9AC0-DB4205D2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8CB7B0-027F-4870-9BFF-8F772CDA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6E96CF-DE1A-4EBC-A19E-A4C80A4C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E6EBF3-8831-469F-A736-015E83F1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1AB6F0-ACC1-4985-9470-AF42360F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FB5F95-9DA4-47CD-8EA5-07F24E97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5C91F0-91FD-4D21-80A5-0B4F4EEC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AAEC34-C27A-41AB-A17F-84675258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47968B-47FA-436E-A3B6-15EFD230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4B9C64-2673-4103-B71B-C6B0E973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E2B220-06B3-41FD-8D74-BE2DA9D6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A46E0F-AC0F-49B6-885B-94C8285E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91367A-11B5-432C-AD11-33B727FB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2E1FDB-033C-49E5-807D-E5933E7C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62D84D-A0B5-4351-9854-99F1434A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36DC7E-6F57-4699-AAFD-C4FA8336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E8D60B-9E1E-4AB1-BE99-C1818C22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A12AED-5466-4FD4-BC56-20B5A28E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A60DAD-4FBD-46D2-8D8B-AE557BD4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HARDWARE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11728A-7BCA-4C64-AFA3-EB3899E1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The final demo uses a dense but explainable set of modules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BC5F0A-EAF6-4620-A022-F90BE720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The 48-piece kit components are separated from external components so teammates can assemble and debug quickly.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E32D61-AECC-459C-9D0D-5986B178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A05750-B2F6-4746-AE1A-E14D2051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C476A6-1AC4-4504-8214-296A92D9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429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74EFFF">
                <a:alpha val="33333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68CA182-4C92-4A1D-9EFC-3A326B10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3E9352-06DE-44EA-AFEA-5AE008CE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43175"/>
            <a:ext cx="14859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48-KIT MODULES USED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1F180E-D270-47A9-A321-DE38A2B5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9900"/>
            <a:ext cx="24765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#18 PIR Motion Sensor</a:t>
            </a:r>
          </a:p>
          <a:p xmlns:a="http://schemas.openxmlformats.org/drawingml/2006/main">
            <a:pPr algn="l">
              <a:defRPr sz="150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#31 TEMT6000 Light Sensor</a:t>
            </a:r>
          </a:p>
          <a:p xmlns:a="http://schemas.openxmlformats.org/drawingml/2006/main">
            <a:pPr algn="l">
              <a:defRPr sz="150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#25 Analog Gas Sensor</a:t>
            </a:r>
          </a:p>
          <a:p xmlns:a="http://schemas.openxmlformats.org/drawingml/2006/main">
            <a:pPr algn="l">
              <a:defRPr sz="150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#16 Flame Sensor</a:t>
            </a:r>
          </a:p>
          <a:p xmlns:a="http://schemas.openxmlformats.org/drawingml/2006/main">
            <a:pPr algn="l">
              <a:defRPr sz="150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#5 Active Buzzer Module</a:t>
            </a:r>
          </a:p>
          <a:p xmlns:a="http://schemas.openxmlformats.org/drawingml/2006/main">
            <a:pPr algn="l">
              <a:defRPr sz="150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Traffic Light Module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2BDBEA-D423-4686-8D62-FC2A54E7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33333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721EC9-4969-4CE6-B0D0-A811AF41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765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1765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C203B6-08E1-4CF3-9AC6-1AC950E8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4317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EXTERNAL / CUSTOM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778A4F-F043-4B2F-A08E-89AD0D3A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00990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KS0001 Keyestudio UNO R3</a:t>
            </a:r>
          </a:p>
          <a:p xmlns:a="http://schemas.openxmlformats.org/drawingml/2006/main">
            <a:pPr algn="l">
              <a:defRPr sz="14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ESP32 Gateway</a:t>
            </a:r>
          </a:p>
          <a:p xmlns:a="http://schemas.openxmlformats.org/drawingml/2006/main">
            <a:pPr algn="l">
              <a:defRPr sz="14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LM35 powered from ESP32 5V</a:t>
            </a:r>
          </a:p>
          <a:p xmlns:a="http://schemas.openxmlformats.org/drawingml/2006/main">
            <a:pPr algn="l">
              <a:defRPr sz="14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6-channel relay module</a:t>
            </a:r>
          </a:p>
          <a:p xmlns:a="http://schemas.openxmlformats.org/drawingml/2006/main">
            <a:pPr algn="l">
              <a:defRPr sz="14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12V 4-wire fan</a:t>
            </a:r>
          </a:p>
          <a:p xmlns:a="http://schemas.openxmlformats.org/drawingml/2006/main">
            <a:pPr algn="l">
              <a:defRPr sz="14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12V adapter</a:t>
            </a:r>
          </a:p>
          <a:p xmlns:a="http://schemas.openxmlformats.org/drawingml/2006/main">
            <a:pPr algn="l">
              <a:defRPr sz="14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LED + 220 ohm resistor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63D902-E208-42F5-9233-54ED665C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BCC78D-689E-45A8-9955-6140A16A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765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11765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765634-E4A9-4AC4-B819-161F780B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43175"/>
            <a:ext cx="1581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NON-NEGOTIABLE WIRING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95F384-BFC7-418B-BA30-A8BF92B1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0990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Common ground between UNO, ESP32 and 12V adapter</a:t>
            </a:r>
          </a:p>
          <a:p xmlns:a="http://schemas.openxmlformats.org/drawingml/2006/main">
            <a:pPr algn="l">
              <a:defRPr sz="12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UNO A5 -&gt; resistor divider -&gt; ESP32 RX2</a:t>
            </a:r>
          </a:p>
          <a:p xmlns:a="http://schemas.openxmlformats.org/drawingml/2006/main">
            <a:pPr algn="l">
              <a:defRPr sz="12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ESP32 TX2 -&gt; UNO A4</a:t>
            </a:r>
          </a:p>
          <a:p xmlns:a="http://schemas.openxmlformats.org/drawingml/2006/main">
            <a:pPr algn="l">
              <a:defRPr sz="12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Relay logic via RELAY_ON / RELAY_OFF</a:t>
            </a:r>
          </a:p>
          <a:p xmlns:a="http://schemas.openxmlformats.org/drawingml/2006/main">
            <a:pPr algn="l">
              <a:defRPr sz="12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No capacitor added in current build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93FA11-CD56-4FC9-8AF6-F61A9FCE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753100"/>
            <a:ext cx="2952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13333"/>
            </a:srgbClr>
          </a:solidFill>
          <a:ln xmlns:a="http://schemas.openxmlformats.org/drawingml/2006/main" w="9525">
            <a:solidFill>
              <a:srgbClr val="FF5F7E">
                <a:alpha val="4000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2203883-8724-46AE-AF96-B0378FED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48350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5F7E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5F7E"/>
                </a:solidFill>
                <a:latin typeface="Aptos"/>
                <a:ea typeface="Aptos"/>
                <a:cs typeface="Aptos"/>
              </a:rPr>
              <a:t>Local control survives network failure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49CD15-3B39-4E2A-A01C-63D160ED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531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3333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6B03CDE-7CE0-4EC6-90F7-65DB069D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848350"/>
            <a:ext cx="3676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Temperature drift mitigated by ESP32 power/ADC guard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5A3DC40-AEA6-4A59-A113-78DBB8DF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753100"/>
            <a:ext cx="276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3333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D2C9C29-9F72-4A3F-95D7-F2310FE2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848350"/>
            <a:ext cx="2533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Assembly checklist is generated separately in Chinese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B0C4503-657E-45F9-9381-5F115F59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D6DD49-9565-4278-8C19-CEF1BF67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87431567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534435-095D-4FF9-BE4F-949D45F9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5228D-1332-4775-AC64-8D8802B5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75363-8DC3-4213-9674-B52FAABF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9E9DB-60EC-4BE1-B598-DB6109EF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81B5ED-681C-405E-B8C6-329A56CF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FF5F6D-07E2-4034-8C42-E7556B4F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5F3DF5-0AC8-452E-9157-C22709BC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F0731-151E-4F5A-891C-AB0F7F6F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5E946-C9E7-4708-A250-70BD65E8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BE74B-2F7A-4013-9F40-CD1DB55D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4A9C4-F125-47A7-9ADC-B0F6C698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76926F-8B56-44F8-9430-A908F928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7CD8C1-4190-4331-B1CF-A0FA9D0A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3CA963-3CF6-4C5A-B78E-B382A909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B9A91-BBE1-4B53-9DAF-110DD9E9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6A04AE-FB9A-49B4-84C7-4ED72F09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B2116-785E-49CB-8FA8-603A8CEA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C986A-F35D-47F2-A925-48D04EE2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003A9-1DEA-455D-8F16-FCDD8105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A8E9FB-1C74-4238-ABFD-2ABC4535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345636-E7DC-4EDD-98F9-6976044F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B0866C-AB6E-4C4E-A3E1-A2A11FB4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85C0CE-B29F-4B15-94BA-2F6FAD79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6EBB6E-6A98-45A4-9D6A-68FF91F0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218F3B-E445-4E9C-A73C-793E0A99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7BB823-E1A7-4545-B675-82E38116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E6A7CC-46C2-4779-9AC5-E6D0A0D2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4CE724-3B1B-4AD9-9F6D-31831267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28D9AB-1CDC-4777-82E0-C0665D78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D5C4D9-02D8-41BA-8FB7-691EBD66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C06A8D-DDE4-45BE-8E85-36411A4B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CA6A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DEE411-9089-40A5-BD7E-70B9DBE0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C660AF-7185-4E07-A560-415C0EF8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EDGE INTELLIGENCE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7B5D17-BC3E-4B40-9C7B-F6908356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Priority is encoded as a state machine, not scattered if-statements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5CFC90-F9D5-4A48-ABD3-985EB5AF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This is why mixed behavior is predictable when safety, comfort, occupancy, lighting and manual control interact.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184BF1-C0C1-40D5-85D7-0F30C8F5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CCF32D-8823-44E3-84AB-ACD5E628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4BA171-244B-498D-A672-1BA8B4FB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13333"/>
            </a:srgbClr>
          </a:solidFill>
          <a:ln xmlns:a="http://schemas.openxmlformats.org/drawingml/2006/main" w="9525">
            <a:solidFill>
              <a:srgbClr val="FF5F7E">
                <a:alpha val="4000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BF6617-D1DA-4483-9550-D7F7961A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5F7E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5F7E"/>
                </a:solidFill>
                <a:latin typeface="Aptos"/>
                <a:ea typeface="Aptos"/>
                <a:cs typeface="Aptos"/>
              </a:rPr>
              <a:t>SAFETY_ALARM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9EDE8D-A2A4-43A9-8EA3-EA867F79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76475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gasDanger | flameDetected | demoEmergency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05CABBC-81CF-4F49-BF14-4C894554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2415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FF">
              <a:alpha val="13333"/>
            </a:srgbClr>
          </a:solidFill>
          <a:ln xmlns:a="http://schemas.openxmlformats.org/drawingml/2006/main" w="9525">
            <a:solidFill>
              <a:srgbClr val="B884FF">
                <a:alpha val="4000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632BE2-2E59-4998-8FCE-F292FF1C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1940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B884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B884FF"/>
                </a:solidFill>
                <a:latin typeface="Aptos"/>
                <a:ea typeface="Aptos"/>
                <a:cs typeface="Aptos"/>
              </a:rPr>
              <a:t>SENSOR_ERROR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F0CED0-3FB1-4587-B8B5-2D23578D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90825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invalid temperature / impossible sensor state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C956F48-B06A-41E0-AB33-8F7A9094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3333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A9675E-B5F8-4BAD-ACE3-A868AD0F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MANUAL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AA3DE9-9891-485D-869A-EB85017C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05175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dashboard command explicitly overrides selected actuators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FFFB03-67B1-493F-ACEE-43012EFA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5285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13333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29E3A34-820D-467F-B2BD-3FBB0855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4810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COOLING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9CDC156-F645-4DD2-A0AB-7D7AEF12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19525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temperature crosses fan-start threshold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0DAB6B2-5260-44AF-B2D2-0A4AA6E4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6720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F28C">
              <a:alpha val="13333"/>
            </a:srgbClr>
          </a:solidFill>
          <a:ln xmlns:a="http://schemas.openxmlformats.org/drawingml/2006/main" w="9525">
            <a:solidFill>
              <a:srgbClr val="6CF28C">
                <a:alpha val="4000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320B8A-C9EE-4E7D-AC4E-1CBA3BD3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624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CF28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CF28C"/>
                </a:solidFill>
                <a:latin typeface="Aptos"/>
                <a:ea typeface="Aptos"/>
                <a:cs typeface="Aptos"/>
              </a:rPr>
              <a:t>LIGHTING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D96371-BD83-4FF5-82AD-A97B7097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33875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occupied and dark enough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EFFC0D-1BE6-4B74-9FC0-AE4A2124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8155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3333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5D29DB1-0EE4-4CAB-A7C7-C4C20EF5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7680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ENERGY_SAVING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9BCC923-DD82-4743-9A57-834B2339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48225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no occupancy for timeout / bright enough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323057D-9747-4815-98A0-1EADBB77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9590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2">
              <a:alpha val="13333"/>
            </a:srgbClr>
          </a:solidFill>
          <a:ln xmlns:a="http://schemas.openxmlformats.org/drawingml/2006/main" w="9525">
            <a:solidFill>
              <a:srgbClr val="6F8EA2">
                <a:alpha val="4000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F9E9540-23A2-4929-96D8-CC192468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91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NORMAL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A02F1D3-99B0-4628-B469-35AA3243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62575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monitoring without intervention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FF70C1C-CB3E-4427-B658-652F404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2381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74EFFF">
                <a:alpha val="33333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3532E26-224F-402E-B2B8-2E7CC85A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908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Priority order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9F62D44-7B16-40E6-9499-CFA97C8A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48000"/>
            <a:ext cx="13525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SAFETY_ALARM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SENSOR_ERROR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MANUAL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COOLING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LIGHTING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ENERGY_SAVING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  <a:p xmlns:a="http://schemas.openxmlformats.org/drawingml/2006/main">
            <a:pPr algn="ctr">
              <a:defRPr sz="10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NORMAL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FED6F8B-6A9E-4987-88A4-DBAEA6DA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52875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860989C-2A96-4FDC-A0A8-EF2A6D5C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147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18C16F7-CA48-45A0-A0F6-0DD7D15B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The serial telemetry exports both the final mode and the raw causes, so the dashboard can explain why the system acted.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2C81AAE-F477-4598-B274-FDCDAB30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DBB7588-2A17-4C1A-989D-5E3C9CA5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871771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354599-4B02-4BF7-AC34-18D1B8C2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8C65D3-C3FC-46E9-AB68-B9731B22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32189-1854-45E7-8D40-4B2B7355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92004-37FE-434B-8014-D55D0352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A356C-7002-44D5-9F97-8FB1D957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E1C20-0635-4376-BCB4-7A4BFEFF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BC020-CF30-4ED7-A065-F17BF516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BBF35-5F77-47A8-A47F-55296B3C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8078F4-E05E-4B2D-AC9A-57265D65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B455F-D4B6-461A-94CE-1E18E840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5B3F4-191F-43C9-8271-89E5A652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45F092-D8FD-40FF-B28A-D0DFA9B3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538A9-6D65-4CAB-B119-6C6A5D79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01A611-6183-41D4-906E-412989A6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1995C-303F-4C52-BE79-220D44A8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CD9BF0-0F55-43B9-BC9C-5329FCDD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EEF117-10F8-437D-A44C-BFCCB35E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2E8719-A938-4B36-A87B-C6B6E173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09C268-375D-4D2F-819C-F8ABF993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D3636-116A-478B-9BBA-7D06FF42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AAAAC1-EE19-4372-AEF2-2E3262BB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22676B-2DB6-45FA-912A-590B7AA9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1CF6C2-3715-4D38-B7C6-9E52095E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24AA0E-8863-4F74-BE06-7AEDAB74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F0DC57-E204-4E60-ADCC-C24E40F3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54F20C-0E76-4CCD-94B2-91467386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CAD7BF-136C-4683-8F84-CD1E5A79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117A4E-730B-411C-AC6A-E49918AD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328DF9-7748-425D-8B14-28632484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FDD0F0-F689-4072-8EA2-B3CCC930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8032C5-C50C-4FE1-9253-3B108BE9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5F7E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FDE112-251C-4636-BC78-0D961FE6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6857F5-8CF0-4CF0-A0EF-53FA7D55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SAFETY LAYER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0E2436-5706-4D1D-9251-B98CDB03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Safety Alarm is the highest-priority layer and is deliberately loud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DC609E-2C49-4171-9204-BCBF0403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The button provides a safe demo path; gas/flame sensors show the real input path without requiring smoke or fire.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A18F50-F6AA-45DB-A2E6-7F97E849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52DDC1-4ADA-416F-9ED3-8A736ED2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DADDD9-EBF2-41A2-9CBE-C17B7EE7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2381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5F7E">
                <a:alpha val="33333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C134D0-A0AD-4B78-B32C-073BB7F7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66975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11765"/>
            </a:srgbClr>
          </a:solidFill>
          <a:ln xmlns:a="http://schemas.openxmlformats.org/drawingml/2006/main" w="9525">
            <a:solidFill>
              <a:srgbClr val="FF5F7E">
                <a:alpha val="4000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CFA100B-404E-405A-A56F-2D9815C4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33650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5F7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5F7E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D370C8-DF09-4B1B-8035-C8FE2F93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47975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Three independent triggers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3DEB0F-5C3E-4982-AA9C-63F74341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09925"/>
            <a:ext cx="20383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gasValue &gt; threshold</a:t>
            </a:r>
          </a:p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flameDigital / flameAnalog</a:t>
            </a:r>
          </a:p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emergency test button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A98786D-263B-4D91-9479-12FF92A2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333625"/>
            <a:ext cx="2381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33333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922DB4E-E7FE-4190-B1CC-57776690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466975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11765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569677-1251-4106-AF5C-FE26C52E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533650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Mode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0551821-7B47-4FD9-9408-0150C0FF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847975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MODE_SAFETY_ALARM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3F47375-C714-4ED8-BCB3-67FEB755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209925"/>
            <a:ext cx="20383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Overrides energy-saving and comfort logic immediately; serial and MQTT publish a warning state.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25DA13E-4C58-42B3-B280-F44E6B46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33625"/>
            <a:ext cx="2381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33333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EF1957-2ED1-4856-A49D-6D0B8E8F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66975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EE00B1-F4BE-491F-8D46-0C2BD0D9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33650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Actuators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23EE186-E07D-4376-A9CD-57D60914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47975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Visible, audible, ventilating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C6F61A4-DDFA-4E86-9B1D-38E05E6D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09925"/>
            <a:ext cx="20383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red status light</a:t>
            </a:r>
          </a:p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intermittent buzzer</a:t>
            </a:r>
          </a:p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fan relay forced ON</a:t>
            </a:r>
          </a:p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fan PWM = 255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F9EA890-94C8-43DC-BDB3-8B904CD4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324225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34D4F8F-3B59-4CC7-B53F-996604A7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861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5F7E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A89EE39-848D-4C49-801E-6FEE133B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24225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E6CCA3-0E23-4035-AF53-DA3CDFD4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2861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CA6A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9AA6B2C-859B-4E25-948A-3DB2CD9B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33625"/>
            <a:ext cx="15240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0E18">
              <a:alpha val="80000"/>
            </a:srgbClr>
          </a:solidFill>
          <a:ln xmlns:a="http://schemas.openxmlformats.org/drawingml/2006/main" w="9525">
            <a:solidFill>
              <a:srgbClr val="FF5F7E">
                <a:alpha val="4000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2ED56E8-02A6-4C70-A24F-893CBF23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47950"/>
            <a:ext cx="1047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5F7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5F7E"/>
                </a:solidFill>
                <a:latin typeface="Aptos"/>
                <a:ea typeface="Aptos"/>
                <a:cs typeface="Aptos"/>
              </a:rPr>
              <a:t>Demo script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7AA51E-5004-494A-8C8D-68452F09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105150"/>
            <a:ext cx="10001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Press D4 button</a:t>
            </a:r>
          </a:p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watch red light</a:t>
            </a:r>
          </a:p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hear pulsed buzzer</a:t>
            </a:r>
          </a:p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fan goes high</a:t>
            </a:r>
          </a:p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Dashboard updates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CEBD851-BC3D-45B6-AA77-71B29185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34000"/>
            <a:ext cx="942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Why this matters: the project is not only energy-saving; it behaves like a building safety service with local fail-safe behavior.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8B75888-70CB-483A-83FC-45890D60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70B7C2B-281D-4651-9F63-FF1F1464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109857251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064508-B584-4CD8-AECA-5784C341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DF5AB-9513-4A9F-BEDB-7511F868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8FF587-EBAE-425C-9712-46FEF23D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9C22AE-5E3D-440C-8119-CE25894B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F7110-C873-4C30-A82C-59AB78F8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32FA2-E7E9-432D-9F88-0894ADD5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9F4F2-6F4B-4EAD-A05F-231A3F32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FC070-FE10-454E-95AF-640BAC04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42F6E-FAFF-45C3-9E77-79EC2DCA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C22E8-E006-48EE-ADE7-855DFE6D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617CB-C75B-47B6-8AFA-26C87A19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3E9170-6287-4C50-89F2-6DE724DB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1D5691-A99A-433F-9C92-15501C94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665FD3-AD35-4192-9CCD-7AC5ECAB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CF7F1-5B78-48E5-94B9-1F6DBBD2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8CF01C-3605-412C-9216-5FDFCF6B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D2C295-30B2-4B4B-9788-E71242E0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0755B1-AA1E-4A3A-9D85-FF4EFFCE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2AEEF-2DF6-4CB8-8312-5D16ED8C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B26281-C5F0-4993-A2AB-BD9119E9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C1ADDE-B521-43DE-9F00-4432348F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C8E68F-E56F-4FBA-910A-E9613E10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FD3A79-CB48-44D4-AD56-3E5F3C46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410690-3996-407F-A2E0-19F2F930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A32CE8-E0C9-403B-9D5A-2E0078C8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9787D6-F8A3-477C-BFFD-35462E2E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828BEE-E0ED-4D57-A3F7-FB22BE29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531F88-85CF-4A75-95E3-F96E2DE4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6F1C35-54AB-465C-A4B0-50AD830C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8FA304-AB8C-425A-827C-E0A38C6C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BA4A3A-1DB6-46D0-90BE-05D4C589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CF28C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E5B01A-6D03-47CF-A27A-0D9019A3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5AA51B-0678-4F7E-8D59-7E4B4351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COMFORT + ENERGY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8A8CAF-73C1-4873-B597-277AC44D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The classroom avoids waste while preserving human comfort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713B30-3537-41C0-8734-474C6214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The mixed logic is intentionally human: bright rooms suppress lamp response, occupied dark rooms light up, and fan output follows temperature trends.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B9F6B8-DE29-4C0D-938B-6DA1EFE1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E8A88-640A-4A5C-8AA3-166DEBEC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FECA0C-1127-4E06-99C1-CDB45C82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857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A25542-36E9-49B6-A3F8-8B341312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CF28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CF28C"/>
                </a:solidFill>
                <a:latin typeface="Aptos"/>
                <a:ea typeface="Aptos"/>
                <a:cs typeface="Aptos"/>
              </a:rPr>
              <a:t>Lighting logic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A5D993-0BFB-4BFA-9008-F21633C6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CF2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FDD12B-81D8-44F2-8421-19000B8B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86100"/>
            <a:ext cx="3695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If ambient light is bright enough, the lamp stays off even when PIR sees motion.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6A15FE-8775-4334-BA5E-1F8910A8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CF2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57562F-A910-4EBA-9F1C-7A32B3B6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24250"/>
            <a:ext cx="3695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If light becomes dark and occupancy is detected, the lamp turns on.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C4E348-CF36-4793-AD3F-987079A9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CF2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340335-5048-41F3-A2AC-3A2DE9EB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62400"/>
            <a:ext cx="3695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If no one is present for the timeout, the lamp goes off automatically.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C37C33-53A3-477A-8062-9F2C5532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66950"/>
            <a:ext cx="4857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5EBDDF1-D45F-4441-8ED5-D5E270B8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717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Cooling logic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FA15E5C-2E3B-4B4F-AE73-2605A211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CC6996F-69A4-4C17-B9AB-9E3BCDB6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86100"/>
            <a:ext cx="3695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Fan relay starts when temperature passes the configured start threshold.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0445B46-09AB-416D-820A-BAA904CD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62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464368-097E-4F9C-AFE4-AC7AFD75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524250"/>
            <a:ext cx="3695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Fan PWM can ramp with temperature instead of jumping directly to maximum.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92941CD-1F67-46A5-A41F-456A70C8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00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179B437-9EBA-41D3-BEF5-F57EA08A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62400"/>
            <a:ext cx="3695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Tach RPM is read by interrupt; missing tach never blocks control.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29C3011-2A24-4413-A583-6C60A791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29250"/>
            <a:ext cx="2190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26667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CFAF509-6B7E-4113-B181-9AA7BC84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6007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26-28C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C2217B-EE86-4656-B74C-29B3922B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9817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threshold band used in basic mode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67C377F-C6AF-4434-8DD8-C7338979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429250"/>
            <a:ext cx="2190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26667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B9CE31D-26B4-4E5E-A3E4-B78036CE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6007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rPr>
              <a:t>PWM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03695CB-2906-475E-92CC-6F6DF17C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9817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smooth speed control path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7BFC9D4-C53E-4CE3-BC29-47BD11E7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429250"/>
            <a:ext cx="2190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CF28C">
                <a:alpha val="26667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2AADF30-8279-48A3-80AD-967AD4F2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6007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CF28C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6CF28C"/>
                </a:solidFill>
                <a:latin typeface="Aptos Display"/>
                <a:ea typeface="Aptos Display"/>
                <a:cs typeface="Aptos Display"/>
              </a:rPr>
              <a:t>10s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A42CD2E-4E47-462B-AF5E-F829A849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9817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occupancy timeout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EA3DBEA-33AA-44AB-844D-9B71C018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429250"/>
            <a:ext cx="2190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26667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5019B5A-83BA-40B9-8DDE-1729BBC3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6007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rPr>
              <a:t>ACK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288288D-263F-4961-AF9B-5F8D18FD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9817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config changes confirmed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864615C-6574-4C4F-AAD9-FC5B69F4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1B91C5D-DC01-4417-B642-58815ED1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16379769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B0C11B-CD31-44B2-8832-328BE8F7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9A2706-48FF-4358-9C23-3B71EA5C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D813C9-8316-446D-BD8C-F83F9B73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D4720-5434-4A87-8F09-FFF7D07F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2992C-6FBB-4622-BF94-5D786DF6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981408-3CD1-4BF2-9D90-6D2AE694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26EB0C-FBB3-4A22-8B6F-632C91AB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FECA1-50D6-48E1-84E8-85D6DC9E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12055-5994-4430-BA38-45A23BD3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F85F1F-70E4-4E48-A830-0402EB12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AABEE4-188E-4A20-9325-2BBDAFE5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48003-16CD-4553-BB03-F1AD3CE8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0DCD7-2DDD-4D8C-B1E0-39F27C27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F2D8A7-D016-4F13-9988-B364EF6C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80829D-2F49-4512-8BA1-403C1C5E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C07000-C666-4C7C-9862-EB309053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1B657-A117-4BC1-8E28-E8FAEC25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2D622E-EE30-4A24-A055-21A69D8A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5DEE84-57A0-4CCC-A541-2426EEB1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63C911-DA81-4B4F-A1D5-21B644E9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A55A98-E1A9-4CD9-9785-B9D382AC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4DD49F-74BA-40AE-B939-FE130225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8EDD5B-0F97-4492-8B16-E6E0FE45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5FA9FF-6735-4D39-AA7D-B31AF48D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F21C3D-12A7-4B77-B822-0F4F4EDC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0A3AE9-C4AF-4793-9C3B-655D6A68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10DE9D-106E-42A0-8F4F-88E14BAF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90EAA5-0703-45FA-8BC3-0FF22190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67C082-795A-422D-A593-D285867D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D1219-3DFD-49E6-9745-13B80266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00D683-E7AA-4370-8BDC-1B103634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4F2B0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3475C0-C2DD-4677-9DBF-15A5A3F9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4BB783-2028-4A41-9E66-C4FA7F2FD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NETWORK LAYER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26A690-9A38-4A82-B53F-D29B4ED9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UART telemetry becomes MQTT topics, and MQTT commands become UNO actions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A14D35-91E7-4D94-ACFA-BB00DB9C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ESP32 does not control the classroom directly; it transports state and commands while UNO remains the authority.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4E2467-1323-41D6-9EBC-D51D281E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D362DC-72FB-4417-BB91-52F74983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1641B2-8C7F-4C4E-AB4A-23C6C573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495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E2A">
              <a:alpha val="80000"/>
            </a:srgbClr>
          </a:solidFill>
          <a:ln xmlns:a="http://schemas.openxmlformats.org/drawingml/2006/main" w="9525">
            <a:solidFill>
              <a:srgbClr val="74EFFF">
                <a:alpha val="33333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0557A0-FA84-43D8-ABDD-34D7DBE3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EAFF"/>
                </a:solidFill>
                <a:latin typeface="Aptos Mono"/>
                <a:ea typeface="Aptos Mono"/>
                <a:cs typeface="Aptos Mono"/>
              </a:defRPr>
            </a:pPr>
            <a:r>
              <a:rPr sz="938" b="0">
                <a:solidFill>
                  <a:srgbClr val="6FEAFF"/>
                </a:solidFill>
                <a:latin typeface="Aptos Mono"/>
                <a:ea typeface="Aptos Mono"/>
                <a:cs typeface="Aptos Mono"/>
              </a:rPr>
              <a:t>SC2,mode=SAFETY_ALARM,pir=1,light=323,dark=1,temp10=286,...,status=R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27B275-348D-48C4-B715-337C984A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8097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711A19-8E68-40FC-A45D-DA64E902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11765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E2BDDD-2AC5-4C7A-B762-FB2F519B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838575"/>
            <a:ext cx="819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UNO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0AE77F-9F19-45B8-A3FC-3EA658B0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48150"/>
            <a:ext cx="1333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SoftwareSerial A5/A4</a:t>
            </a:r>
          </a:p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9600 baud SC2 line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00CCD2-B312-46F5-BB75-0E192A3F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18097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B1B3579-8FDE-4BE2-90F1-0C3D392A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7719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1765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66D003E-595B-4A7F-8BBD-1D1F42A7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838575"/>
            <a:ext cx="819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ESP32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27ABF66-ED6F-48E9-A2FE-E266B976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48150"/>
            <a:ext cx="1333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Serial2 GPIO16/17</a:t>
            </a:r>
          </a:p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Wi-Fi + MQTT reconnect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B53079-4BF8-4ECF-A404-FCBFF332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18097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B884FF">
                <a:alpha val="4000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7EA666-56BE-4529-AB82-B372CFC8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719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FF">
              <a:alpha val="11765"/>
            </a:srgbClr>
          </a:solidFill>
          <a:ln xmlns:a="http://schemas.openxmlformats.org/drawingml/2006/main" w="9525">
            <a:solidFill>
              <a:srgbClr val="B884FF">
                <a:alpha val="4000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E6E2C10-77C4-4CAF-BDD6-17CBC46A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38575"/>
            <a:ext cx="819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B884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B884FF"/>
                </a:solidFill>
                <a:latin typeface="Aptos"/>
                <a:ea typeface="Aptos"/>
                <a:cs typeface="Aptos"/>
              </a:rPr>
              <a:t>Broker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51F23F-76C6-47AA-A580-7E4147C4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248150"/>
            <a:ext cx="1333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Mosquitto :1883</a:t>
            </a:r>
          </a:p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JSON topic fan-out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A82FE0B-638E-45E7-BA91-33908F39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62350"/>
            <a:ext cx="18097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D542385-D5B2-4A51-8841-750CA565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7719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12E82C-DE5F-4F94-A3E5-18FDAEFF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38575"/>
            <a:ext cx="819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F2BF77-C67C-4E09-9EFC-A6E13929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248150"/>
            <a:ext cx="1333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cards, charts, configs</a:t>
            </a:r>
          </a:p>
          <a:p xmlns:a="http://schemas.openxmlformats.org/drawingml/2006/main">
            <a:pPr algn="l">
              <a:defRPr sz="1013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manual + timeline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4FA0C81-32A2-402D-89CB-265CB707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31482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D4A3AE2-42D0-4CA9-9B96-B92C548A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767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CA6A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F23F9F3-5952-4E32-B9C5-735C4012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31482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2151C52-3354-45EE-9CC7-081AEB2A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767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4F2B0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7758A10-DCCC-4BA8-8956-8A817869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3148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78E3500-290A-4A4E-99AB-75F2A1AB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2767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84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07BE1CB-410B-445C-B2A6-D57B349C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42925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54F2B0">
                <a:alpha val="26667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D0C0F3E-967A-4938-9648-BBE88F7D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43550"/>
            <a:ext cx="885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Command ACK closes the loop: the dashboard applies a setting, ESP32 sends it over UART, UNO replies, and the UI shows whether it landed.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BFBB92B-FCF4-4FC2-9AF4-555CCE42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023CCBA-DFF5-45AF-8604-93E41D39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3387682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A88890-C34C-4284-81D5-78A196C9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B3F8EB-1971-4110-BEAC-C0CD259A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A65813-9844-447E-BEC6-5DF2A1D5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F2FE8-3037-4726-8C50-5F09A251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F291F-6B66-49E0-8CBB-FB0F9C92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F66CA-0C42-4D06-A411-91CC7473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C57850-BBB7-4AE2-81CE-3DC954FC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EB250-281A-45A0-B9B3-71A001E6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376D77-9E4C-465F-881C-0D94D591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4E4DC-B822-4ECA-9232-C7A3D506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39001-5B44-4E4C-9A0D-59D0A548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6719-329B-459C-8252-E19BABB8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8B4BBA-FD27-4BF2-BC69-CC87F537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52C765-A539-445F-B280-24740525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45C3C-31EC-4F53-85C5-52B9244D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61087B-CFA8-4EB8-AD8F-EB72680A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B628E8-92E1-411C-888A-FDF3F206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9D9120-B071-4B46-9083-798F7ECD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31D5E2-85CC-4149-AFC4-BC07E279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F5A5E5-ABDD-4F27-8AAB-CFD4174F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0A8E4A-97B9-4CAD-9B79-C1846595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AAD03D-AE34-4150-A48E-85BC668F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6AD30D-6F73-496F-AA43-7D5F13D9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46783E-0649-48DF-B053-EB358821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C080F8-7637-4A47-A014-68E8DD04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70F222-BE17-470F-A4EA-1966945A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BB9F2B-252A-48EC-B48D-7D3916A9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9621BC-EFFA-47B8-B357-4351E9E1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2F7D38-3D49-4F55-8258-1DBD7526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1A7BB6-B974-4D42-BB6A-DE1B49F9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2877B5-56D1-4B54-BC62-42F67EB9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A82788-AD4D-4B3A-BB08-F8A0AAF5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C11ACC-AC49-472A-8349-520E3D79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9EC846-2775-4729-969B-0B66E224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The web UI turns the lab into an operator console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644BBC-7CA9-4C90-88C4-B6E51E8F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The final interface is designed around quick situational awareness: current mode, actuator state, charts, manual override, presets, and ACK feedback.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A301FD-4E16-477B-BC31-6538AC3D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08F800-F266-447E-BC51-DCA7A5FB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9FAFD1-7417-4D5C-8705-9F3981DB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5448300" cy="3590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98"/>
            </a:srgbClr>
          </a:solidFill>
          <a:ln xmlns:a="http://schemas.openxmlformats.org/drawingml/2006/main" w="9525">
            <a:solidFill>
              <a:srgbClr val="FFFFFF">
                <a:alpha val="16863"/>
              </a:srgbClr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181fa9c114bb7"/>
          <a:srcRect xmlns:a="http://schemas.openxmlformats.org/drawingml/2006/main" l="0" t="76" r="0" b="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2057400"/>
            <a:ext cx="5334000" cy="3476625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E83B8C-F070-494A-B259-3C88E70F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00250"/>
            <a:ext cx="35909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98"/>
            </a:srgbClr>
          </a:solidFill>
          <a:ln xmlns:a="http://schemas.openxmlformats.org/drawingml/2006/main" w="9525">
            <a:solidFill>
              <a:srgbClr val="FFFFFF">
                <a:alpha val="16863"/>
              </a:srgbClr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b1a073a9324b40"/>
          <a:srcRect xmlns:a="http://schemas.openxmlformats.org/drawingml/2006/main" l="160" t="0" r="16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2057400"/>
            <a:ext cx="3476625" cy="1695450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C6C54F-A99B-4897-80FC-00AE868F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76450"/>
            <a:ext cx="1371600" cy="2543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98"/>
            </a:srgbClr>
          </a:solidFill>
          <a:ln xmlns:a="http://schemas.openxmlformats.org/drawingml/2006/main" w="9525">
            <a:solidFill>
              <a:srgbClr val="FFFFFF">
                <a:alpha val="16863"/>
              </a:srgbClr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2fc4fd6984a04"/>
          <a:srcRect xmlns:a="http://schemas.openxmlformats.org/drawingml/2006/main" l="226" t="0" r="22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15550" y="2133600"/>
            <a:ext cx="1257300" cy="2428875"/>
          </a:xfrm>
          <a:prstGeom xmlns:a="http://schemas.openxmlformats.org/drawingml/2006/main" prst="rect">
            <a:avLst/>
          </a:prstGeom>
        </p:spPr>
      </p:pic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6B054C-A203-436F-B10A-9F212960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8600"/>
            <a:ext cx="3476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74EFFF">
                <a:alpha val="33333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61D8B7-4EA0-4391-9359-7242787F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481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8BEA71C-F4CE-4682-8C39-F4F5CDE1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314825"/>
            <a:ext cx="1200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OPERATOR LOOP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4B35EDC-044D-4FC9-924F-92143165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291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Observe telemetry -&gt; change policy -&gt; receive ACK -&gt; watch hardware respond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BE82A47-3852-4F5A-9EEC-B97242AC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57800"/>
            <a:ext cx="1600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26667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AD07A3-4E3F-4559-89E7-EB9ABEFC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429250"/>
            <a:ext cx="125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rPr>
              <a:t>Auto / Manual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91EE39-0BBD-437B-9EF3-B67813F9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8102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simplified virtual switch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342BAC-6BFA-4E8E-8881-AA9424A6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257800"/>
            <a:ext cx="1600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26667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3A4C90B-83AE-4EDA-B424-38248907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429250"/>
            <a:ext cx="125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rPr>
              <a:t>Presets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AB4A7D6-2873-4E02-874E-652A6BA9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8102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scenes and custom strategy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D40C247-8470-4C99-BCF5-02CC7A5F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57800"/>
            <a:ext cx="1600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26667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703BC9A-D3F5-4E70-A643-E8385AD4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429250"/>
            <a:ext cx="125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Mobile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DE70205-FE55-4434-ADF1-ECE30B98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8102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same controls on LAN phone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7032FB2-C3FE-4132-A21F-DF0C0B78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C92DBC-4A79-49EF-B4E6-FC7487B7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Responsive dashboard screenshot captured from the local service.</a:t>
            </a:r>
          </a:p>
        </p:txBody>
      </p:sp>
    </p:spTree>
    <p:extLst>
      <p:ext uri="{BB962C8B-B14F-4D97-AF65-F5344CB8AC3E}">
        <p14:creationId xmlns:p14="http://schemas.microsoft.com/office/powerpoint/2010/main" val="4048511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C3723E-1475-46F1-ADA0-C712F6B3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928825-F43D-4801-8DE3-8B9D87AF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9FA7F2-90AD-4EEE-BF60-88186E65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3B0EE-547F-424B-A4A4-7C7D782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1DE800-5294-4DDA-9B19-1EF487DD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77A907-C7B9-44BE-B049-3C70D78F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0A55B-C08E-45A9-A41A-F60D5B71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C25036-3B45-485E-B9B9-F545BCF1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5FB17-4B28-4D6F-A9BB-26584CDA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3B8019-414D-426E-A860-19BAA7BC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B6E82A-615B-4B8A-AA96-52298FD8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42CD57-BC2E-4149-A82D-3AA338C0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E62100-57BC-40AF-9F59-6832B399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7F9E94-73CC-4FC8-999D-E0CEE8C2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495572-FD82-4590-B5E1-82ABB065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5D286-CC34-4A30-B14B-DA710202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F757DD-5870-4527-B943-57E4579F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5E0800-4E7C-4859-A95C-A3860A9A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4C065A-DB5B-497D-94F3-3D6ACB5C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254947-EA91-468F-94DC-9E9A0DE5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A4033C-E381-4717-8100-CDB4BCC6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5F3F86-89C8-4D03-B9E1-BA6AC3AF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AC6664-53D3-4E70-858B-9AB7CA4A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D69530-9F2B-4420-B7E1-3EFB5B1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8AA93B-4B24-4DEF-8919-7F6A2BEA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8C4A94-F547-420A-B45E-A6C1512A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3A33B0-55EF-466F-B9B4-D7BB4C08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C98A51-988D-449D-A03C-6A460CEB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9C9458-5C44-4DEC-9DED-ADBFE673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FCDA1D-AC1A-4D87-9339-845696FE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A63CF6-FC99-4EB0-A775-211BC05F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CA6A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06F927-E034-4876-ADCC-BCAC75E6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228D26-D3FC-4DD4-8847-60503ED6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TELEMETRY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FD4D9D-B438-4C2E-881D-2B237A26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The project records enough history to explain behavior, not just show live values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3C66D2-E609-465C-98FD-89556F21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The current sample set spans 9,764 readings and supports mode distribution, temperature/fan response and safety-event analysis.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DB16E3-D31A-4229-B61F-8DC5FAF3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7FA292-529A-4BD5-AB43-9DBC49A8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72E470-4CCF-4E84-81F8-11A1502D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3054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98"/>
            </a:srgbClr>
          </a:solidFill>
          <a:ln xmlns:a="http://schemas.openxmlformats.org/drawingml/2006/main" w="9525">
            <a:solidFill>
              <a:srgbClr val="FFFFFF">
                <a:alpha val="16863"/>
              </a:srgbClr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fa0c508754e7e"/>
          <a:stretch xmlns:a="http://schemas.openxmlformats.org/drawingml/2006/main"/>
        </p:blipFill>
        <p:spPr>
          <a:xfrm xmlns:a="http://schemas.openxmlformats.org/drawingml/2006/main">
            <a:off x="666750" y="2639970"/>
            <a:ext cx="5191125" cy="2244811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7B5FB0-CADA-4254-81ED-1388B988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33600"/>
            <a:ext cx="44005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98"/>
            </a:srgbClr>
          </a:solidFill>
          <a:ln xmlns:a="http://schemas.openxmlformats.org/drawingml/2006/main" w="9525">
            <a:solidFill>
              <a:srgbClr val="FFFFFF">
                <a:alpha val="16863"/>
              </a:srgbClr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82e1c6b50467f"/>
          <a:stretch xmlns:a="http://schemas.openxmlformats.org/drawingml/2006/main"/>
        </p:blipFill>
        <p:spPr>
          <a:xfrm xmlns:a="http://schemas.openxmlformats.org/drawingml/2006/main">
            <a:off x="6334125" y="2571918"/>
            <a:ext cx="4286250" cy="2380913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68C664-5E93-4709-97F5-9A97717B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9750"/>
            <a:ext cx="847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606E4A-852E-4BE1-A654-362F547B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734050"/>
            <a:ext cx="800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Evidence highlights: avg temp 28.3C, fan duty 31.5%, occupancy 17.6%, lamp duty 17.3%, safety events 5.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7036EB-0821-4847-9815-356A6570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309B5E-9CF7-4411-9B06-49E26D0D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30675794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1A1A3B-4969-45FB-9F97-03EE4D2B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8515A-F31C-433D-BD53-953B08A8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C19E6-B4F7-43F8-AA94-105E0394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5CCAB-1029-4B7F-A855-09C8744A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1B3C1-529C-46B8-916A-1128C04D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EADD3-D5D6-4FC7-9200-839A753E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716E86-349A-4673-9138-88D13CD8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2BC51-C929-4C53-A8B4-88123211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4A7FDA-C16A-46E1-8259-DAF6D30E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F598AE-6138-49E3-A75F-74CD71ED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CC7C4-8B08-4C15-8AC6-00D36AD6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E4628-9BD8-4166-AA1A-2490F5AC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3D420-9587-4A53-BF5B-B649B80C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61BE89-49ED-40D5-8486-6B6C6FBE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8CA27B-1C82-40A1-B32E-CDF0A8EF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3124F7-1665-4B5E-A401-10E98C1A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5D7223-2A17-4DD9-A452-228CD04A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9DB5F5-90A1-4120-BBBB-F91AE49A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88B062-B65C-444B-8269-3E125D42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7CB58F-6A42-418E-8625-2C26F615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80DD62-71F4-476D-8570-DD71AA0A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619E9A-0931-48CE-9E33-21F7E062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03C334-73EF-4D6A-B63E-1B3AF29E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28CBF6-3165-4DFB-B201-D502BE98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C1FCA6-2471-4E01-AE1D-16690293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E66D5E-E8C9-43D2-BB03-CC0AA98E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A0837C-C934-4E8D-B39E-4745CAEC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0E96FD-2315-4F4F-A577-633C30D3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AD055E-7753-4046-9A7A-16DECA69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728FC5-8C6B-4832-832A-68A3E9CF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C6AA1C-DCEB-4BC9-9555-E3ECA10A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57FF4A-9FAA-40FC-85F7-31E86553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F9E93D-56AC-4382-A595-814F9A2C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MEASURED COMPLEXITY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A8234A-26DC-49B1-8B4D-5F272518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The demo is complex because the subsystems interact under priority control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C029BC-8EE0-4571-AB2D-94C454B4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The strongest evidence is not the number of parts; it is that hardware, network, UI, persistence, and AI commands all close the control loop.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D52A46-39E6-4F6E-88F8-12D7F4F3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38E400-1A52-4F9D-98FF-9B73EFA7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6A8F15-8324-4D28-A308-D6C0E660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50673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98"/>
            </a:srgbClr>
          </a:solidFill>
          <a:ln xmlns:a="http://schemas.openxmlformats.org/drawingml/2006/main" w="9525">
            <a:solidFill>
              <a:srgbClr val="FFFFFF">
                <a:alpha val="16863"/>
              </a:srgbClr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9311c68aa4c75"/>
          <a:stretch xmlns:a="http://schemas.openxmlformats.org/drawingml/2006/main"/>
        </p:blipFill>
        <p:spPr>
          <a:xfrm xmlns:a="http://schemas.openxmlformats.org/drawingml/2006/main">
            <a:off x="685800" y="2378183"/>
            <a:ext cx="4953000" cy="2749335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53139C8-B4F7-4A7F-A126-539B3FD7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2190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26667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B9A537-9B29-475F-861F-6E3C0E76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9,764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85A4AA-5B15-4171-9FB5-F5885B8E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337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telemetry samples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5CAF663-6062-4663-A031-DFA941F8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81250"/>
            <a:ext cx="2190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26667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E84CCB-4D33-4627-BCFB-2EBF6782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527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54F2B0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311F6C-D867-4FB0-A004-74FB93BD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9337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dashboard control families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E7CC97-360B-48DF-9DF7-7A13C8C1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2190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26667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4B1DAA0-D38B-4BF2-8377-3F0ACF8A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10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CA6A"/>
                </a:solidFill>
                <a:latin typeface="Aptos Display"/>
                <a:ea typeface="Aptos Display"/>
                <a:cs typeface="Aptos Display"/>
              </a:rPr>
              <a:t>12+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D80B54-7085-4B69-B188-E1786194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910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MQTT topics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2EB12F-CC70-404E-B370-277C1329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638550"/>
            <a:ext cx="2190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B884FF">
                <a:alpha val="26667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8376455-035F-490E-9109-452E48C0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810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884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884FF"/>
                </a:solidFill>
                <a:latin typeface="Aptos Display"/>
                <a:ea typeface="Aptos Display"/>
                <a:cs typeface="Aptos Display"/>
              </a:rPr>
              <a:t>2-way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7C10835-F43E-4E0D-A7FA-3E707E23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1910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UART command + 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8D7E21-7776-455C-9E7B-1733EAA5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95850"/>
            <a:ext cx="47053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5F7E">
                <a:alpha val="26667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F8EB1E9-A4BF-42AD-BCE3-FAF9E78E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4362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5F7E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5F7E"/>
                </a:solidFill>
                <a:latin typeface="Aptos Display"/>
                <a:ea typeface="Aptos Display"/>
                <a:cs typeface="Aptos Display"/>
              </a:rPr>
              <a:t>Local-first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BA61A70-6738-45FB-921F-2470E268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48300"/>
            <a:ext cx="4362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UNO safety independent of cloud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999CC70-141E-4536-9F10-A378FFB9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C7A52A9-6D2A-4BBE-84D7-5DD210B8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14204986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B3F2EC-E546-42DC-8D9B-CDF197B9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E82ED9-0A9E-4AE6-A975-0CA360D8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C85D5A-20A9-47C6-BE13-4298F7F2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064D4-F225-45ED-AF44-4F559EA4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103830-4FF8-47A5-805D-F2B14B38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0E09CD-BFF8-4EBA-8533-D63380AA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F8CA4A-62F3-4823-AD6A-1B3BE8D9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4C23E-7C95-41A8-BA58-3E28F32B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EE075-1490-4204-9D43-8774DB4B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F7736-47CF-425E-95A9-02C922F6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12375A-52A6-41F2-9D29-FF08CDBA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B6CCEB-12C1-4432-B39E-31E2E905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035450-6E78-4D94-8F3F-BB9EEB34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FCF030-9895-4200-9D6D-52711E4D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D5258E-E703-4FEC-A40F-854C3D1F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83DD32-9062-4DA2-8987-3ECA68F8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1DEF95-2685-48EB-A3AD-86648739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60285F-C56C-422B-951D-A6063950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D58D38-804B-41C1-A6AA-79422435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76AABE-F868-4591-9834-066EE285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896C91-A928-4285-9345-DABA32F4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36B81C-0D43-48B2-A750-2FD90231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511B76-E711-458F-B25B-480F8E6C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D8536D-8392-4F76-95D7-B371B788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B98624-66FA-45F7-84FD-F5B33070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9C3188-F4BF-4891-A43F-F1163C84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FB047B-12C2-4968-9D04-6572A707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84F45F-8BE2-493A-988B-3204F597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A8179B-A4D0-46C1-AF97-03CFADAE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0C220B-10A7-4791-8034-80E6AABA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552F5A-C895-47CF-8AE5-5943136A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4B8DFF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F4C1DC-3F48-46CD-9EC6-2190F5B1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F5F83A-B618-44C8-98BA-D76AB94F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INTELLIGENCE LAYER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9A0CCF-AA96-4537-9457-81CE9ACF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AI is useful here because it becomes structured operations, not decoration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0C3DAA-5EDB-4686-A4A0-21E26CB9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Qwen planning, timeline scheduling, voice input and telemetry collection all map to real classroom operations.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D4AA6A-F2FE-4CC9-977D-F9C2AA9D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2FBE63-1AED-48DD-953B-076BAC19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FEF623-975C-4F49-90FB-CD69E5FB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42100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98"/>
            </a:srgbClr>
          </a:solidFill>
          <a:ln xmlns:a="http://schemas.openxmlformats.org/drawingml/2006/main" w="9525">
            <a:solidFill>
              <a:srgbClr val="FFFFFF">
                <a:alpha val="16863"/>
              </a:srgbClr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d11e4421647c3"/>
          <a:stretch xmlns:a="http://schemas.openxmlformats.org/drawingml/2006/main"/>
        </p:blipFill>
        <p:spPr>
          <a:xfrm xmlns:a="http://schemas.openxmlformats.org/drawingml/2006/main">
            <a:off x="666750" y="2724216"/>
            <a:ext cx="4095750" cy="2076318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8DAD6D-9BAF-4679-A87E-48450477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1809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3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EB435C-BD9E-4D7C-8208-5D3204B3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3241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B7C17A2-A2DE-4C5E-9EDF-4223CBCC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907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27B101C-3795-4637-9CB5-6A5A2A79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051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Microphone input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8F6F34-4F7B-4862-B0A9-B4C6D85C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67050"/>
            <a:ext cx="14668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Browser captures speech from any local-network device with user permission.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A6BA3A-5E88-4227-910C-FCFDBA9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90750"/>
            <a:ext cx="1809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33333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8B1BFD-D4B1-40B3-9130-E69A4D10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241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1765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484310-5F08-4656-9D36-7397120B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907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STT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C792246-C56F-418E-8C20-2043631B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051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faster-whisper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35DBFB-DBE2-444B-BE69-CF0705ED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67050"/>
            <a:ext cx="14668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Audio is converted to text locally for command planning.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6D522FA-D481-4029-B731-F8913440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90750"/>
            <a:ext cx="1809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B884FF">
                <a:alpha val="33333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BE320A6-CA3C-4841-BC76-32A6F028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3241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FF">
              <a:alpha val="11765"/>
            </a:srgbClr>
          </a:solidFill>
          <a:ln xmlns:a="http://schemas.openxmlformats.org/drawingml/2006/main" w="9525">
            <a:solidFill>
              <a:srgbClr val="B884FF">
                <a:alpha val="4000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5A4D513-E5CE-406C-B23E-4DDF7726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3907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B884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B884FF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BDC1524-591B-400D-A532-EE124DCD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7051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Qwen structured task plan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5C1E0C0-7DF3-4022-A705-EB845067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67050"/>
            <a:ext cx="14668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Natural language becomes ordered device actions and timed steps.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DEEC684-91D5-4FDF-9193-0F79BACF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9908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D5405FA-8506-4826-B3A6-6900C8BD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527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7EE80AB-AAD2-4877-B647-68C83D8B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9908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C7FA5B2-2877-4EEA-B17B-F23792A0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527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4F2B0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29FD03D-1AE5-4DDB-9334-9D8DE107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719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CA6A">
                <a:alpha val="33333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FDE7F3-DBB6-49B7-9CB3-9FC5A8E3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3053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11765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06C46FB-335C-442E-BC7A-92E895D0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719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Timeline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6E4FF02-31E0-4F06-B39A-7F623A79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68630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Delayed actions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A061C77-0862-424F-8C36-FDE78077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0482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Example: in three minutes switch to manual mode, set fan PWM, then clear completed timeline tasks automatically.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BFF58B1-E545-4D8E-BCCA-12ED5AAD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719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5F7E">
                <a:alpha val="33333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EF9BD39-C014-442C-BA4C-9646C2BC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053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11765"/>
            </a:srgbClr>
          </a:solidFill>
          <a:ln xmlns:a="http://schemas.openxmlformats.org/drawingml/2006/main" w="9525">
            <a:solidFill>
              <a:srgbClr val="FF5F7E">
                <a:alpha val="4000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E36FCA8-619D-49F1-AA50-931E3FD7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3719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5F7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5F7E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0BA3C6D-E5E8-449B-92B3-E4878E4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68630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Preference data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8515C40-13FF-47EE-AF8B-59C3E797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0482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Data collection captures user choices, comfort patterns and manual overrides for future strategy recommendation.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8C6AA65-3716-43B6-BBB4-C6F7541C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24B0E82-736F-41D4-BC58-18AD322A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37433641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079388-3105-4A95-8B45-E1AEEE82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65B66-97AC-4577-9CC1-50BE5E80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54F90-47EC-44B5-8A20-2973E510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9B2AA-D34D-41F9-83CD-BD0AB702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809BD-DB10-44F0-AD6B-32D50907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11A62-5E05-4B1B-81EA-392DB870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DC4C2-EC10-45A7-8EE1-54675881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2DF781-35C9-4F3A-80B9-DE9BFC40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984676-9A2E-47E0-A151-36DB4B1C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A1F29E-4134-434B-94C1-0AFCAC6C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FD1694-C4BA-4095-8655-8CC2127F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14882-5A57-4F72-B3B1-F84021A8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F24CC-BB0F-4038-A3E0-3EB5014E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B2DF7C-3836-42A0-B823-10FA7D7C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8DF542-A752-493D-B851-E01D66B9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2CAB78-510A-44EB-9D8D-FB368760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62977-4F85-4086-BA43-9B63FE75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04A2FB-7785-4EA6-B54D-C2014F4C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F091A5-F9DD-467A-9B3A-6442D097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B6FA5B-37CD-4880-BA43-35130334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DEF074-B370-47DD-A0C2-34725678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E2D1D0-EB27-41E0-A80F-655C1107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8618BB-8D5D-4075-B479-A35BC87D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13F06F-BDB6-4411-A4B7-63748AE5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051B33-A0B9-46B8-BC70-628E06E4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6D1A1B-1153-46FC-A703-ECA583B1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C403FD-8EE3-499F-A582-B1D6844F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445531-BC35-4BCF-AEF0-5E6DC498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584477-18B8-430B-BC7E-19C74EE7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BB177F-7BD5-443B-8309-059EA49C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A0A6A9-77F5-437C-9F00-04A735AE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4F2B0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828E0C-DD2C-4D25-9435-C150AFEA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1AA0B4-5650-4265-8FB7-965D6A5D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SECURITY, PRIVACY &amp; 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B21F02-97C6-4579-9A49-60BE0F73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The project is demo-friendly but still explains operational risk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7BD616-0F51-4418-B4F7-D9F0DAC4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The strongest story: the high-risk control loop is local, while network and AI features add convenience, evidence, and operation.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5773B2-4895-4BFA-A951-1F6927FE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C34440-5557-476D-A3E6-470E07B4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90F49E-F9E7-4FDC-9707-E92D0DC5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38375"/>
            <a:ext cx="2952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5F7E">
                <a:alpha val="4000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9CD6A8-BE96-4038-81C8-1E98BF17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5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5F7E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9E11C9-549E-4DBF-A2B7-EB463473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A5D18E4-BD29-4CE9-88AA-9229C9DD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86100"/>
            <a:ext cx="1981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Safety alarm is on UNO.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0AB12C-F376-4E7A-BBCE-407BBC6A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62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1EA7D5-B8D5-4BB6-9552-D331A4A9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24250"/>
            <a:ext cx="1981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No network dependency for buzzer, red light or fan.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8E526D-98A2-4F42-9D3F-8630C43E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94BA21-FD7A-4656-936B-BE102CA5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62400"/>
            <a:ext cx="1981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Manual relay override still uses validated commands.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7A6332-1950-4885-ABD6-C0027FAA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38375"/>
            <a:ext cx="2952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74EFFF">
                <a:alpha val="4000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E1C808-FD64-4308-A02E-AF1A04DE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52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Privacy boundary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349EF84-CCE1-4D1B-9E1D-72E724DD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5EFCCE-13F5-44A0-802E-B6B233C8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86100"/>
            <a:ext cx="1981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Microphone requires browser permission.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290A01C-A2A2-43AA-AEBE-9CE39128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62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130CA4D-8C91-45CB-A35E-83B5E4E9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524250"/>
            <a:ext cx="1981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Audio is only used after button action.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62D6FF-B9E6-44BD-90EB-93E07208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000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CD4E41D-DDC2-45B9-B785-F0EB3E51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962400"/>
            <a:ext cx="1981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Secrets are stored outside tracked code.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2713D37-0085-4349-9B03-58973295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38375"/>
            <a:ext cx="2952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C6443B2-BCA5-42C9-992C-80118725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52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Operations boundary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3B05555-F653-41A0-9DAA-BFFA0735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F2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04ABEC8-FC1C-4E0F-ADA0-B5BAB76C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86100"/>
            <a:ext cx="1981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MQTT offline status published.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17E5310-6663-4718-9976-5B627F56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562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F2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D123760-FC5B-4237-8517-160038E8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24250"/>
            <a:ext cx="1981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Dashboard shows ACK and logs.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BF322F6-420E-42AB-94C6-94ADD1E9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000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F2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4284F2-D5C9-47A4-9051-1AB0DFF0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62400"/>
            <a:ext cx="1981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Self-check catches missing files and weak deliverables.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1D036D-6A3D-49C6-8D7F-B9860893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53100"/>
            <a:ext cx="895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A6A">
              <a:alpha val="13333"/>
            </a:srgbClr>
          </a:solidFill>
          <a:ln xmlns:a="http://schemas.openxmlformats.org/drawingml/2006/main" w="9525">
            <a:solidFill>
              <a:srgbClr val="FFCA6A">
                <a:alpha val="4000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A1D0E03-C0DF-4EE5-B071-05396471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848350"/>
            <a:ext cx="872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C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CA6A"/>
                </a:solidFill>
                <a:latin typeface="Aptos"/>
                <a:ea typeface="Aptos"/>
                <a:cs typeface="Aptos"/>
              </a:rPr>
              <a:t>Future production hardening: authenticated MQTT, TLS, enclosure, fuse, isolation and power filtering.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52A06C3-7B11-43DA-B3EE-49DDB972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B268AB4-AFB7-4C6C-81D7-F117EAB3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104269413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48B15A-654C-4FC7-AD6B-104E3740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1964A7-64B0-4331-A02F-C7A53543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19D8BE-FDA9-482F-92AE-D1608BA8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F08E9D-1AC7-4A4B-8F61-15F45C3F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18D05A-C831-4F50-B7B4-1CFA5F4E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C2CFF-F228-4FA2-998F-221CF577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728A6-AB98-4E19-9D59-43843087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4DFED-5CA8-4FC9-BD56-BB16FE2D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26706A-DB21-40DE-AB07-FEDBA224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1DF01A-5F8F-46E5-8F87-11574C06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9CEA5-2C65-40EB-981F-FBA09B44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24F654-4367-4DEE-94FC-2F33C267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157EB-DE60-4EC7-8E7B-5EB8368F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85C373-17A1-43FA-9898-5A3A476D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380EE9-D6B7-4753-A3DD-B0DD0D5E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56DB9-3498-423B-9B8F-C2A5B861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AA696-4906-4F37-818D-0406F216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A8DFFC-C323-4EE8-9725-C0D805A3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07194D-BFF7-41B4-AE01-909F44B3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A363D5-1EB3-4ED1-94BE-6B8AFFFD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1BBBAC-3F9C-4726-8832-0EB5899F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4613A4-170B-42EA-9A2F-B7F287C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D13015-27EF-43D8-BB71-4E940901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067009-590E-4D92-BD43-E78C04CA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BE350B-C24D-4689-80A9-054AFA93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B11C85-3294-48B1-9878-3CB2840D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60562A-42FD-435B-8039-16CBDED5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E397B5-6A47-4A8B-AE87-AE24EDFA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3FB01C-FEAF-49E4-A3AB-CD1EC0B8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8A8B9D-3493-4A20-8A32-ECE0FAE3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8BECEA-B99C-4AA0-A73B-D0C6E84F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77780F-561D-4981-B5C0-DDD85D44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22FABC-F622-4812-99F9-94005D2F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DEMO CHOREOGRAPHY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86D620-0064-4DCF-A5F0-0DD66EE0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Show the strongest layers first, then the advanced layers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331931-030E-48C3-85D0-FA30C610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This prevents the presentation from sounding like a dashboard demo before the audience understands the architecture.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18A3EA-CA7D-4E39-8F58-439440CC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EA0840-8255-4E55-9796-586F6D5B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266CAA-9ACC-417A-BB0C-0648A418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FF5F7E">
                <a:alpha val="33333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59A27C-BF3B-49E4-92C7-8DE2EE45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11765"/>
            </a:srgbClr>
          </a:solidFill>
          <a:ln xmlns:a="http://schemas.openxmlformats.org/drawingml/2006/main" w="9525">
            <a:solidFill>
              <a:srgbClr val="FF5F7E">
                <a:alpha val="4000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0AF960-E685-4421-B10F-18A3CE9C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812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5F7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5F7E"/>
                </a:solidFill>
                <a:latin typeface="Aptos"/>
                <a:ea typeface="Aptos"/>
                <a:cs typeface="Aptos"/>
              </a:rPr>
              <a:t>P1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03D8B4-4358-4373-82BB-45412CF9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1C6DF1-6F85-4960-9189-934B3512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press emergency button; red light, pulsed buzzer, fan high, dashboard alarm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00412D-E0CE-4B6A-A983-0DE98B24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1947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F7E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6FBAC9-B3D5-453D-9464-430E4D4A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813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5F7E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99E0AD-6BA8-410F-8FD1-58AB1977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81250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FEAFF">
                <a:alpha val="33333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91BA3B-6545-459E-9838-9E73CCFA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146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D6B48A-C146-45C8-B866-53DC8FA2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812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P2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0C4C2FE-E3FA-4CFB-8F5C-7EA0D25F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956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Edge architecture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54E52E-6FB0-4DF0-A0A9-D7A16A65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explain UNO as local controller and ESP32 as gateway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4A3ED6A-F5CD-49F5-B93E-E306B070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1947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5CE730-09D9-49CB-AB4C-938CB688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3813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FEAFF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7A2FFF-096A-4837-8CA5-58DBA742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81250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6CF28C">
                <a:alpha val="3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4EF0833-73C2-40D9-9B12-EA2CA6DE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146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F28C">
              <a:alpha val="11765"/>
            </a:srgbClr>
          </a:solidFill>
          <a:ln xmlns:a="http://schemas.openxmlformats.org/drawingml/2006/main" w="9525">
            <a:solidFill>
              <a:srgbClr val="6CF28C">
                <a:alpha val="4000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5C8C6-0C4C-4E3E-864E-9D90A90C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5812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CF28C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CF28C"/>
                </a:solidFill>
                <a:latin typeface="Aptos"/>
                <a:ea typeface="Aptos"/>
                <a:cs typeface="Aptos"/>
              </a:rPr>
              <a:t>P3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07A5FFC-04DB-4897-AFC2-B2F0A9AF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8956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Energy logic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EF8B509-D975-40C2-9EF1-EEC1759C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2575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cover PIR + light + temperature with LED and fan behavior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26FD630-BC17-4B18-8ACE-FE253390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1947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F28C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DBA2F24-366A-43E4-9BD0-10A8B87A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813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CF28C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0A0FDFB-D2B6-4884-BEC2-854898A4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81250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33333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282868-5401-44E6-9B8B-86A24DDC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146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1765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91FAC57-BABE-4C5B-A16D-60FD7295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812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P4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B67AB80-EF9C-441A-9FDA-1420C740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956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Network + ACK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4AA2719-A934-430A-A757-4448B513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2575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show MQTT topics, two-way command, config persistence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FA28BA-2F7A-465D-9590-DC4F20DB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1947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BDDB942-0919-4B0D-9AA6-9B72739F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3813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4F2B0">
              <a:alpha val="6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D732FC-D593-4171-B061-00304AFE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381250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B884FF">
                <a:alpha val="33333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11E43BC-F070-476A-9816-E76EF60B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146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FF">
              <a:alpha val="11765"/>
            </a:srgbClr>
          </a:solidFill>
          <a:ln xmlns:a="http://schemas.openxmlformats.org/drawingml/2006/main" w="9525">
            <a:solidFill>
              <a:srgbClr val="B884FF">
                <a:alpha val="4000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2C5AF53-B317-4E47-BA0A-9346203C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812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B884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B884FF"/>
                </a:solidFill>
                <a:latin typeface="Aptos"/>
                <a:ea typeface="Aptos"/>
                <a:cs typeface="Aptos"/>
              </a:rPr>
              <a:t>P5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4F4E136-47AB-44E4-ACA5-CAE7F88D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956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Dashboard + AI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BBD38EA-71BD-4BD5-AA12-1063AB84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2575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show charts, presets, voice/Qwen timeline and auto-clear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65A0879-F379-4DB6-9D47-EC211621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23875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6667"/>
            </a:srgbClr>
          </a:solidFill>
          <a:ln xmlns:a="http://schemas.openxmlformats.org/drawingml/2006/main" w="9525">
            <a:solidFill>
              <a:srgbClr val="74EFFF">
                <a:alpha val="33333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40CC0FA-11AC-4FDB-9500-A2663D2A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29250"/>
            <a:ext cx="866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Group briefing rule: do not start with AI. Start with safety + edge control, because that is where the real engineering credibility lives.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B7DACC9-793E-42C8-9246-FEA0D1C2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2D6448-EA70-43C5-9CB4-7D6B263F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Smart Classroom IoT104TC demonstration</a:t>
            </a:r>
          </a:p>
        </p:txBody>
      </p:sp>
    </p:spTree>
    <p:extLst>
      <p:ext uri="{BB962C8B-B14F-4D97-AF65-F5344CB8AC3E}">
        <p14:creationId xmlns:p14="http://schemas.microsoft.com/office/powerpoint/2010/main" val="207509187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50B5B4-0E74-49DD-99EC-2E28795B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B55782-8E8D-4341-84D0-003F8BCB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6"/>
              </a:gs>
              <a:gs pos="60000">
                <a:srgbClr val="081925"/>
              </a:gs>
              <a:gs pos="100000">
                <a:srgbClr val="102033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4901D-7875-45BC-B9CC-139E36A5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6C4A2-21E2-4CB3-9C20-50C0B05E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8CD66-2561-4244-A833-417A562F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9E72E7-469B-407D-961F-C3144E3E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0220C8-C4EA-41D4-B071-DF232C3F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E7C6D-23EA-4106-B82B-68C81923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9D5B2-7EDA-470A-B6C3-05749EFD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FD4831-B2C2-4560-89ED-A628C68C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A07446-AFD2-4E39-9FF5-9B7C3A73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392AE3-B1E0-45E5-BDF3-3E5C71D8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DF3821-7ED0-4970-9E4D-0AC1B1B2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5771BB-740F-4839-AAB4-87F9F60D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622AFC-E8AA-4DE2-81A2-18FFC544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F8BAD-4567-4633-8D43-736F0991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AEF57A-A02A-48B3-8F3B-D13A0F5A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AECC4B-944E-4092-A0E4-331CBA85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446A4D-A78F-4E68-B676-9B89D740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D7B5A6-AD20-4508-922B-FB057380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082A62-B851-489C-8EF5-EFADD64C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CA0606-C5BF-4B6E-B5CF-4DD8D298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71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7F1711-98D9-4B12-9394-6A4CCEE3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959799-A569-40C5-91A9-C6796AA2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8DCEE7-493D-453C-9173-F2CFBF13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286CFF-BB58-4200-A281-CBA32D78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14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291A8E-32F2-4046-BF85-92BB88B9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006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5BE523-EED4-4299-BC10-F053183B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5B6468-9BC1-4344-A57E-39BAE3B3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722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1BDCE6-BF25-4CEE-AA8F-9D39DCED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0738BD-37F8-4D05-ACB7-98D55A29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8572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252A02-5C3B-435A-9FCB-AC441B4B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19250" y="4381500"/>
            <a:ext cx="4953000" cy="4953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884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BD8456-A423-421A-833A-E0CAEA8D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REFERENCES + SELF-CHECK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A9BE93-FBC0-4B1B-A9B5-BD58D70C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790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FBFF"/>
                </a:solidFill>
                <a:latin typeface="Aptos Display"/>
                <a:ea typeface="Aptos Display"/>
                <a:cs typeface="Aptos Display"/>
              </a:rPr>
              <a:t>The final package is built to be inspected, rebuilt and demonstrated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37C012-2B40-4D93-84D3-ADD05C75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C4D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9C4D6"/>
                </a:solidFill>
                <a:latin typeface="Aptos"/>
                <a:ea typeface="Aptos"/>
                <a:cs typeface="Aptos"/>
              </a:rPr>
              <a:t>References are included for hardware, UART, MQTT and sensor assumptions; a local self-check script validates the delivery before presentation.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4DC702-8045-4DEE-BC68-C5A45E10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195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EA2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B872D1-81C7-4822-B3EF-BF7FEEC61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B9502F-4049-4DC1-8AF2-4A358E5D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50006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74EFFF">
                <a:alpha val="33333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906F93-2D79-4EEE-B57A-499B592D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574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B0DAA2-5E01-4BFF-8648-2F097366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24125"/>
            <a:ext cx="10096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REFERENCES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0F76B8-9B97-4247-A2A0-5A2786BE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A861C5B-3B60-4D1E-85D2-94180A01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09900"/>
            <a:ext cx="3886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Arduino UNO R3 official documentation: docs.arduino.cc/hardware/uno-rev3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E0477F-A3E5-4B77-86A8-C43FFC05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9CC043-0F6A-488E-B916-DD082E4D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3886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Espressif Arduino-ESP32 Serial/UART documentation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D91C1F-5A6A-4DA9-8491-EE15969D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DD87F4-C66E-4B5B-977A-422554FE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86200"/>
            <a:ext cx="3886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Eclipse Mosquitto documentation for broker/listener configuration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8F7DD0-9EF1-44FB-AEB0-2D789815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E94EB64-0DD1-49F2-8356-5100451A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24350"/>
            <a:ext cx="3886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Arduino PubSubClient library documentation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7817486-EBE9-4ABF-9AD0-BB0BB804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96E1D8-59EC-40CD-B3B5-A916EBF7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3886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Texas Instruments LM35 product page and datasheet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6AA1DB-2481-4A10-A757-6E4FA919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90750"/>
            <a:ext cx="4524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737">
              <a:alpha val="84706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9B66997-0B8D-4164-83C4-E56BC9D2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574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F2B0">
              <a:alpha val="11765"/>
            </a:srgbClr>
          </a:solidFill>
          <a:ln xmlns:a="http://schemas.openxmlformats.org/drawingml/2006/main" w="9525">
            <a:solidFill>
              <a:srgbClr val="54F2B0">
                <a:alpha val="4000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9AC3C4B-DC62-4D82-9BAA-3E3B68A3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52412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4F2B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4F2B0"/>
                </a:solidFill>
                <a:latin typeface="Aptos"/>
                <a:ea typeface="Aptos"/>
                <a:cs typeface="Aptos"/>
              </a:rPr>
              <a:t>SELF-CHECK GATES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3AB4B01-EEFF-4685-9C69-89EC75DC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F2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3EC251A-F76F-4163-86E1-C9C18A95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09900"/>
            <a:ext cx="331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PPTX has at least 16 slides and embedded visual evidence.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80CF54C-85FE-4C6A-A0D6-49A148CD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F2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8920737-65ED-4FD0-8039-28538B8F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48050"/>
            <a:ext cx="331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Chinese assembly checklist, flowchart and bilingual speech script exist.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773F8F5-BE1C-47EB-9D62-32D8C046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F2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52AA6ED-6F83-4343-AB1C-4DFCDD8B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86200"/>
            <a:ext cx="331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Firmware and dashboard source files are present.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D9A9BA6-DC9E-48F8-B6CA-6F5D548E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F2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1170C92-CE65-44D0-ACAA-EB5CA3D6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24350"/>
            <a:ext cx="331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Sensitive keys are not published in tracked source files.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A9E53B9-5A5F-43BF-8CC6-95396649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F2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C49EF18-1167-40A1-A987-8FE64AFD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62500"/>
            <a:ext cx="331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BFF"/>
                </a:solidFill>
                <a:latin typeface="Aptos"/>
                <a:ea typeface="Aptos"/>
                <a:cs typeface="Aptos"/>
              </a:rPr>
              <a:t>Optional compile checks can be run before the live demo.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17BD1EC-54CA-4FC8-BA18-A76A678F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7912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5FB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FBFF"/>
                </a:solidFill>
                <a:latin typeface="Aptos"/>
                <a:ea typeface="Aptos"/>
                <a:cs typeface="Aptos"/>
              </a:rPr>
              <a:t>Closing claim: this is a local-first IoT classroom controller with a real safety layer, a networked operations layer and evidence-backed intelligence features.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CCA2D74-D478-4DEF-80B8-091ABB56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114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5A5B9A7-9D14-4282-87F4-476DEAAC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F8EA2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F8EA2"/>
                </a:solidFill>
                <a:latin typeface="Aptos"/>
                <a:ea typeface="Aptos"/>
                <a:cs typeface="Aptos"/>
              </a:rPr>
              <a:t>Generated for IoT104TC group presentation package.</a:t>
            </a:r>
          </a:p>
        </p:txBody>
      </p:sp>
    </p:spTree>
    <p:extLst>
      <p:ext uri="{BB962C8B-B14F-4D97-AF65-F5344CB8AC3E}">
        <p14:creationId xmlns:p14="http://schemas.microsoft.com/office/powerpoint/2010/main" val="14904587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2026-05-24T12:34:17.9720000Z</dcterms:created>
  <dcterms:modified xsi:type="dcterms:W3CDTF">2026-05-24T12:34:17.9720000Z</dcterms:modified>
</coreProperties>
</file>