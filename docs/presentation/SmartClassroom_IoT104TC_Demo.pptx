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5e3a171d8043fe" /><Relationship Type="http://schemas.openxmlformats.org/officeDocument/2006/relationships/extended-properties" Target="/docProps/app.xml" Id="R9d8bde6f80684918" /><Relationship Type="http://schemas.openxmlformats.org/officeDocument/2006/relationships/officeDocument" Target="/ppt/presentation.xml" Id="R63b538750e6442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9cfba5200647a1"/>
  </p:sldMasterIdLst>
  <p:notesMasterIdLst>
    <p:notesMasterId xmlns:r="http://schemas.openxmlformats.org/officeDocument/2006/relationships" r:id="R08dd4f92c35a4a3b"/>
  </p:notesMasterIdLst>
  <p:sldIdLst>
    <p:sldId xmlns:r="http://schemas.openxmlformats.org/officeDocument/2006/relationships" id="256" r:id="R65e95a55bf564852"/>
    <p:sldId xmlns:r="http://schemas.openxmlformats.org/officeDocument/2006/relationships" id="257" r:id="R703574a80c674c09"/>
    <p:sldId xmlns:r="http://schemas.openxmlformats.org/officeDocument/2006/relationships" id="258" r:id="R66de8f19d892460f"/>
    <p:sldId xmlns:r="http://schemas.openxmlformats.org/officeDocument/2006/relationships" id="259" r:id="Rbafbcc03c5374715"/>
    <p:sldId xmlns:r="http://schemas.openxmlformats.org/officeDocument/2006/relationships" id="260" r:id="Rb33421c906374c04"/>
    <p:sldId xmlns:r="http://schemas.openxmlformats.org/officeDocument/2006/relationships" id="261" r:id="R9a105890396d4bd3"/>
    <p:sldId xmlns:r="http://schemas.openxmlformats.org/officeDocument/2006/relationships" id="262" r:id="R8f6236b595714b61"/>
    <p:sldId xmlns:r="http://schemas.openxmlformats.org/officeDocument/2006/relationships" id="263" r:id="R0b18cd0271da401d"/>
    <p:sldId xmlns:r="http://schemas.openxmlformats.org/officeDocument/2006/relationships" id="264" r:id="R43c60a288c7a4ed2"/>
    <p:sldId xmlns:r="http://schemas.openxmlformats.org/officeDocument/2006/relationships" id="265" r:id="R8f4ca89b512f4530"/>
    <p:sldId xmlns:r="http://schemas.openxmlformats.org/officeDocument/2006/relationships" id="266" r:id="Re105c625492945ba"/>
    <p:sldId xmlns:r="http://schemas.openxmlformats.org/officeDocument/2006/relationships" id="267" r:id="Red0e1ce8b5de437d"/>
    <p:sldId xmlns:r="http://schemas.openxmlformats.org/officeDocument/2006/relationships" id="268" r:id="R5af3e04911134572"/>
    <p:sldId xmlns:r="http://schemas.openxmlformats.org/officeDocument/2006/relationships" id="269" r:id="Rb9df4768af0b4fa3"/>
    <p:sldId xmlns:r="http://schemas.openxmlformats.org/officeDocument/2006/relationships" id="270" r:id="Ra0da54b352684baf"/>
    <p:sldId xmlns:r="http://schemas.openxmlformats.org/officeDocument/2006/relationships" id="271" r:id="R091fe9c6e95643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cfba5200647a1" /><Relationship Type="http://schemas.openxmlformats.org/officeDocument/2006/relationships/theme" Target="/ppt/theme/theme1.xml" Id="R818acaaecba74c2c" /><Relationship Type="http://schemas.openxmlformats.org/officeDocument/2006/relationships/notesMaster" Target="/ppt/notesMasters/notesMaster1.xml" Id="R08dd4f92c35a4a3b" /><Relationship Type="http://schemas.openxmlformats.org/officeDocument/2006/relationships/presProps" Target="/ppt/presProps.xml" Id="R9d1c086f48cc4a60" /><Relationship Type="http://schemas.openxmlformats.org/officeDocument/2006/relationships/viewProps" Target="/ppt/viewProps.xml" Id="Rb12d791d3dec4c53" /><Relationship Type="http://schemas.openxmlformats.org/officeDocument/2006/relationships/tableStyles" Target="/ppt/tableStyles.xml" Id="R415b51c8ad3540a6" /><Relationship Type="http://schemas.openxmlformats.org/officeDocument/2006/relationships/slide" Target="/ppt/slides/slide1.xml" Id="R65e95a55bf564852" /><Relationship Type="http://schemas.openxmlformats.org/officeDocument/2006/relationships/slide" Target="/ppt/slides/slide2.xml" Id="R703574a80c674c09" /><Relationship Type="http://schemas.openxmlformats.org/officeDocument/2006/relationships/slide" Target="/ppt/slides/slide3.xml" Id="R66de8f19d892460f" /><Relationship Type="http://schemas.openxmlformats.org/officeDocument/2006/relationships/slide" Target="/ppt/slides/slide4.xml" Id="Rbafbcc03c5374715" /><Relationship Type="http://schemas.openxmlformats.org/officeDocument/2006/relationships/slide" Target="/ppt/slides/slide5.xml" Id="Rb33421c906374c04" /><Relationship Type="http://schemas.openxmlformats.org/officeDocument/2006/relationships/slide" Target="/ppt/slides/slide6.xml" Id="R9a105890396d4bd3" /><Relationship Type="http://schemas.openxmlformats.org/officeDocument/2006/relationships/slide" Target="/ppt/slides/slide7.xml" Id="R8f6236b595714b61" /><Relationship Type="http://schemas.openxmlformats.org/officeDocument/2006/relationships/slide" Target="/ppt/slides/slide8.xml" Id="R0b18cd0271da401d" /><Relationship Type="http://schemas.openxmlformats.org/officeDocument/2006/relationships/slide" Target="/ppt/slides/slide9.xml" Id="R43c60a288c7a4ed2" /><Relationship Type="http://schemas.openxmlformats.org/officeDocument/2006/relationships/slide" Target="/ppt/slides/slide10.xml" Id="R8f4ca89b512f4530" /><Relationship Type="http://schemas.openxmlformats.org/officeDocument/2006/relationships/slide" Target="/ppt/slides/slide11.xml" Id="Re105c625492945ba" /><Relationship Type="http://schemas.openxmlformats.org/officeDocument/2006/relationships/slide" Target="/ppt/slides/slide12.xml" Id="Red0e1ce8b5de437d" /><Relationship Type="http://schemas.openxmlformats.org/officeDocument/2006/relationships/slide" Target="/ppt/slides/slide13.xml" Id="R5af3e04911134572" /><Relationship Type="http://schemas.openxmlformats.org/officeDocument/2006/relationships/slide" Target="/ppt/slides/slide14.xml" Id="Rb9df4768af0b4fa3" /><Relationship Type="http://schemas.openxmlformats.org/officeDocument/2006/relationships/slide" Target="/ppt/slides/slide15.xml" Id="Ra0da54b352684baf" /><Relationship Type="http://schemas.openxmlformats.org/officeDocument/2006/relationships/slide" Target="/ppt/slides/slide16.xml" Id="R091fe9c6e95643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a700c9d88f442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2ae157d48d49ba" /><Relationship Type="http://schemas.openxmlformats.org/officeDocument/2006/relationships/notesMaster" Target="/ppt/notesMasters/notesMaster1.xml" Id="R71643291449f4d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ef10bfe81d44d8" /><Relationship Type="http://schemas.openxmlformats.org/officeDocument/2006/relationships/notesMaster" Target="/ppt/notesMasters/notesMaster1.xml" Id="Rd31d0ba4174145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0c8e96f68e4806" /><Relationship Type="http://schemas.openxmlformats.org/officeDocument/2006/relationships/notesMaster" Target="/ppt/notesMasters/notesMaster1.xml" Id="Rd699768050924d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1e1a4203cc4369" /><Relationship Type="http://schemas.openxmlformats.org/officeDocument/2006/relationships/notesMaster" Target="/ppt/notesMasters/notesMaster1.xml" Id="R0b399a3f4b0f49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b159c39f2e4e0b" /><Relationship Type="http://schemas.openxmlformats.org/officeDocument/2006/relationships/notesMaster" Target="/ppt/notesMasters/notesMaster1.xml" Id="R525121d6c96d4e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de3481285946e8" /><Relationship Type="http://schemas.openxmlformats.org/officeDocument/2006/relationships/notesMaster" Target="/ppt/notesMasters/notesMaster1.xml" Id="R7d3349f207a240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2621c3b2f345f4" /><Relationship Type="http://schemas.openxmlformats.org/officeDocument/2006/relationships/notesMaster" Target="/ppt/notesMasters/notesMaster1.xml" Id="Rab0bac3688674e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67cca9fa4849cf" /><Relationship Type="http://schemas.openxmlformats.org/officeDocument/2006/relationships/notesMaster" Target="/ppt/notesMasters/notesMaster1.xml" Id="R73b50e6b657240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853b970ac44182" /><Relationship Type="http://schemas.openxmlformats.org/officeDocument/2006/relationships/notesMaster" Target="/ppt/notesMasters/notesMaster1.xml" Id="R9e7e643f464e40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278094f31c4d9c" /><Relationship Type="http://schemas.openxmlformats.org/officeDocument/2006/relationships/notesMaster" Target="/ppt/notesMasters/notesMaster1.xml" Id="R85d37d798d4b42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c4a9135ce84fcf" /><Relationship Type="http://schemas.openxmlformats.org/officeDocument/2006/relationships/notesMaster" Target="/ppt/notesMasters/notesMaster1.xml" Id="R05ce5cdc202f4f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dd797b2b73413b" /><Relationship Type="http://schemas.openxmlformats.org/officeDocument/2006/relationships/notesMaster" Target="/ppt/notesMasters/notesMaster1.xml" Id="Rf0a513e5d11e4b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191224ff8644c9" /><Relationship Type="http://schemas.openxmlformats.org/officeDocument/2006/relationships/notesMaster" Target="/ppt/notesMasters/notesMaster1.xml" Id="R1c4cc6da919f47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851ccb265747d8" /><Relationship Type="http://schemas.openxmlformats.org/officeDocument/2006/relationships/notesMaster" Target="/ppt/notesMasters/notesMaster1.xml" Id="R73c7bf4dec7a4a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18152838634c5b" /><Relationship Type="http://schemas.openxmlformats.org/officeDocument/2006/relationships/notesMaster" Target="/ppt/notesMasters/notesMaster1.xml" Id="R6a4611a47c3d46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18910c38a64374" /><Relationship Type="http://schemas.openxmlformats.org/officeDocument/2006/relationships/notesMaster" Target="/ppt/notesMasters/notesMaster1.xml" Id="Rea70385faaae4e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2749851854f6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c6a50e77f814f58" /><Relationship Type="http://schemas.openxmlformats.org/officeDocument/2006/relationships/slideLayout" Target="/ppt/slideLayouts/slideLayout2.xml" Id="R5cbf4e7f82574c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bf4e7f82574c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577e217e6c43f7" /><Relationship Type="http://schemas.openxmlformats.org/officeDocument/2006/relationships/notesSlide" Target="/ppt/notesSlides/notesSlide1.xml" Id="Rd1b8804ab08342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d01b64e9e24286" /><Relationship Type="http://schemas.openxmlformats.org/officeDocument/2006/relationships/image" Target="/ppt/media/image.png" Id="R780baa05e1c64845" /><Relationship Type="http://schemas.openxmlformats.org/officeDocument/2006/relationships/notesSlide" Target="/ppt/notesSlides/notesSlide2.xml" Id="Rb025a1db86e24d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b14f5f100a4b89" /><Relationship Type="http://schemas.openxmlformats.org/officeDocument/2006/relationships/notesSlide" Target="/ppt/notesSlides/notesSlide3.xml" Id="R9dfa80704d0443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b671840aa043cb" /><Relationship Type="http://schemas.openxmlformats.org/officeDocument/2006/relationships/notesSlide" Target="/ppt/notesSlides/notesSlide4.xml" Id="Rac0530f3fced4d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30c8cbee6b4a6e" /><Relationship Type="http://schemas.openxmlformats.org/officeDocument/2006/relationships/notesSlide" Target="/ppt/notesSlides/notesSlide5.xml" Id="R069cdce5b73c4c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6a30ed1c134109" /><Relationship Type="http://schemas.openxmlformats.org/officeDocument/2006/relationships/notesSlide" Target="/ppt/notesSlides/notesSlide6.xml" Id="Re949fdfed8e248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b7bff07514bc7" /><Relationship Type="http://schemas.openxmlformats.org/officeDocument/2006/relationships/notesSlide" Target="/ppt/notesSlides/notesSlide7.xml" Id="R71cbd24f6e9c42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3e862f48744b4f" /><Relationship Type="http://schemas.openxmlformats.org/officeDocument/2006/relationships/notesSlide" Target="/ppt/notesSlides/notesSlide8.xml" Id="R4ff256929c2640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bcaa592d7a48e9" /><Relationship Type="http://schemas.openxmlformats.org/officeDocument/2006/relationships/notesSlide" Target="/ppt/notesSlides/notesSlide9.xml" Id="R680a7167bcdd4c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639f3213cd45dc" /><Relationship Type="http://schemas.openxmlformats.org/officeDocument/2006/relationships/image" Target="/ppt/media/image2.png" Id="R4f8c1a19b7154182" /><Relationship Type="http://schemas.openxmlformats.org/officeDocument/2006/relationships/image" Target="/ppt/media/image3.png" Id="Rde305b2ed9284dfc" /><Relationship Type="http://schemas.openxmlformats.org/officeDocument/2006/relationships/image" Target="/ppt/media/image4.png" Id="R1d10047efe354cfd" /><Relationship Type="http://schemas.openxmlformats.org/officeDocument/2006/relationships/notesSlide" Target="/ppt/notesSlides/notesSlide10.xml" Id="Rd8561582566247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6bf4c6bf2e4cec" /><Relationship Type="http://schemas.openxmlformats.org/officeDocument/2006/relationships/image" Target="/ppt/media/image5.png" Id="R5ab18e19b98d4cb1" /><Relationship Type="http://schemas.openxmlformats.org/officeDocument/2006/relationships/image" Target="/ppt/media/image6.png" Id="R85cf9ca7ba8d401c" /><Relationship Type="http://schemas.openxmlformats.org/officeDocument/2006/relationships/notesSlide" Target="/ppt/notesSlides/notesSlide11.xml" Id="Rb5e9ebac7fab4b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646436482948c8" /><Relationship Type="http://schemas.openxmlformats.org/officeDocument/2006/relationships/image" Target="/ppt/media/image7.png" Id="Rd39fbc42cedf4123" /><Relationship Type="http://schemas.openxmlformats.org/officeDocument/2006/relationships/notesSlide" Target="/ppt/notesSlides/notesSlide12.xml" Id="R667ebabdc5784f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cbaa8362c648ca" /><Relationship Type="http://schemas.openxmlformats.org/officeDocument/2006/relationships/image" Target="/ppt/media/image8.png" Id="R4a62beea10c04498" /><Relationship Type="http://schemas.openxmlformats.org/officeDocument/2006/relationships/notesSlide" Target="/ppt/notesSlides/notesSlide13.xml" Id="R8c0bdc96a66840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ab99b1ddab4b5d" /><Relationship Type="http://schemas.openxmlformats.org/officeDocument/2006/relationships/notesSlide" Target="/ppt/notesSlides/notesSlide14.xml" Id="R3f340e94725344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cb3bb5f55c44e4" /><Relationship Type="http://schemas.openxmlformats.org/officeDocument/2006/relationships/notesSlide" Target="/ppt/notesSlides/notesSlide15.xml" Id="Ra8ff7f0ef22d48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64872c29614580" /><Relationship Type="http://schemas.openxmlformats.org/officeDocument/2006/relationships/notesSlide" Target="/ppt/notesSlides/notesSlide16.xml" Id="Ra8b59ce487bc43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251E23-19B8-4C90-9E6E-84068D55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2037-E5F1-4542-9476-9AB6FA1F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E4BF7-3C57-458F-874B-A85AE8F6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0BBFA-6E79-47D2-9F45-6B22E96A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25CEC-A57C-49B9-A72B-06F5D7A6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8CF18-A647-4F19-8954-ACC7BA12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A64BE-4264-4B81-A637-9482F38F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0D5A8-89F6-4BBB-BCD2-1958A3C4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1F804-8B8F-4CC4-91D3-A7621708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8C771-4051-4C2E-89AB-AD17C885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EA1B5-A1DE-42AA-8306-A1C5F7DE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F8921-44A5-4A49-A15A-28A53819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AE6B8-E8CB-41C9-90D2-852B5339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10ED0-A418-43E6-8C9A-74E0DF2D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B98B1-6E78-4983-B2C9-EC288601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AC479-D0C1-496E-89F6-B16D8282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DDC80-1443-46B3-9A07-28F0709E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32B64-515C-4CF5-A5EF-01C3A7A7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04660-C57C-4CA8-8960-366E998B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1FE5ED-0795-41AE-9A3C-437094A8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44C401-6FFD-4A23-B505-6CDBA44C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E3437-5103-440C-9FC9-B51340A5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5CBC7-A84B-49F1-9C9D-7100B784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1AB92A-503D-45EE-A34F-7B524A2A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03B233-1C45-4429-A6F9-74EAAD3E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CF8F43-7418-4EAE-B3D5-1A6134FB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6FEAFF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12708-00A4-452F-82B7-66FBF8AD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99033-7BB1-4003-B7A3-3A4CD8D8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11765"/>
            </a:srgbClr>
          </a:solidFill>
          <a:ln xmlns:a="http://schemas.openxmlformats.org/drawingml/2006/main" w="9525">
            <a:solidFill>
              <a:srgbClr val="6FEAFF">
                <a:alpha val="5333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79FD1B-E457-4BB8-96CE-29EFF3B6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IOT104TC GROUP PROJECT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C0BBD-13DA-484F-AE8F-A994432E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Smart Classroom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A82D39-D638-4B3B-A030-D26E605B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85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Energy-Saving, Safety</a:t>
            </a:r>
          </a:p>
          <a:p xmlns:a="http://schemas.openxmlformats.org/drawingml/2006/main">
            <a:pPr algn="l">
              <a:defRPr sz="34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&amp; Asset Monitoring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A86978-5343-43F3-BBAB-11A7FEB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657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A local-first IoT classroom controller with real sensors, real actuators, MQTT operations, dashboard analytics and AI-assisted commands.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C2DE15-6E1B-4B41-9AB3-576A23E0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048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980"/>
            </a:srgbClr>
          </a:solidFill>
          <a:ln xmlns:a="http://schemas.openxmlformats.org/drawingml/2006/main" w="19050">
            <a:solidFill>
              <a:srgbClr val="6FEAFF">
                <a:alpha val="4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6F793A-AECB-4D4F-AAB9-E5A8903B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2954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UNO Edge Node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6B651C-1D8B-415C-8A9F-40111F66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954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Sensors + state machine + actuators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16B573-0E54-48D1-95CD-3A4ABB42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2"/>
          </a:solidFill>
          <a:ln xmlns:a="http://schemas.openxmlformats.org/drawingml/2006/main" w="19050">
            <a:solidFill>
              <a:srgbClr val="6FEAFF">
                <a:alpha val="53333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D73877-056B-44D2-9023-AE93978B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SC2 UART + 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A54555-6A0B-4E52-B71F-3B49FF03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F2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F2B0"/>
                </a:solidFill>
                <a:latin typeface="Aptos"/>
                <a:ea typeface="Aptos"/>
                <a:cs typeface="Aptos"/>
              </a:rPr>
              <a:t>ESP32 Gateway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3CA4EC-0C49-4E03-95C5-F4291F20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Wi-Fi + MQTT + dashboard command bridge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656585-540B-4E21-82EB-5AA97974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4706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CB68EB-C15F-460D-B52B-BA6690A2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5302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63398E-73B7-4DA9-A336-4973DD9F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FE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6FEAFF"/>
                </a:solidFill>
                <a:latin typeface="Aptos Display"/>
                <a:ea typeface="Aptos Display"/>
                <a:cs typeface="Aptos Display"/>
              </a:rPr>
              <a:t>9+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BE8392-3C85-4DC5-81C5-BEBA174F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live hardware signals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8ED95D-92FA-493F-9126-3D921137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43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5E7E">
                <a:alpha val="44706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206133-481F-46E1-8540-0AF2EA8F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15302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71175D-47AE-4B5F-A557-F44B4CA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14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5E7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5E7E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233A71-31A7-4FE5-AC12-AF78204A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10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priority modes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AA23AD-0837-426B-9045-32AEA48B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43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52F2B0">
                <a:alpha val="44706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AA13A7-71D5-4BFD-A4F6-7973E31C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15302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E5E667-D222-4164-B8E1-02E7B681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314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2F2B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2F2B0"/>
                </a:solidFill>
                <a:latin typeface="Aptos Display"/>
                <a:ea typeface="Aptos Display"/>
                <a:cs typeface="Aptos Display"/>
              </a:rPr>
              <a:t>1s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720A31-F5E1-4FCE-A2FB-C4D7B82F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810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telemetry cadence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D4B706-FF3D-45CD-B5C9-29947EED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43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CD6E">
                <a:alpha val="44706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AFA9B0-7B2F-45A5-BD28-CAC1DCA5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15302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DF1A5D-A542-4A37-93F1-781D352D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14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D6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CD6E"/>
                </a:solidFill>
                <a:latin typeface="Aptos Display"/>
                <a:ea typeface="Aptos Display"/>
                <a:cs typeface="Aptos Display"/>
              </a:rPr>
              <a:t>432m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3E0B15-699E-4477-8C24-C65BC8F4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10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recorded evidence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CF2874-FCF7-4F57-9F93-6E89975E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0C9B79-EE6D-4F53-AE89-81DCACFF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Local safety works even when the network is offline.</a:t>
            </a:r>
          </a:p>
        </p:txBody>
      </p:sp>
    </p:spTree>
    <p:extLst>
      <p:ext uri="{BB962C8B-B14F-4D97-AF65-F5344CB8AC3E}">
        <p14:creationId xmlns:p14="http://schemas.microsoft.com/office/powerpoint/2010/main" val="8472509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0096E9-F911-4742-BABE-CB4E2F71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B61CD-A61D-4651-AF81-B5506220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FB7B3-630B-4B2B-AE68-D6BBE14B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F65FF-5A94-490B-9A5F-FC4A6FB8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3AF7F-46F0-44BC-A024-4009B974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D1B93-5925-448D-9874-50533E80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F58B1-DE04-4D5F-B8F6-670D5D9E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9642F-C463-4DB4-8D43-0F5F2D44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52250-563B-4123-B237-7D4787C4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BA609-9204-44ED-819F-1A163EDD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CD05F-926C-4C9C-A477-8333FA52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C3A0C-EB0B-4C44-8C7A-D9ACF2A2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C7B41-4C25-455A-975B-1C111754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77BDC-0644-4919-85DE-EB50C41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4FB29-AEAD-4FA8-B16F-6AAA5DE3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FF990-89E9-411E-9B85-1D767E4F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AF292-5B37-4CD7-B556-86E42127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2C22D-FD18-495D-9588-386CAF0A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063D2-3385-411D-B4CC-C4F8E2F4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14338-2909-4ACE-BDC4-C259FD1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68887-F897-4E89-B029-A2A78864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A537D-CE93-4D2B-89DB-2644D1C3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A6338-5416-4DAC-B089-B5841542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0C4E5B-F21C-45EF-8133-3D8F414C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192A22-3202-4103-B42D-DA5A36A9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D716B3-7B54-478F-8DE6-180E9C3D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2E7DC-CB44-4651-8722-43E0B478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2C5E7-D417-4B03-B5EA-126B6011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ASSESSMENT FIT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3FD560-B869-418D-A043-9D65F4DC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Built around the marking scheme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947DB3-788C-4943-A41B-38D5617D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The demo connects hardware, software, architecture, security/privacy, operations and a practical classroom use-case.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85B062-F09D-40D5-B870-19B683ED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3F29E6-A60A-43CC-A39E-1980B603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52959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431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baa05e1c64845"/>
          <a:stretch xmlns:a="http://schemas.openxmlformats.org/drawingml/2006/main"/>
        </p:blipFill>
        <p:spPr>
          <a:xfrm xmlns:a="http://schemas.openxmlformats.org/drawingml/2006/main">
            <a:off x="723900" y="2420561"/>
            <a:ext cx="5143500" cy="2855078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A1E428-72F6-4538-8F12-F1A2FD88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2238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4706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01A262-5778-443D-9322-9207245A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95525"/>
            <a:ext cx="22193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3E08AA-51E1-4E46-BDFE-8DDBBBB9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95550"/>
            <a:ext cx="1781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B04233-68B0-4BAB-B8F4-7B5E805A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17811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A classroom service: save energy, keep comfort and react to safety events.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CABAA9-82BE-4703-9610-BBA7799A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238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52F2B0">
                <a:alpha val="44706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69EB8A-B697-4A1A-85A5-C13FF3B4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95525"/>
            <a:ext cx="22193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7893B6-DCC5-4591-87E7-E130504B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1781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2F2B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2F2B0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BE29AE-D786-4EDC-B3F1-D74A9ADE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17811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UNO is local authority; ESP32 is gateway; web is operations layer.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BB17AE-5D15-4A9A-A101-8CD2F442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2238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CD6E">
                <a:alpha val="44706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5F67D1-FD1A-4FE7-8F1E-77434706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10025"/>
            <a:ext cx="22193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91AF6B-DBAE-44E9-A8D1-AE0FCFA9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1781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CD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CD6E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ABBE42-6C89-4A3B-8329-2B36B1B4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67250"/>
            <a:ext cx="17811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Telemetry history, dashboard screenshots, live actuators and self-check report.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363BAB-C57F-41D7-8E92-1E95B976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238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5E7E">
                <a:alpha val="44706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E70003-DF0A-4457-B89F-8F380132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10025"/>
            <a:ext cx="22193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1511D0-0142-4E7B-BF7A-72B54040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0050"/>
            <a:ext cx="1781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5E7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5E7E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CE674C-B1E0-4072-82F3-BC079262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67250"/>
            <a:ext cx="17811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Local fail-safe control, ignored secrets, browser mic permission and offline state.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D04ECB-7BC3-4BF5-B71F-2F380794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15667D-2DBC-4DEE-BB3C-39D24FE3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Smart Classroom IoT104TC</a:t>
            </a:r>
          </a:p>
        </p:txBody>
      </p:sp>
    </p:spTree>
    <p:extLst>
      <p:ext uri="{BB962C8B-B14F-4D97-AF65-F5344CB8AC3E}">
        <p14:creationId xmlns:p14="http://schemas.microsoft.com/office/powerpoint/2010/main" val="11505887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25670E-F9D6-4FD9-901B-286B637C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D2295-4950-475B-9EE9-3D205C35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D36DA-933A-4F43-9CA7-B42A2AA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6C7EA-C895-4244-BAF4-92CF9200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8A803-3199-4D75-9C49-E5713433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EB958-06E8-48EB-8B48-9DFD458B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5F46D-654F-493B-9F4C-9C813484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F22BA-AD13-401B-89B8-9A9FBF20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12D93-2FAE-4800-9E4D-6CD459D3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4D619-93B9-4E17-BD55-3138AC20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F5222-3025-4333-BECF-161DB6B8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BEE23-2300-400A-9B03-094F30E4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C280E-E101-4091-8347-1D725513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C0640-38D3-47F4-9190-056C9F34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0DD6C-673C-4AD8-9645-984AC95C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6722F-2D3E-4FF4-B67A-3369509C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C8D6E-7C76-44BD-94DA-248A73FE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7C203-3BEE-43C1-8287-98A826DC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1E6B7-AB72-4D25-9D53-2DE15A76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B69E2-E97B-424D-B504-3CA46707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60733-5BBB-4FD5-B0A6-839DCA8D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DC13F-B804-4C6C-8CC4-89682F72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339050-7156-43FF-A81F-4BD9BF92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3ECF34-0A12-4E97-B96D-F65840B3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2DC1E-5013-40CA-B9EC-18C19AE6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751AF9-4603-4AD2-BD5F-FBD1DF81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2F2B0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FCBCD3-0590-4636-A261-7F36DAD1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7E2FE5-96E5-4CFA-990C-6459765D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USE-CASE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0E4E8F-EE69-41B5-8E83-D6FE0119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A classroom that reacts locally and reports globally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D3F501-ABBA-431B-9834-58183519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The system behaves like a small building-management service, not a sensor list.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68E924-3A69-4C0C-B354-54A6FC0B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9B0E21-B45B-471D-9D9D-AC173F51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4706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A774B8-53B4-45C9-A2A3-8442C189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5267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2D94E9-11E0-4534-B2AB-41038F69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11765"/>
            </a:srgbClr>
          </a:solidFill>
          <a:ln xmlns:a="http://schemas.openxmlformats.org/drawingml/2006/main" w="9525">
            <a:solidFill>
              <a:srgbClr val="6FEAFF">
                <a:alpha val="53333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F41E9F-E140-43D9-9F83-4A4902E5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E862AC-4DD6-402E-99E8-9432F7CE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Sense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7F400B-615D-43F0-96FA-738E119D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1733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Occupancy, light, temperature, gas, flame and emergency button.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FD64E7-8BC8-4090-855B-AF2D580F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CD6E">
                <a:alpha val="44706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D71AD4-6D5C-48EE-B96E-E66D4453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5267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30A9E7-9428-448F-9BD6-C3AFBAFA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717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11765"/>
            </a:srgbClr>
          </a:solidFill>
          <a:ln xmlns:a="http://schemas.openxmlformats.org/drawingml/2006/main" w="9525">
            <a:solidFill>
              <a:srgbClr val="FFCD6E">
                <a:alpha val="53333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3C301F-5386-49AF-94F4-026E7E52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D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D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C3B721-C112-48F7-AD86-B82237F7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427CCC-4855-4F1E-A10D-61F38828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1733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Priority state machine: safety first, then comfort and energy saving.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DDFA5E-19A9-4E79-82AA-E0EECCE2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5E7E">
                <a:alpha val="44706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29350D-C767-4F22-BD9A-8391F6A3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5267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1F17DC-68AE-4580-BFA9-220CC20A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11765"/>
            </a:srgbClr>
          </a:solidFill>
          <a:ln xmlns:a="http://schemas.openxmlformats.org/drawingml/2006/main" w="9525">
            <a:solidFill>
              <a:srgbClr val="FF5E7E">
                <a:alpha val="53333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1201DD-E7B5-4E95-BBC0-4687ED31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5E7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5E7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FB5CC8-5213-4A54-87CF-06889FAD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A0E05F-AC79-4E2F-8917-568C4A68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1733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Lamp, relay fan, PWM, tach, buzzer and red-yellow-green status.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824F4B-17BC-43E8-893D-3170EA98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52F2B0">
                <a:alpha val="44706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B9E40E-33FC-49A3-A15A-B7AA4C22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5267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88E01B-2B6C-4F1D-A13C-E9DC6F42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717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11765"/>
            </a:srgbClr>
          </a:solidFill>
          <a:ln xmlns:a="http://schemas.openxmlformats.org/drawingml/2006/main" w="9525">
            <a:solidFill>
              <a:srgbClr val="52F2B0">
                <a:alpha val="53333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63AD54-FEE5-4148-8ADE-0A66EA0E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2F2B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2F2B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CB031D-8AED-4937-86C9-F0AAD1ED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670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Operate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D536CC-1FF3-4090-BF54-848D7EE6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24250"/>
            <a:ext cx="1733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MQTT dashboard, manual override, presets, charts and AI timeline.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13824D-3A60-4A70-B778-476BAF9C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099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065D01-7502-4E81-BA4C-D8C3C909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AE9186-6D50-4913-ABAA-818AD25C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C37FBF-CB36-45F6-BD02-F714AEE6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7B0ED2C-1363-4ABB-98B0-2FA79127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99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FD2AAD-71F1-43A6-B65E-2E1C8E14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52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1D595D-7CF8-475D-8565-F62A8BF3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5E7E">
                <a:alpha val="44706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E067430-9EF6-4F95-9E88-0B7A6FB0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5302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57974E-931F-4515-8DB8-FA26D398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5E7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5E7E"/>
                </a:solidFill>
                <a:latin typeface="Aptos Display"/>
                <a:ea typeface="Aptos Display"/>
                <a:cs typeface="Aptos Display"/>
              </a:rPr>
              <a:t>Safety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47165C-8A4D-4987-A046-2AE40AC2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10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highest priority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EE526FC-4C58-44A3-8708-12513590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43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4706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855703A-2D2F-44FE-B069-1114205B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15302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591F72-D957-4FAF-BC0D-D356C1D6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14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FE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6FEAFF"/>
                </a:solidFill>
                <a:latin typeface="Aptos Display"/>
                <a:ea typeface="Aptos Display"/>
                <a:cs typeface="Aptos Display"/>
              </a:rPr>
              <a:t>Comfort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2C1921B-7CEB-48D1-B852-486AE774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10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adaptive fan/lamp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E4C696C-0091-4F6B-93E2-7425DE67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43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52F2B0">
                <a:alpha val="44706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206236B-C48A-42D0-A77F-C6639E66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15302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E5656D-796E-48CD-ACE7-4B11C2B3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14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2F2B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2F2B0"/>
                </a:solidFill>
                <a:latin typeface="Aptos Display"/>
                <a:ea typeface="Aptos Display"/>
                <a:cs typeface="Aptos Display"/>
              </a:rPr>
              <a:t>Ops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10843F-1454-4C2F-A383-5FB81E24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810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ACK + persistence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31728ED-F009-408B-AB87-00805C7C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43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CD6E">
                <a:alpha val="44706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DAC20AF-5FEC-44A1-BC74-A09B44A8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15302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18F1886-9B87-4C09-B5F0-7ABEDA20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14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D6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CD6E"/>
                </a:solidFill>
                <a:latin typeface="Aptos Display"/>
                <a:ea typeface="Aptos Display"/>
                <a:cs typeface="Aptos Display"/>
              </a:rPr>
              <a:t>Data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90FC60-8C54-41D2-9D74-C16C4FEA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810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charts + history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01D6D89-FC4E-457F-B4B4-4AA15C6A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16BF1FD-8607-4A3E-9DF5-03DF1FA8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Smart Classroom IoT104TC</a:t>
            </a:r>
          </a:p>
        </p:txBody>
      </p:sp>
    </p:spTree>
    <p:extLst>
      <p:ext uri="{BB962C8B-B14F-4D97-AF65-F5344CB8AC3E}">
        <p14:creationId xmlns:p14="http://schemas.microsoft.com/office/powerpoint/2010/main" val="307755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A357FE-A22A-4FAC-8627-4D8D9820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8A7F3-B973-4294-BE51-33325E26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A3754-2C9F-4177-8460-D0985FED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74842-4EDB-4FE3-9820-9883C0E2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F7CB4-9181-48AB-A6D9-01865390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14149-7D7F-4EEB-9800-F60096E6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987C8-FA1B-46F7-B985-CA35BD19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33BDF-8BB9-43C3-9C1B-C20F4377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13874-2D2C-4FB6-8713-3D34CAF6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62ED5-C03D-4588-BD7F-BD6636ED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A99DF-937C-4F60-8B08-063309F5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2987A-C9A9-4919-89CA-5F02ADDE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D37D9-A11A-4A5F-B38C-49AC7D18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58EBA-C1D3-4522-8202-1B78DE12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D1E9E-5059-4964-9CA2-FCA815FF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FE371-19C3-4E58-824A-AC999B42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DEEAE-CAE4-4578-B3F6-7B85D092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C9D554-37BD-4717-ADE9-62157316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7F25E-E464-44AB-976C-170DB390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6B897-AD12-41EE-A0F7-93037938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1C2FE-9F2E-4189-B31A-D44B43B3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66B74-BD1E-455B-8F2C-038F636B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828463-BF11-4486-BDD7-FD1A63D7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9E7F34-83CC-4682-9327-F5464730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95F6E6-947E-48B8-BD90-B797AA67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54CB3F-8485-4492-97FF-CA333CFD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F9CFF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8DD73C-6FCF-4B9F-AC03-0104ACCB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6B0874-D16F-408A-809B-CE794882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19BCF9-616A-411B-8BAB-BDBB590E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Real-time control stays on UNO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B4FD08-E10A-44E7-855D-DBBA842A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Networking adds visibility and commands, but does not become a dependency for safety.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5AF3AC-30DE-4E3F-97D0-986CDE48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B1C708-8E83-48CC-B126-6BA27ECC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286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4706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B26EEA-AADC-4D74-B9B6-A95B937E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33625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96D099-1321-4DB2-AA92-169ED4F4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11765"/>
            </a:srgbClr>
          </a:solidFill>
          <a:ln xmlns:a="http://schemas.openxmlformats.org/drawingml/2006/main" w="9525">
            <a:solidFill>
              <a:srgbClr val="6FEAFF">
                <a:alpha val="53333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3EBF59-F4A4-4575-B902-9F7EE65C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B94D93-A374-4321-9FAE-97F84611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Sensors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22F466-E58E-4EEE-8715-58875514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828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D2 PIR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A0 Light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A1 Gas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A2 LM35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D8/A3 Flame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D4 Button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D4D6CD-2604-4141-A97C-DAE2ABBC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2286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CD6E">
                <a:alpha val="44706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2CEE36-B969-4FDE-9FE5-BA445C05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2088AC-A472-4B63-8766-C1F67128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11765"/>
            </a:srgbClr>
          </a:solidFill>
          <a:ln xmlns:a="http://schemas.openxmlformats.org/drawingml/2006/main" w="9525">
            <a:solidFill>
              <a:srgbClr val="FFCD6E">
                <a:alpha val="53333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516793-54B3-425B-B69C-9305EB94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2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D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D6E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B0FECB-8DF2-47C1-A3B9-7AC45C6A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Arduino UNO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EBF421-1FA5-4E7C-8C60-126C52DC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1828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millis loop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state machine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relay / PWM / tach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buzzer + status light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18E18B-C39B-4E61-9F90-B7E4EBFF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286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52F2B0">
                <a:alpha val="44706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2125FD-990B-4EC5-95B8-DCCB5D63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33625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0B2E72-69F9-4816-AFE0-3ED8DEE7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11765"/>
            </a:srgbClr>
          </a:solidFill>
          <a:ln xmlns:a="http://schemas.openxmlformats.org/drawingml/2006/main" w="9525">
            <a:solidFill>
              <a:srgbClr val="52F2B0">
                <a:alpha val="53333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60134B-AC54-4FCB-9DE1-9580490A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2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2F2B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2F2B0"/>
                </a:solidFill>
                <a:latin typeface="Aptos"/>
                <a:ea typeface="Aptos"/>
                <a:cs typeface="Aptos"/>
              </a:rPr>
              <a:t>Gateway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64DD3B-5400-4921-9ED3-07C22ED1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ESP32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DE22FC-4F9B-425E-B71B-3870E398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1828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Serial2 UART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Wi-Fi reconnect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MQTT publish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command bridge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8087FD-1799-4623-BE0E-CA85B6F7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2286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B68CFF">
                <a:alpha val="44706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28B5E8-C00B-4EDD-B401-62B8656B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33625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8477D9-7F94-465B-AC41-F294CDE2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527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>
              <a:alpha val="11765"/>
            </a:srgbClr>
          </a:solidFill>
          <a:ln xmlns:a="http://schemas.openxmlformats.org/drawingml/2006/main" w="9525">
            <a:solidFill>
              <a:srgbClr val="B68CFF">
                <a:alpha val="53333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3CCD20-197C-4A84-91B1-DC8381A5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2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8C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68CFF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48FD97-B614-43E4-BB5D-965350C3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Laptop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D7E84B-62CB-4801-966F-A0F469DC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05200"/>
            <a:ext cx="1828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Mosquitto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web dashboard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history store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AI planner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B4CDC7-0579-4307-A4BB-9857BE58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2F99038-DB83-4C33-8FE0-74440D44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433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2128FD-DF00-458E-8891-3D343C56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00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7AE7A7-4289-4010-BF5C-D8482C42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096C71-90CA-4DC1-B607-D245EFB0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00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AD0B02-8AB7-4E09-BCD9-07A3D1C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433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F0E6E5-2E18-43FA-81EB-F616EF2F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Design decision: ESP32 is a gateway; UNO remains the controller of record.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55026A7-875D-40F0-A488-8BDF5D0C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DA5AF43-98D6-435E-864E-88654351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Smart Classroom IoT104TC</a:t>
            </a:r>
          </a:p>
        </p:txBody>
      </p:sp>
    </p:spTree>
    <p:extLst>
      <p:ext uri="{BB962C8B-B14F-4D97-AF65-F5344CB8AC3E}">
        <p14:creationId xmlns:p14="http://schemas.microsoft.com/office/powerpoint/2010/main" val="9207633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6BA8CB-3276-446B-A01F-204F7F2F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CC694-A6BA-42A2-99E9-2C37828B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F0070-3812-49E7-A0D3-F848C5C4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3C301-EB21-43ED-89DD-374C1D32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401E4-368F-4775-8A1B-1095BE55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50697-5CEA-496C-9505-2B3E2046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1703A-107E-4DA2-B6FD-C41302A9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17545-0933-4B5A-829B-1783FDD3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F888D-F3FB-4715-8961-621A92C2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F208B-1A7A-4C00-8D65-4F0221E3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AFEB8-2E35-489A-AFB7-0A02C48E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8A343-0253-462F-AB8F-9CCF8D71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41323-95A6-4974-9E8B-50D9F243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DC6C7-F657-4BC3-A5E0-323313A6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153C9-D413-4E7B-B7B3-083CC90C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D7F93-2F0D-4AD5-AEED-B85B14CD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EAE31-73DA-445A-943F-6CA68BB2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D0919-F52A-4192-B0D5-C69874CC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621AE-8D7E-4775-B56D-0E1E0977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44DB39-C4CA-4B84-A34E-C4EA0E50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AB722-D343-48A4-BE5A-FA2EB9A0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9C67C-B13A-45ED-B786-23339CD3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7DBFC-F118-4152-A9A2-4E7EB51A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72BE6F-3B41-41A6-95AA-9F5DD101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AEAED-85A3-4DBB-8AD1-984F8048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375A36-E2BF-42FC-8F4D-8BD0CFE2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6FEAFF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831540-CB92-4B74-9414-32D50165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07BCD-026F-4651-89E6-07BEF222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HARDWARE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5AAC54-1EAC-4049-BF02-C897752B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Dense hardware, clean responsibility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20A540-3C29-496C-A2E3-4962C80E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The build is complex, but each module has a clear role in the service.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206EAE-7677-43B2-9132-4781783A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8A8DB3-27BE-4836-9513-933A65A7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4706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CF2C40-8B34-438B-8BFD-F1556F89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43150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A86D57-A14D-4C90-92D7-1EFC73E1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43175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48-kit modules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449B9E-B193-4FB6-887B-EE34B0BC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0375"/>
            <a:ext cx="2686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#18 PIR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#31 TEMT6000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#25 Gas Sensor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#16 Flame Sensor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#5 Active Buzzer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Traffic Light Module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8A0D8B-293D-4AA9-8EFB-D1CD7510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52F2B0">
                <a:alpha val="44706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4FD560-905E-4D11-A543-3704BDC1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FB0775-B585-4B08-B9D4-70197100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43175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2F2B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2F2B0"/>
                </a:solidFill>
                <a:latin typeface="Aptos"/>
                <a:ea typeface="Aptos"/>
                <a:cs typeface="Aptos"/>
              </a:rPr>
              <a:t>External components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3710FA-D0D3-49BA-9145-E29EB389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00375"/>
            <a:ext cx="2686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UNO R3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ESP32 Gateway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LM35 powered from ESP32 5V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6-channel relay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12V 4-wire fan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LED + resistor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A7C2F9-0D0C-4400-8148-F56A8D7B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CD6E">
                <a:alpha val="44706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D33CE1-8D5C-4E65-9380-FA058D52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343150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4859A8-72BD-44DE-BD81-CD36E1B9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43175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CD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CD6E"/>
                </a:solidFill>
                <a:latin typeface="Aptos"/>
                <a:ea typeface="Aptos"/>
                <a:cs typeface="Aptos"/>
              </a:rPr>
              <a:t>Wiring rules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0A05B6-7EA7-4741-856D-76A9973E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0375"/>
            <a:ext cx="2686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Common ground is required.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UNO A5 to ESP32 RX2 uses divider.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Relay logic uses RELAY_ON / RELAY_OFF.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No capacitor is added in this build.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9EECF7-8CF2-4235-88DE-8AAD805E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578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11765"/>
            </a:srgbClr>
          </a:solidFill>
          <a:ln xmlns:a="http://schemas.openxmlformats.org/drawingml/2006/main" w="9525">
            <a:solidFill>
              <a:srgbClr val="FF5E7E">
                <a:alpha val="53333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D8EA2E-C24F-4592-B86A-EC9F4E81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340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5E7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5E7E"/>
                </a:solidFill>
                <a:latin typeface="Aptos"/>
                <a:ea typeface="Aptos"/>
                <a:cs typeface="Aptos"/>
              </a:rPr>
              <a:t>KEY ENGINEERING FIX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74690E-5ECF-413E-BC79-D15BF7C2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3880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LM35 became stable after moving power to ESP32 5V and adding ADC guard compensation.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B0B7C7-58F6-489C-B013-B85A499B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072231-28DE-43D8-92EF-856B38E7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Smart Classroom IoT104TC</a:t>
            </a:r>
          </a:p>
        </p:txBody>
      </p:sp>
    </p:spTree>
    <p:extLst>
      <p:ext uri="{BB962C8B-B14F-4D97-AF65-F5344CB8AC3E}">
        <p14:creationId xmlns:p14="http://schemas.microsoft.com/office/powerpoint/2010/main" val="5237504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2A9A63-672F-48EB-B725-B2D4DD16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D2D5A-D2D5-4E66-9C3B-045E2E9E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CE6B6-FA62-4659-826F-B4596444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27C7D-DAC4-4243-AE90-5E57E6B4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3CF80-4B68-49C2-8F1C-1E127029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C1F5C-B04A-4BA5-844B-1FEB102F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AB611-2564-4329-810A-36A76A85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646CA-8C22-48D8-94EF-D388A124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2B011-5681-4ECA-B459-5322B5CA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4BD36-45AD-49B6-B328-82679413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0FE97-38F4-4065-804F-7E1AF0F0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A6BC7-97E6-4A32-9BBE-51347127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15BFC-C4CB-420F-9050-0156ED2A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C5942-04D5-4C75-A560-C5EE248A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2A81E-462B-457A-8B01-D88E7706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94238-98E7-4530-B672-CF919EAA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AFF5A-7BD8-4C38-9E54-33BE3125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184AD-67FD-493B-A993-638F154B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16E2E-C95C-4A53-8478-2C26902C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CD762-FBCB-4E96-9C2E-4E3B7450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043E3-46B1-431E-BCA9-12F26BAA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E7A60-DBCA-42E5-8FBD-643D316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55474-4678-42AE-B095-DE3D1963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8B8B8C-A82A-4BEE-90B2-85891318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E7FB44-4582-4D80-A914-F772DA90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5D727A-393F-4AB6-A3DE-2629EA30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CD6E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D79D80-F38E-46FE-9BE5-3EAE9D20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1CFEB1-26DE-4C77-B55D-76B96B4E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EDGE INTELLIGENCE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87EF67-5E39-46CD-8585-CBE16533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Priority is a state machine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B9FC9-0B01-4663-B926-A08FAEC8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Mixed behavior stays predictable because safety, sensor health, manual control, cooling, lighting and saving are ordered.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A2C2B0-7FF7-43A3-AF00-CFC9CB5E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3288F7-8296-481A-9E00-F9934A17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14118"/>
            </a:srgbClr>
          </a:solidFill>
          <a:ln xmlns:a="http://schemas.openxmlformats.org/drawingml/2006/main" w="19050">
            <a:solidFill>
              <a:srgbClr val="FF5E7E">
                <a:alpha val="53333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3FF4B0-7187-4CA2-91D7-8E294AD5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5E7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5E7E"/>
                </a:solidFill>
                <a:latin typeface="Aptos"/>
                <a:ea typeface="Aptos"/>
                <a:cs typeface="Aptos"/>
              </a:rPr>
              <a:t>SAFETY_ALARM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E7FDDA-CBC2-469E-AE2C-B90C2173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86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gas/flame/button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E2AFE9-3DFF-4AE3-9208-70C69DA7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>
              <a:alpha val="14118"/>
            </a:srgbClr>
          </a:solidFill>
          <a:ln xmlns:a="http://schemas.openxmlformats.org/drawingml/2006/main" w="19050">
            <a:solidFill>
              <a:srgbClr val="B68CFF">
                <a:alpha val="53333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956B62-4C06-44F2-9C3F-352FF79E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8C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68CFF"/>
                </a:solidFill>
                <a:latin typeface="Aptos"/>
                <a:ea typeface="Aptos"/>
                <a:cs typeface="Aptos"/>
              </a:rPr>
              <a:t>SENSOR_ERROR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9B5241-219B-47B7-BA5E-5503F9E5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19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invalid sensor state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3B4BA3-8ED8-4266-B126-16863816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14118"/>
            </a:srgbClr>
          </a:solidFill>
          <a:ln xmlns:a="http://schemas.openxmlformats.org/drawingml/2006/main" w="19050">
            <a:solidFill>
              <a:srgbClr val="6FEAFF">
                <a:alpha val="53333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8E30D3-AB01-486C-BCAE-CB2D97DF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MANUAL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6D1A7B-FC80-4C91-934D-D93462D5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52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operator override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1227EB-B337-490B-BC2D-D61506EF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14118"/>
            </a:srgbClr>
          </a:solidFill>
          <a:ln xmlns:a="http://schemas.openxmlformats.org/drawingml/2006/main" w="19050">
            <a:solidFill>
              <a:srgbClr val="FFCD6E">
                <a:alpha val="53333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09E29C-C707-4DF0-B101-7165CB58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D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D6E"/>
                </a:solidFill>
                <a:latin typeface="Aptos"/>
                <a:ea typeface="Aptos"/>
                <a:cs typeface="Aptos"/>
              </a:rPr>
              <a:t>COOLING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A42D3D-F15B-4131-BB83-C8049BE4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86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temperature high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93D45F-4D81-45EA-8C7B-0AE1F3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F08B">
              <a:alpha val="14118"/>
            </a:srgbClr>
          </a:solidFill>
          <a:ln xmlns:a="http://schemas.openxmlformats.org/drawingml/2006/main" w="19050">
            <a:solidFill>
              <a:srgbClr val="78F08B">
                <a:alpha val="53333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35719C-BB2D-4397-8954-8D4AE933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F08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8F08B"/>
                </a:solidFill>
                <a:latin typeface="Aptos"/>
                <a:ea typeface="Aptos"/>
                <a:cs typeface="Aptos"/>
              </a:rPr>
              <a:t>LIGHTING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C75917-F955-425E-A58C-5502FE88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19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occupied + dark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8978CF-EF19-48DB-86E4-29BB9BB9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14118"/>
            </a:srgbClr>
          </a:solidFill>
          <a:ln xmlns:a="http://schemas.openxmlformats.org/drawingml/2006/main" w="19050">
            <a:solidFill>
              <a:srgbClr val="52F2B0">
                <a:alpha val="53333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89E8D5-494D-49C1-A979-8201AC1F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2F2B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2F2B0"/>
                </a:solidFill>
                <a:latin typeface="Aptos"/>
                <a:ea typeface="Aptos"/>
                <a:cs typeface="Aptos"/>
              </a:rPr>
              <a:t>ENERGY_SAVING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9EC40B-78BB-4E49-B9FD-AD151FDC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53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empty or bright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091BBB-EE05-4BBF-82A7-E2FACCB1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AAC">
              <a:alpha val="14118"/>
            </a:srgbClr>
          </a:solidFill>
          <a:ln xmlns:a="http://schemas.openxmlformats.org/drawingml/2006/main" w="19050">
            <a:solidFill>
              <a:srgbClr val="7E9AAC">
                <a:alpha val="53333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48472F-205E-4E58-B3D0-5F57360E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86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NORMAL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9789FB-29C0-475B-A725-82AB7DCA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86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59F5FA-9162-471F-AC9D-EC8F05F3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3810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C06861-8968-48DE-93AF-17F9B0EF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B23669-DF03-4186-829B-34288AD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90875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Dashboard explains what happened and why.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2D4A59-7CAF-4419-BE86-AA3A5BFB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81500"/>
            <a:ext cx="3000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That turns raw telemetry into an operational classroom service.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7644BF-43B5-4A54-94E1-6A828D7C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CA4214-2988-42FF-90DE-9C717B09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Smart Classroom IoT104TC</a:t>
            </a:r>
          </a:p>
        </p:txBody>
      </p:sp>
    </p:spTree>
    <p:extLst>
      <p:ext uri="{BB962C8B-B14F-4D97-AF65-F5344CB8AC3E}">
        <p14:creationId xmlns:p14="http://schemas.microsoft.com/office/powerpoint/2010/main" val="440028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E195F3-BE6C-4F78-8C23-E6851B6B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979F0-63CE-4B1A-8412-541FBE7B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B34FE-16EE-4EB5-8109-3E895CFB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D0A3C-8D0C-4A86-800B-7F82AC1E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8E132-0B0D-47BC-B3CF-65338B90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1BE80-BD02-40F6-8EC9-9291F874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CFF88-8072-4E0F-B9E0-0F8B8A41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00B27-DF57-4096-9A7F-416D3AEE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84A5A-7782-4ABD-8C8D-97B60EAE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BCA31-2B96-4382-8142-7A10EFFA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C1083-04CB-4CF4-833D-93C55D3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BC8E7-BFFD-4617-A5C8-5FF17B13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499EF-31F7-4E76-8374-093A1359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EB611-72E8-4783-83C5-B6F4A2F6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4532F-AEA6-49A7-97C3-58E00140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A8C3A-EB86-49B1-B367-A49A6665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08AE7-5ECB-403B-95FB-AA824A54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345AC-4F1F-45C7-B151-C2DB8AA7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B8908-47E0-4C7B-A362-CC2068F6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0D491-1354-4FAC-BAD1-CE967B2D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26287-DE5E-48C8-BE2E-350383E9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5A9AA-0179-4858-8F5A-517C50CA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FCAD1-92F9-4892-919B-59C23E5A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681A8-D545-4AED-9132-1A90C56E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B7FD02-85E0-4293-889B-E24E99EE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72A6CF-8835-4B74-824A-B3ECC16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5E7E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829CC8-AF86-49CE-A666-C8C3ECED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4FA9E9-01C6-4DA3-A530-1E104684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SAFETY ALARM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FB6CD7-9216-4747-9AEF-E85149A7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The highest-priority path is visible and local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7769DF-D869-46FE-886D-52AFA085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The button gives a safe live demo while gas and flame remain the real sensor paths.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67FFBD-E4C5-4B3A-B7B6-E68325A1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3374DC-F0B8-486C-9B3E-0B87D0BE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571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5E7E">
                <a:alpha val="44706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8DC690-9097-4618-8C0A-F10D223A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86025"/>
            <a:ext cx="2552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DFCE9D-9A3C-439D-B2E7-629E0308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051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11765"/>
            </a:srgbClr>
          </a:solidFill>
          <a:ln xmlns:a="http://schemas.openxmlformats.org/drawingml/2006/main" w="9525">
            <a:solidFill>
              <a:srgbClr val="FF5E7E">
                <a:alpha val="53333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36B652-86E8-48C5-8EF1-BF8F8DB1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5E7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5E7E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BDA7CB-BD44-41C7-8B01-718DE15E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04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Three inputs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845BA4-A5B6-4613-8DF4-2885A0E4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21145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gasDanger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flameDetected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demoEmergency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DD409F-0794-493C-AF87-67303542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2571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CD6E">
                <a:alpha val="44706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F7B37A-2515-441B-BDB4-2F05E6D0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86025"/>
            <a:ext cx="2552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1CB22D-A1F3-449C-8CC3-8501973D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051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11765"/>
            </a:srgbClr>
          </a:solidFill>
          <a:ln xmlns:a="http://schemas.openxmlformats.org/drawingml/2006/main" w="9525">
            <a:solidFill>
              <a:srgbClr val="FFCD6E">
                <a:alpha val="53333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2AE1FF-8B92-4155-AA46-28E066E3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7813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D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D6E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270693-B9AA-4067-89EE-CA527686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2004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MODE_SAFETY_ALARM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695584-1AF7-47CD-A726-5183E253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657600"/>
            <a:ext cx="21145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Overrides lighting, cooling and energy-saving logic immediately.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21FC03-2519-494E-91FD-70CE35DE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571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4706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75A834-7EDB-4013-A332-EB491127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2552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DBA870-630B-4A70-9EAA-42BB0B48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051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11765"/>
            </a:srgbClr>
          </a:solidFill>
          <a:ln xmlns:a="http://schemas.openxmlformats.org/drawingml/2006/main" w="9525">
            <a:solidFill>
              <a:srgbClr val="6FEAFF">
                <a:alpha val="53333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C86CBE-ABD0-4376-BFB9-F61032D8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5C9371-FD24-4CCC-9E78-06B60D59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04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Physical response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DF5881-6498-4CAD-ADEC-D25C84A4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21145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red light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pulsed buzzer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fan relay ON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PWM = 255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A9380F-C68A-4EED-9DEA-BADE62BE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95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847921-1723-4C6E-A690-1AAEA52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623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DA7B84-D372-432C-BDEA-DBB54133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6195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FC4925-0393-43C4-AEFB-75C48293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623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18E274-1598-4649-B82C-67776363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E7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5E7E"/>
                </a:solidFill>
                <a:latin typeface="Aptos"/>
                <a:ea typeface="Aptos"/>
                <a:cs typeface="Aptos"/>
              </a:rPr>
              <a:t>Demo first: press D4, then watch red light, buzzer pattern, fan response and dashboard alarm.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14140F-0742-42DC-BC71-3211D8AC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278007-8108-4356-8980-280BE41E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Smart Classroom IoT104TC</a:t>
            </a:r>
          </a:p>
        </p:txBody>
      </p:sp>
    </p:spTree>
    <p:extLst>
      <p:ext uri="{BB962C8B-B14F-4D97-AF65-F5344CB8AC3E}">
        <p14:creationId xmlns:p14="http://schemas.microsoft.com/office/powerpoint/2010/main" val="8571446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54590C-5E2D-47E1-A923-EDC542EA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2A2D3-47A6-42DC-83B5-8F9C33C0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7A72A-E2CD-4DA4-83A8-54038D26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48DBD-C584-444B-AA60-0852A769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52CEC-3EF8-4351-AD63-5D063241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A4956-4F63-4D3E-9757-EFB6B09C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47BAA-E0E8-4E96-A9E4-6D048441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DCF4F-8EE9-41DB-A891-227BB39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C1DF7-9854-4909-9E26-367D9980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78B74-9184-4273-BD36-32ED789D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37922-7B8D-462E-9762-E825A8F8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EED30-A2DB-4D28-BDD5-4986E480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851E9-04E7-4151-9DF7-E9F5460D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C7DC5-7B1F-4D67-A2CA-0AF33B66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C53B7-6BE2-4B2B-9622-C0D88FAE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90B74-A4EC-477C-91EB-36EB5BCC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4909F-0080-44D3-95D5-DB7FE4C6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4B49F-16C4-4C71-BEE2-27971946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12A8F-7034-4D20-A302-DA26FF5B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61D8B-4BB5-49D0-8A2F-28F55060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E7EAF-BF8E-4FFB-A818-81E2AE57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A1E6F-DD26-44E2-95E4-4D073E00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38679-E875-4FAE-AA44-60DFD068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ABDB6-3DF1-4CFE-9218-3862B9FD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E812C6-903F-4C4E-950C-7AD9F753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EDA125-0765-4E56-8003-DC1EC1C9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8F08B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52823-9B07-4252-84D7-775F8E44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FD40B3-08F6-42EB-AD8A-D830A2BF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COMFORT + ENERGY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792300-32BF-411A-B22D-E6513D62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Human-friendly automation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4F172-2436-4D42-9E91-5B84FFFD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The classroom avoids waste without making the controls feel abrupt.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BBB0BD-7422-410F-ACDB-E9664C4F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D3BF35-1CF4-4139-832F-769B1AF0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78F08B">
                <a:alpha val="44706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114274-B598-474D-91DB-74FE0EED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90775"/>
            <a:ext cx="4743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F08B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B241A2-2FE1-4C27-85DF-C815B77D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8F0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8F08B"/>
                </a:solidFill>
                <a:latin typeface="Aptos"/>
                <a:ea typeface="Aptos"/>
                <a:cs typeface="Aptos"/>
              </a:rPr>
              <a:t>Lighting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921CEF-6BB4-4F73-B3FD-33F47C9D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430530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Bright room: lamp stays off even if PIR sees motion.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Dark room + occupied: lamp turns on.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No occupancy timeout: lamp turns off.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FB9C3C-314F-460C-9419-0070A701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CD6E">
                <a:alpha val="44706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8C7F41-0B2D-4407-976F-68E893AB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90775"/>
            <a:ext cx="4743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27E02D-230C-488B-83D1-5DD36E8E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90800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CD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CD6E"/>
                </a:solidFill>
                <a:latin typeface="Aptos"/>
                <a:ea typeface="Aptos"/>
                <a:cs typeface="Aptos"/>
              </a:rPr>
              <a:t>Cooling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C7D516-950D-4939-B7DF-577A82BB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430530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Temperature threshold starts the relay.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PWM ramps fan intensity.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Tach RPM is interrupt-based and never blocks the system.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B2113D-37F8-4DE6-B5DE-F2E695CB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78F08B">
                <a:alpha val="44706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FECD39-8986-481A-9FD9-88F57831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200650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F08B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08096B-982D-4C1A-8BBA-A45570CA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6257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8F08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78F08B"/>
                </a:solidFill>
                <a:latin typeface="Aptos Display"/>
                <a:ea typeface="Aptos Display"/>
                <a:cs typeface="Aptos Display"/>
              </a:rPr>
              <a:t>10s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C5CE39-B42C-4A2C-8222-05A5AE89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578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occupancy timeout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56F150-44EA-4548-A93A-919CCA27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91125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CD6E">
                <a:alpha val="44706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EE767E-FF12-4037-B11C-E5B5C351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200650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BE817E-C6E3-4BE3-8019-C6CD70CE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6257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D6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CD6E"/>
                </a:solidFill>
                <a:latin typeface="Aptos Display"/>
                <a:ea typeface="Aptos Display"/>
                <a:cs typeface="Aptos Display"/>
              </a:rPr>
              <a:t>PWM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21415A-1A83-4D2B-BD01-3361E2F4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578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smooth fan path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F116A0-FE8E-4FED-9703-B980FFD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52F2B0">
                <a:alpha val="44706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BC985B-3E9E-4F40-907C-CD555271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200650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DCD1E3-6F7E-4D3C-B746-60DC0069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6257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2F2B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2F2B0"/>
                </a:solidFill>
                <a:latin typeface="Aptos Display"/>
                <a:ea typeface="Aptos Display"/>
                <a:cs typeface="Aptos Display"/>
              </a:rPr>
              <a:t>ACK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B74FBD-205E-486A-9961-6E47AA0B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578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config confirmed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8ED68D-3397-4F0C-8933-5FE8D0F7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91125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4706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02EA56-7473-4DBC-93F1-CA543498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00650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01EFE3-4BA6-4910-AAAC-3204EA14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6257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FE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6FEAFF"/>
                </a:solidFill>
                <a:latin typeface="Aptos Display"/>
                <a:ea typeface="Aptos Display"/>
                <a:cs typeface="Aptos Display"/>
              </a:rPr>
              <a:t>Local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9548A6-6B15-4CB7-81DE-A3BA7DAB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578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works offline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A15A14-5331-405E-B650-E5B9022B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F093E0-B643-43FA-A68F-E2BCF464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Smart Classroom IoT104TC</a:t>
            </a:r>
          </a:p>
        </p:txBody>
      </p:sp>
    </p:spTree>
    <p:extLst>
      <p:ext uri="{BB962C8B-B14F-4D97-AF65-F5344CB8AC3E}">
        <p14:creationId xmlns:p14="http://schemas.microsoft.com/office/powerpoint/2010/main" val="18064211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7E5051-45B7-4361-8178-08C1BCE1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2D618-7EF5-41B3-8D54-92EFE5F5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83F2B-84B7-4284-ABAC-977E65A9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65BE2-1BFD-44FB-BAE0-3318833B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1047C-1E21-4762-8959-3D409FBD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8C651-3335-405A-9C2E-4FA6360A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7842B-AE55-470E-B728-C6415D3D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A8FBE-6617-4524-8549-42FD3A28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F3BAF-6221-47DD-A9EC-15B4C653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FFBE2-635B-4C75-8E02-AFE709EA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966C6-A13E-4089-A356-D231B3FA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FF367-75CF-44E0-A694-F03E7D11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1601A-A89D-49F2-B430-F7D857EE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D1BAF-8731-4D40-8877-A832C1E6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060FC-9D5B-42D3-A22E-8064DE45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6BAC8-A25B-4F51-8764-17B78EC9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188B6-E879-471F-9A79-7003FA94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FFD4B-31B2-4294-B029-ABAF2DDB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1A887-FC3B-4DBD-BE5C-7551E521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2C581-63F2-41E8-8A21-5EF801FB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56216-5BD3-4E54-A628-13ADAF7C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CF9CF5-9217-46B4-8CFA-605078F1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04EF89-1814-4531-BD4C-3ED2B87A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A05554-8896-4F9D-A678-2F652221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E4C508-8640-4EA6-96EF-7DF7DD32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0963F-E6CB-4621-A32C-BBB85779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2F2B0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9F1654-7DFA-4E7B-A6EE-89D68B66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A0DB4B-BFB0-4C42-94DD-C5F8C6D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MQTT NETWORK LAYER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EE7224-8909-46C7-85AF-B1E82B03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Telemetry goes up; commands come back with 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F05916-41CE-46BB-93FA-55944A9A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The protocol is simple enough to debug and structured enough for a dashboard.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BD4E69-06BD-48E9-8C1F-BC91FC11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DDA2A4-BA7F-4F75-A312-CC5D48A0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2"/>
          </a:solidFill>
          <a:ln xmlns:a="http://schemas.openxmlformats.org/drawingml/2006/main" w="19050">
            <a:solidFill>
              <a:srgbClr val="6FEAFF">
                <a:alpha val="46667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5C123A-B6E0-450E-AE06-0BB2F9A4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05075"/>
            <a:ext cx="975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EAF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6FEAFF"/>
                </a:solidFill>
                <a:latin typeface="Aptos Mono"/>
                <a:ea typeface="Aptos Mono"/>
                <a:cs typeface="Aptos Mono"/>
              </a:rPr>
              <a:t>SC2,mode=SAFETY_ALARM,pir=1,light=323,temp10=286,gas=520,fan=1,pwm=255,rpm=1320,status=R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0684A3-7AF0-4351-94B4-24181834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CD6E">
                <a:alpha val="44706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E8F3D4-950F-43B5-A815-19EECE4A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7188CC-78E4-412E-854E-681D0AB4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481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11765"/>
            </a:srgbClr>
          </a:solidFill>
          <a:ln xmlns:a="http://schemas.openxmlformats.org/drawingml/2006/main" w="9525">
            <a:solidFill>
              <a:srgbClr val="FFCD6E">
                <a:alpha val="53333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59FB4B-D2A2-4306-9E8C-99997D7C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9243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D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D6E"/>
                </a:solidFill>
                <a:latin typeface="Aptos"/>
                <a:ea typeface="Aptos"/>
                <a:cs typeface="Aptos"/>
              </a:rPr>
              <a:t>UNO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36C72D-67F3-4549-9525-4A3A10AE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3434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Emit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58100B-94C4-4CF4-ABE2-A0F96647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8006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SoftwareSerial line every second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F32CF4-A3A2-4B08-8D19-86F03503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1950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52F2B0">
                <a:alpha val="44706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222FFA-8599-4C2E-B264-A62FCB3F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29025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5AE4BF-50EB-4F08-BF23-8A0CD4F5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481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11765"/>
            </a:srgbClr>
          </a:solidFill>
          <a:ln xmlns:a="http://schemas.openxmlformats.org/drawingml/2006/main" w="9525">
            <a:solidFill>
              <a:srgbClr val="52F2B0">
                <a:alpha val="53333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F2C6C0-5719-47AD-B335-F75367DE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9243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2F2B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2F2B0"/>
                </a:solidFill>
                <a:latin typeface="Aptos"/>
                <a:ea typeface="Aptos"/>
                <a:cs typeface="Aptos"/>
              </a:rPr>
              <a:t>ESP32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D14202-477B-4719-BA33-B7CAA2CA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3434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Parse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92F850-631A-4AC6-9551-6E3B9EEB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8006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Serial2 + Wi-Fi reconnect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50DA06-0967-4191-B59A-1EDF6BA7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B68CFF">
                <a:alpha val="44706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C6DFF0-0473-46DE-B8CC-A2B79DC6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29025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CC01B0-B17C-45A0-8854-245EB6F2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8481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>
              <a:alpha val="11765"/>
            </a:srgbClr>
          </a:solidFill>
          <a:ln xmlns:a="http://schemas.openxmlformats.org/drawingml/2006/main" w="9525">
            <a:solidFill>
              <a:srgbClr val="B68CFF">
                <a:alpha val="53333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8834AB-A2F8-4379-865B-26E81A23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243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8C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68CFF"/>
                </a:solidFill>
                <a:latin typeface="Aptos"/>
                <a:ea typeface="Aptos"/>
                <a:cs typeface="Aptos"/>
              </a:rPr>
              <a:t>MQTT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E593B1-204D-4D3B-BB09-7BDBE04E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434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4981DB-9393-4EBB-826B-14EACBC7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8006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JSON plus key topics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6EAA57-E795-42E3-BE69-4732D4CA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1950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4706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814112-6973-47D5-A8B5-BCBE1E43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29025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54142D-59B1-4A00-ACD7-48976F9A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8481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11765"/>
            </a:srgbClr>
          </a:solidFill>
          <a:ln xmlns:a="http://schemas.openxmlformats.org/drawingml/2006/main" w="9525">
            <a:solidFill>
              <a:srgbClr val="6FEAFF">
                <a:alpha val="53333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CCD53A-4C9B-4ED1-884F-B82E15B0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9243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4E5A02-21FB-46CA-B62B-05A3F4CD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434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Operate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98923C-3EA1-4A61-98EB-4AE96D6E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8006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Config, presets and manual control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BE4A7A-BB5F-4B05-BEA0-77CC4D88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10075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B100E8-C202-412F-AEB0-9AE7CB0B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529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6D4AD2-737D-4C72-971D-C7716EFD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0075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F1CFD8-32A8-4133-8F80-0BA50405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529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118E7F-199E-4D47-81CD-EC0EFF67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0075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5C28D7E-4951-4201-9860-34300D20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529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68C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582D7B-01B0-472E-8B5B-93F78F23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67375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2F2B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2F2B0"/>
                </a:solidFill>
                <a:latin typeface="Aptos"/>
                <a:ea typeface="Aptos"/>
                <a:cs typeface="Aptos"/>
              </a:rPr>
              <a:t>ACK loop proves the command actually landed on the UNO.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066ED9-B4C3-42F2-A1E3-074F4330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24729ED-27F4-4BC9-A339-9B5FEED5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Smart Classroom IoT104TC</a:t>
            </a:r>
          </a:p>
        </p:txBody>
      </p:sp>
    </p:spTree>
    <p:extLst>
      <p:ext uri="{BB962C8B-B14F-4D97-AF65-F5344CB8AC3E}">
        <p14:creationId xmlns:p14="http://schemas.microsoft.com/office/powerpoint/2010/main" val="1705394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C41FD8-218A-4E4B-9EDE-745DEEA4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6C79D-D9F4-4CF7-8874-65F4148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96A4D-4009-4EBC-9098-E2E1E0E6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66F1C-58EA-407E-A577-D1990AEF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5E1A4-F891-4707-AA4D-3B299496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26749-7BA1-4F89-B00F-BB3B9D54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82DE2-7490-494E-9EEF-D1EC9D8E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AD277-32F9-410D-BF4D-A5F7FC60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C7DEF-C885-4974-8D65-A59F8C0E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EE06D-A6B6-484F-91AA-7C1D2D9F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C40D9-AD3D-4C99-8E93-A48441CC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A768D-1E2B-4784-876E-0DA7F046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144A0-3EDC-40FA-B823-E48D7121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0243BB-1D4C-4083-A41E-639B7F8D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ECD45-78FB-48F3-ACF2-CDBE56BB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E9737-4327-4F81-A8C8-41F6480E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CA21F-C885-4A4E-91EA-CC862A3F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71481-FD60-4202-8A82-47442747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43E73-EB36-4FB0-B318-4B7EF3E8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C1862-6A44-494E-8C23-76D798F9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53A86-8794-449F-B089-416C1845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BA090-BA0A-4630-8B45-EF612BEC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8FD5C-7228-4D47-AF66-B1233FE7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63008-5C0A-4817-B401-F6E7148F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299CFC-EEEC-4F59-AC95-77A95055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19A51D-599D-4C2A-9743-3AED00C8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6FEAFF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7481DD-DA92-43C4-8B7C-DC8BF2EA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28860E-D504-4C5D-9EFF-4C6F347C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8D886F-2F34-461A-A52E-A59602F2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An operator console, not a raw JSON page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737B1F-2E35-4095-8525-61DC1311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Large cards, live charts, mobile access, manual mode and scene presets make the system usable.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AAAE21-B098-40E1-8F6A-65436544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8571A5-A56F-4711-9F84-3A5D1876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62484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431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c1a19b7154182"/>
          <a:srcRect xmlns:a="http://schemas.openxmlformats.org/drawingml/2006/main" l="0" t="8112" r="0" b="8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71700"/>
            <a:ext cx="6096000" cy="33337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EC0A8E-5B42-4B3B-8EAA-1BAA0771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95500"/>
            <a:ext cx="329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431"/>
              </a:srgbClr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05b2ed9284dfc"/>
          <a:srcRect xmlns:a="http://schemas.openxmlformats.org/drawingml/2006/main" l="1092" t="0" r="10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2171700"/>
            <a:ext cx="3143250" cy="15621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9CDD33-C59A-4C61-A4B6-3803F804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95500"/>
            <a:ext cx="12001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431"/>
              </a:srgbClr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0047efe354cfd"/>
          <a:srcRect xmlns:a="http://schemas.openxmlformats.org/drawingml/2006/main" l="19780" t="0" r="197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2171700"/>
            <a:ext cx="1047750" cy="33337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66AB0E-69F4-46C7-8049-AAB58E87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7195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52F2B0">
                <a:alpha val="44706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E63C18-F45C-4EDC-91F5-29DA718E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181475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E2363D-1541-4C90-91FE-200914B0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2F2B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2F2B0"/>
                </a:solidFill>
                <a:latin typeface="Aptos Display"/>
                <a:ea typeface="Aptos Display"/>
                <a:cs typeface="Aptos Display"/>
              </a:rPr>
              <a:t>Auto / Manual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BE56A4-4C4C-42BE-883D-35EF5B57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387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simple operator switch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96281D-DA02-469B-842D-4486870C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7195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CD6E">
                <a:alpha val="44706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4284FE-6838-477E-8922-EAA44DC0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81475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CC67FE-DA18-42AE-8C64-075E60C9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34340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D6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CD6E"/>
                </a:solidFill>
                <a:latin typeface="Aptos Display"/>
                <a:ea typeface="Aptos Display"/>
                <a:cs typeface="Aptos Display"/>
              </a:rPr>
              <a:t>Presets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E0F95C-36B5-48BB-8CD7-5C162DC3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8387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one-click scenes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8137FB-E8D1-4ED1-83C3-21987D9E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63A0C3-75F3-4DDA-A339-FE337AAF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Dashboard screenshots captured from the local running system.</a:t>
            </a:r>
          </a:p>
        </p:txBody>
      </p:sp>
    </p:spTree>
    <p:extLst>
      <p:ext uri="{BB962C8B-B14F-4D97-AF65-F5344CB8AC3E}">
        <p14:creationId xmlns:p14="http://schemas.microsoft.com/office/powerpoint/2010/main" val="130713736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7484A8-928B-4E78-B40F-91F8C64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C7647-0A3B-4F60-844C-0876B282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30929-1B92-49EF-A339-67A9CE99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C9B3C-E87B-4110-B69D-11E8AB90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A3853-02F8-4D73-BC4B-8F15887D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ED62C-E87E-45FF-ADB4-99819EB9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3A6A7-8984-4A5A-B1F1-FB1819B4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91CFD-2BE2-4251-AAE9-D05085AA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C64C9-4975-4E8F-AB7E-16FED7CB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91052-3F68-40D4-BBC8-376DBD1B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0425C-6090-4AE5-A426-04DB86C1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353DE-890E-48EA-B02A-E3AAF718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D9C0D-7EC7-4DFB-A419-01741211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8F4024-8BDB-4B00-9485-5059BE4B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6E40A-C73B-461F-8FD7-A02294E9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A3FA9-F013-49D0-B426-06F842D3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AFADB-ADDE-4CC4-9A75-C2227249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D6BC8-A317-4CC3-8B8E-53C852CE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3277E5-A649-49B8-A03D-DD27073F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F17FF-6B7D-43FE-A1E6-7F6E0CE0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E8087-379B-4038-A1DD-F2247C32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C3F84E-B808-46B6-B2A5-E5105368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B21B5-E156-44E8-A910-7F351F4F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7D072C-2C1E-45BD-ACDE-338A8D65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EBD444-70DF-49FC-98E4-A4199FCC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E39741-5A76-4648-97F8-894D67F1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CD6E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4FF440-9640-457E-96EB-F5BB2FF1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FC6CDF-53B9-4523-B086-3E3D5657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TELEMETRY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B00397-842E-465C-8D2C-DE36B3A8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The demo has history, not just live values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ABC6A7-6F3C-40E8-9A54-2E3C0B6D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Recorded data supports behavior explanation: modes, temperature response, fan duty and safety events.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C68C5F-A99B-4454-AE9F-8BB41CB0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1520E5-7944-4FC8-A500-9B109229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52959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431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18e19b98d4cb1"/>
          <a:stretch xmlns:a="http://schemas.openxmlformats.org/drawingml/2006/main"/>
        </p:blipFill>
        <p:spPr>
          <a:xfrm xmlns:a="http://schemas.openxmlformats.org/drawingml/2006/main">
            <a:off x="666750" y="2697892"/>
            <a:ext cx="5143500" cy="2224216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7C75B2-B8E0-462F-A2D2-36131CCF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629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431"/>
              </a:srgbClr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f9ca7ba8d401c"/>
          <a:stretch xmlns:a="http://schemas.openxmlformats.org/drawingml/2006/main"/>
        </p:blipFill>
        <p:spPr>
          <a:xfrm xmlns:a="http://schemas.openxmlformats.org/drawingml/2006/main">
            <a:off x="6381750" y="2566634"/>
            <a:ext cx="4476750" cy="2486732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48C7FE-1CB4-488A-88B4-4ED5DC0C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1975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CD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CD6E"/>
                </a:solidFill>
                <a:latin typeface="Aptos"/>
                <a:ea typeface="Aptos"/>
                <a:cs typeface="Aptos"/>
              </a:rPr>
              <a:t>9,764 samples | avg temp 28.3C | fan duty 31.5% | safety events 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26C7EA-4531-4574-8A8A-FD931944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66BE74-6E2D-4B41-B205-E227DDFA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Smart Classroom IoT104TC</a:t>
            </a:r>
          </a:p>
        </p:txBody>
      </p:sp>
    </p:spTree>
    <p:extLst>
      <p:ext uri="{BB962C8B-B14F-4D97-AF65-F5344CB8AC3E}">
        <p14:creationId xmlns:p14="http://schemas.microsoft.com/office/powerpoint/2010/main" val="6877150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A7E565-7664-47D6-AB0F-97FB6740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97028-2B74-4C38-AC6A-12A94FC4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30453-5348-4EFF-8C3A-D393B03C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E5866-4616-4D57-87C3-9E37C166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3F4B8-7A45-4EA8-9204-CE692EB6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F0D11-A83B-41FE-AB26-FA027EF9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7C0AE-8781-45C7-96D4-6D94E9A8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29864-ED85-4EFE-BC5D-F05D0A84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0A0F4-3388-40F1-8423-E1EBFEB3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1E104-46B6-4EC6-9C59-B5A2100F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DF555-BC32-4610-9AC8-2DA14AD1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EF753-AA52-48AF-8732-FECCFF12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11706-D990-477B-9D6E-1CC13D78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9714E-A0F6-4DC6-815E-8898DAB7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340B9-6E73-40C4-A213-96F4D04F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9E287-38C3-4D14-AD20-0EF9026D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2183E-7743-470C-9ED7-084ADEE2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8C709-37C1-4BE1-BBC5-9A1E045C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3C0468-B016-41CB-BCB0-83B15CEE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B4AC4-7A51-463E-A0B0-EE5CD5D7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A4D61-A2D4-4123-B73F-7313E775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DA936-EC00-46BC-B63C-85789391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62DCD-239A-4CC1-A1DC-BC834C4A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2327F5-5AF0-44D7-96FF-AC1A4E9C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50CC55-CC5B-4F38-918F-66F33961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C4F64-59DA-4947-B4B4-2547D51F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43DFFD-55C4-4EAA-BD90-4A69348C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DE8F85-8DF3-4211-9152-9B6048B2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MEASURED COMPLEXITY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5CC3AC-3F4A-40E9-B8D3-0ABDA3CD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Complexity comes from closed loops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C25940-788E-4893-A104-28432F2F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Sensors, control, gateway, dashboard, persistence and AI all interact with the same physical system.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194C5A-55E2-4825-8F79-FB91A74D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1186E2-34CB-4EEF-8D3C-C26F21F3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1054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431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fbc42cedf4123"/>
          <a:stretch xmlns:a="http://schemas.openxmlformats.org/drawingml/2006/main"/>
        </p:blipFill>
        <p:spPr>
          <a:xfrm xmlns:a="http://schemas.openxmlformats.org/drawingml/2006/main">
            <a:off x="685800" y="2387708"/>
            <a:ext cx="4953000" cy="2749335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B9D81A-8641-4D10-8E9B-9F0FC2E8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4706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AB34DB-5D64-4486-952E-C9B9289C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9552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5887A8-CD8D-4E4B-939C-A9E80312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FE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6FEAFF"/>
                </a:solidFill>
                <a:latin typeface="Aptos Display"/>
                <a:ea typeface="Aptos Display"/>
                <a:cs typeface="Aptos Display"/>
              </a:rPr>
              <a:t>9,764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D23619-1558-471B-A73C-55465A44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telemetry samples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ACD42C-016E-4F83-BE6C-9105475E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CD6E">
                <a:alpha val="44706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E174E9-013F-4601-9838-86116BE9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9552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960934-B21B-4600-97DF-FB4850E6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D6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CD6E"/>
                </a:solidFill>
                <a:latin typeface="Aptos Display"/>
                <a:ea typeface="Aptos Display"/>
                <a:cs typeface="Aptos Display"/>
              </a:rPr>
              <a:t>12+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0FC475-FE76-460D-8B34-087EBB14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MQTT topics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9058AD-3E92-4D85-A8B6-FB52934A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B68CFF">
                <a:alpha val="44706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F65043-53BB-4A71-98DB-9C53A54D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2427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AFCFB0-EC0C-4F65-BB38-A78285B6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68C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B68CFF"/>
                </a:solidFill>
                <a:latin typeface="Aptos Display"/>
                <a:ea typeface="Aptos Display"/>
                <a:cs typeface="Aptos Display"/>
              </a:rPr>
              <a:t>2-way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7C0FD3-B8E1-4966-AD46-8D032C80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UART command + ACK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5D1371-AF34-417C-AB0E-89FF3B06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5E7E">
                <a:alpha val="44706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B2BD46-F827-4C3C-BDF8-7B0F613B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2427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FE92AC-3B40-4410-8B85-6624CA51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5E7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5E7E"/>
                </a:solidFill>
                <a:latin typeface="Aptos Display"/>
                <a:ea typeface="Aptos Display"/>
                <a:cs typeface="Aptos Display"/>
              </a:rPr>
              <a:t>Local-first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696E63-EB59-439A-BDAE-F5D64BFB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81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safety path offline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75F291-59AC-4FC5-85BC-A060D4B1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43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52F2B0">
                <a:alpha val="44706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34153F-9007-4737-B1B4-61943543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153025"/>
            <a:ext cx="217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540801-E610-4701-B91A-C04EA412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14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2F2B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2F2B0"/>
                </a:solidFill>
                <a:latin typeface="Aptos Display"/>
                <a:ea typeface="Aptos Display"/>
                <a:cs typeface="Aptos Display"/>
              </a:rPr>
              <a:t>34/34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B2DCF3-AD77-4103-900A-E8BDAE8F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10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delivery self-check PASS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DAD097-6F80-434E-9F51-37E2F671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56F03E-60A2-4ADC-BA22-84450C13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Smart Classroom IoT104TC</a:t>
            </a:r>
          </a:p>
        </p:txBody>
      </p:sp>
    </p:spTree>
    <p:extLst>
      <p:ext uri="{BB962C8B-B14F-4D97-AF65-F5344CB8AC3E}">
        <p14:creationId xmlns:p14="http://schemas.microsoft.com/office/powerpoint/2010/main" val="55852634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2F1E6D-B3BD-4558-A3D9-8C9B74E1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CE7A7-201E-49DB-9464-98A225BD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1C765-77FA-4FAC-94A9-C4255C21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58EBF-9306-4E20-93AF-F2259472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548E1-F06F-4019-BA07-65B9AF6D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7ECDA-B30A-4D16-9898-26469F21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30FEB-7F26-4C18-A1FD-46E0D24C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4F5CA-62D1-4352-AA31-50007C16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E1782-E0E9-444D-AA86-E2693B60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C8FFB-E384-415C-99EE-0A342031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8F425-E2AF-4B11-A338-ED9E2144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C9D1F-AC28-45E7-8E73-7B89D138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8CB32-05CA-4588-B6DB-D92BF39B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A0599-82C9-485B-8689-9DB09AD5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25F35-2519-4F9A-8FC1-3B27D602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58205-894F-4196-A8DB-A6F3501F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0B5B1-4802-482F-A8C9-442E8829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CA1721-3DE0-437D-AB46-5020116C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7EB2E-D5AB-44DC-883A-9DDE39EB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E9E6E-B9E3-4FC7-B6F1-9D5647BE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201B6-E7E9-4383-BB47-95DE0C99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326F71-87C4-4F5A-BF5D-B9BDB126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8EF1DC-9E55-4BC5-966E-2C691E71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326E5-2D48-404C-8D63-CABF5FC6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383BEA-769C-451D-B44A-6EB163EB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9DF98D-4356-4313-89CC-1A6CD3F1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F9CFF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7ADDB9-C015-40AF-9418-280B8222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BC1B59-8A7A-463C-85EB-6593A80F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AI OPERATIONS LAYER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75BEA9-93A7-46C3-8867-C7FC1F27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Natural language becomes structured control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BF0CFC-DAF4-4566-A6EE-48844FA9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AI is useful because it turns vague operator intent into ordered tasks and timed actions.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3A77EA-B72E-4939-A9C9-C2DBD7AE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BE1EEE-F12B-47E5-B0E0-73AD3BE5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5010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431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2beea10c04498"/>
          <a:srcRect xmlns:a="http://schemas.openxmlformats.org/drawingml/2006/main" l="6910" t="0" r="69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81250"/>
            <a:ext cx="4857750" cy="28575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98CF9B-50F7-4D2B-A533-B3DD967F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161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4706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2596F0-9923-4B77-8FFA-24434348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90775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F55CCC-958E-4C1B-B152-DFB78FB1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11765"/>
            </a:srgbClr>
          </a:solidFill>
          <a:ln xmlns:a="http://schemas.openxmlformats.org/drawingml/2006/main" w="9525">
            <a:solidFill>
              <a:srgbClr val="6FEAFF">
                <a:alpha val="53333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8ABD5F-1C39-426A-9162-8794359F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Voice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254A11-BDAB-4F93-8230-D90911F4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E9B7C5-8666-49E4-BDA0-C19375BD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Browser mic input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A2A841-DEAB-4501-912B-4C868A7E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161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52F2B0">
                <a:alpha val="44706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2E5D49-8CC4-4C02-AB05-527DCCFF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90775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096C0F-B742-430A-90BE-44798B75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098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11765"/>
            </a:srgbClr>
          </a:solidFill>
          <a:ln xmlns:a="http://schemas.openxmlformats.org/drawingml/2006/main" w="9525">
            <a:solidFill>
              <a:srgbClr val="52F2B0">
                <a:alpha val="53333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F91F83-245C-4EA3-8313-5B72EE94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860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2F2B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2F2B0"/>
                </a:solidFill>
                <a:latin typeface="Aptos"/>
                <a:ea typeface="Aptos"/>
                <a:cs typeface="Aptos"/>
              </a:rPr>
              <a:t>STT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E7E975-8EFD-4F0F-B0DC-5BCA837F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1051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FDC7BC-5E19-45F8-8CBA-A139D96E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5623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faster-whisper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B3B01A-D8D9-43AA-994E-835642AD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161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B68CFF">
                <a:alpha val="44706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94D309-B9AF-4390-ACAF-1ADC09DE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390775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AA96C3-77B3-4397-89E7-43F54E19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098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>
              <a:alpha val="11765"/>
            </a:srgbClr>
          </a:solidFill>
          <a:ln xmlns:a="http://schemas.openxmlformats.org/drawingml/2006/main" w="9525">
            <a:solidFill>
              <a:srgbClr val="B68CFF">
                <a:alpha val="53333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D5D9DA-8825-4F26-A76E-DAE731D9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860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8C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68CFF"/>
                </a:solidFill>
                <a:latin typeface="Aptos"/>
                <a:ea typeface="Aptos"/>
                <a:cs typeface="Aptos"/>
              </a:rPr>
              <a:t>Qwen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54C26A-158F-42FB-B737-BB89A77A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051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B7E25E-7F4E-44A2-B33A-6512191C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5623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structured tasks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E478F8-A895-4210-B44E-7D4034B0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19450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2FE76C-C0D3-4D4A-8710-2C3B7EFC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623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58F823-372A-4659-9C63-74CEE5A3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19450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0AAC5C-AEAD-4D78-AD09-9B01063B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623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1C0798-8ACF-492B-A4B2-8D86EFA1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342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CD6E">
                <a:alpha val="44706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BBE238-50AC-47D3-B486-080654C5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581525"/>
            <a:ext cx="3409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6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05FBEF-8015-4425-B58E-8841FB12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815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CD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CD6E"/>
                </a:solidFill>
                <a:latin typeface="Aptos"/>
                <a:ea typeface="Aptos"/>
                <a:cs typeface="Aptos"/>
              </a:rPr>
              <a:t>Timeline automation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5C2759-C897-4704-9C4F-98FF4B7C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38750"/>
            <a:ext cx="2971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Example: switch to manual mode in three minutes. Finished tasks clear automatically.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4890BE-90AE-4713-9F12-5D6A64AD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7200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5E7E">
                <a:alpha val="44706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D672A7-F5AB-460F-941B-E54A1456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581525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735359-254A-4E20-A183-1FFB6CCE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815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5E7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5E7E"/>
                </a:solidFill>
                <a:latin typeface="Aptos"/>
                <a:ea typeface="Aptos"/>
                <a:cs typeface="Aptos"/>
              </a:rPr>
              <a:t>Preference data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3CD9D7-1F08-4E4D-86C9-E35018E6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2387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Manual overrides become future comfort evidence.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23BEA1-9324-4583-8EF6-378D3793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38ED62-352A-4872-876B-7125B821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Smart Classroom IoT104TC</a:t>
            </a:r>
          </a:p>
        </p:txBody>
      </p:sp>
    </p:spTree>
    <p:extLst>
      <p:ext uri="{BB962C8B-B14F-4D97-AF65-F5344CB8AC3E}">
        <p14:creationId xmlns:p14="http://schemas.microsoft.com/office/powerpoint/2010/main" val="8695363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3117B1-0C71-43F8-8F17-53319B79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18C24-1B21-4375-81AA-7E54AE82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EFE72-7354-47FA-8B6A-01CF441F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42A28-0DA6-4956-B35D-39864081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DAA41-D2D4-4F33-8054-CDBAB4B7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19E61-1C2E-4118-A691-92521FB4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169F5-9D2C-40D3-9ACB-352C5872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8BB73-9986-422C-85DA-F915406D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5F5F0-2DA7-42A3-A126-66AF99B0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15EB9-28EB-4201-8F49-AF36C66E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1DEAD-6B39-4EEC-95D1-665E7DA1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47CCC-5145-408F-B3F0-AB11A061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445CA-32B4-4BEA-8492-527912DF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23144-18C3-418A-A143-59F65C68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FE600-038F-4CC8-B640-6C109782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1A0EF-A4A8-4924-B364-D762A026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B9153-2BB6-4D10-BAC4-ADD87367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8D3FB-3AA4-4274-8A5D-08EC82B8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37C48-7770-47A6-BB45-357DE369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FEEFF-EB9D-4A0F-8504-61F9610F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1CB49-1582-4F5D-906B-EAF24DB6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878466-60E3-47B9-9D53-CB0EEF07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2BFACD-75B3-4021-B806-CB3A5615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45D095-E023-4DC7-838E-130065D8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CA478B-94C2-43CD-BED5-CF764472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A9C0F6-AEA1-467F-9880-D342F256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2F2B0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28BEF-6BED-43B4-ADD7-FA061D02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536D10-174C-4A20-AEAC-358779AE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SECURITY, PRIVACY &amp;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796F7E-F369-49C6-BB64-41A9BF3A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Demo-friendly, but risk-aware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31B672-F320-4502-A464-3F838F94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The project separates safety-critical local control from network convenience and AI assistance.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56CACA-C517-4BBE-BFBC-832CB44F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BECACF-AFF7-4E43-A441-EB40B9B7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5E7E">
                <a:alpha val="44706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21F858-DCBC-4EAE-A1CF-9F2EFED4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8602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3A7B19-6B55-4344-8523-9D406216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5E7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5E7E"/>
                </a:solidFill>
                <a:latin typeface="Aptos"/>
                <a:ea typeface="Aptos"/>
                <a:cs typeface="Aptos"/>
              </a:rPr>
              <a:t>Safety boundary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90CA22-C7E6-4EE2-A4D5-FC8BFBBC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6860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Safety alarm, buzzer, red light and fan response are local on UNO.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67D5A3-5511-4A92-B9B1-FB8BACA1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4706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BE3D7C-908F-4B00-B5D2-59C4E4D7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8602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DBD342-DBFC-474D-B274-B5C8DD8C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86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Privacy boundary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A41426-8322-4E1F-BBDF-2FD23FA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43250"/>
            <a:ext cx="26860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Microphone is user-triggered and requires browser permission.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BC081B-13D6-4866-8A31-D55A790D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52F2B0">
                <a:alpha val="44706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14C2F9-C55C-4046-9D0B-6D86A6EE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8602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0A5F15-635B-4CA6-A20F-C89ED7FC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2F2B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2F2B0"/>
                </a:solidFill>
                <a:latin typeface="Aptos"/>
                <a:ea typeface="Aptos"/>
                <a:cs typeface="Aptos"/>
              </a:rPr>
              <a:t>Operations boundary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B500DF-E30E-4452-B6CD-06921FEF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26860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MQTT status, ACK logs, persistence and self-check reduce demo risk.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DC9D1A-AAEE-400C-8979-309A5285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72125"/>
            <a:ext cx="952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CD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CD6E"/>
                </a:solidFill>
                <a:latin typeface="Aptos"/>
                <a:ea typeface="Aptos"/>
                <a:cs typeface="Aptos"/>
              </a:rPr>
              <a:t>Production hardening path: authenticated MQTT, TLS, enclosure, fuse, isolation and power filtering.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0B523E-578B-4136-B2A9-A99DE79F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ABDB17-42CD-4B12-9AC8-3B412509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Smart Classroom IoT104TC</a:t>
            </a:r>
          </a:p>
        </p:txBody>
      </p:sp>
    </p:spTree>
    <p:extLst>
      <p:ext uri="{BB962C8B-B14F-4D97-AF65-F5344CB8AC3E}">
        <p14:creationId xmlns:p14="http://schemas.microsoft.com/office/powerpoint/2010/main" val="59148912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0B0DB5-7F67-4828-A70F-652C3A88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817F7-EDAD-4E64-B39A-341A34D0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9B025-1B8A-48A1-958F-5082250F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AB51E-D7FD-45B6-86D5-07BB489A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8F383-9DB5-465F-9D14-3AAACD19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2D63C-5288-451C-8819-0ACCE8E1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4B2D2-BE1F-4D05-8079-6ED9FE7C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82410-5947-4A77-8E77-F0480040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8F8AD-E84A-4520-8625-9CCBA0D0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C5F5C-64A0-4035-BFDA-E580314A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1946E-0EA5-4D1B-83EE-C7C0DECB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56E92-98FE-4920-8847-0536C044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7D4EE-9B50-478A-B02D-17976AD1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7C118-11B7-49C0-8FEF-B734E8C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4CBFF-E775-458B-893B-33834757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21437-F5E7-4B0B-899A-C58D2B7D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008BB-A89B-434F-879D-2B96D0F8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BBFE9-637F-4831-8854-25AC3188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6017C-7381-44A2-B546-0D975245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8822B-6CE7-48D8-9F8E-CF4EEA51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5B0FF-9034-45F1-AA19-375A0826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B4948-F7D5-4212-A495-E923DEFA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7D35D-43E0-41A8-AF35-13CED52A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1C70C0-B029-4C5A-9BC1-62D86712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6037B1-7738-4F3F-84FA-8BDEA75B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E3A488-5C0C-4CC1-AD36-0FC58DBC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6FEAFF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B2C67C-AE63-4007-A9F2-9E0CE4B6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5FDE6-3DD5-4EC5-9A0C-091F110B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DEMO CHOREOGRAPHY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337279-5EE9-4230-8C6C-F5D3392B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Show the strongest engineering first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418C3F-CE17-40D4-9B80-5E882639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The audience should see safety and edge control before dashboard polish and AI features.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399079-01E1-48B5-856D-8FAFAD2A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4117CF-AB3A-442E-BAE8-D36FFB5B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FF5E7E">
                <a:alpha val="44706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39ED1F-65D6-42D3-A4BB-CBA2791F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86025"/>
            <a:ext cx="1933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D31AE0-20EE-4C4B-BF54-4AEA3A1E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11765"/>
            </a:srgbClr>
          </a:solidFill>
          <a:ln xmlns:a="http://schemas.openxmlformats.org/drawingml/2006/main" w="9525">
            <a:solidFill>
              <a:srgbClr val="FF5E7E">
                <a:alpha val="53333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391D3B-FA24-4D49-B5B3-04C1669B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5E7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5E7E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45110E-EE27-461A-BA4A-85A37B53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57DF7D-89CE-40C0-A6A3-43C0156D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1495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button -&gt; red light -&gt; buzzer -&gt; fan high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2DFF86-B309-451A-B21B-AC751CD1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76500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4706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33C04A-83DF-47F8-A0C4-5EEF9647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86025"/>
            <a:ext cx="1933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C80093-8944-4B22-B798-D1939620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051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11765"/>
            </a:srgbClr>
          </a:solidFill>
          <a:ln xmlns:a="http://schemas.openxmlformats.org/drawingml/2006/main" w="9525">
            <a:solidFill>
              <a:srgbClr val="6FEAFF">
                <a:alpha val="53333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06B098-47C0-45AB-B063-90DF0F2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813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P2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6AECB6-176F-47AB-9EC2-0CAAE691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00400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3088C5-3097-49D6-8C32-4512D49B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57600"/>
            <a:ext cx="1495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UNO local controller and priority modes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CB827D-4CF2-4D70-8995-A63590A6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78F08B">
                <a:alpha val="44706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436E86-178A-4627-A4C1-2E4DD494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486025"/>
            <a:ext cx="1933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F08B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F95FD8-AF9A-4BF9-B44B-8DA85C54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051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F08B">
              <a:alpha val="11765"/>
            </a:srgbClr>
          </a:solidFill>
          <a:ln xmlns:a="http://schemas.openxmlformats.org/drawingml/2006/main" w="9525">
            <a:solidFill>
              <a:srgbClr val="78F08B">
                <a:alpha val="53333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AB8BF1-0ED5-4D74-B2D8-1D118F22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813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F08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8F08B"/>
                </a:solidFill>
                <a:latin typeface="Aptos"/>
                <a:ea typeface="Aptos"/>
                <a:cs typeface="Aptos"/>
              </a:rPr>
              <a:t>P3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E0DA95-C6A3-4A6B-B376-FB802332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00400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Energy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4EBD00-4DD3-4F9B-A049-A73C8F78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57600"/>
            <a:ext cx="1495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PIR + light + temp drive lamp and fan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C72307-CDED-4810-94B2-52B07324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76500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52F2B0">
                <a:alpha val="44706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F3B486-7328-4D60-BE94-C5398CE3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86025"/>
            <a:ext cx="1933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B02CE6-51FF-46F1-88DD-5A978FE3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7051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11765"/>
            </a:srgbClr>
          </a:solidFill>
          <a:ln xmlns:a="http://schemas.openxmlformats.org/drawingml/2006/main" w="9525">
            <a:solidFill>
              <a:srgbClr val="52F2B0">
                <a:alpha val="53333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3067C0-4649-4C89-BBBE-3FBFC57B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7813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2F2B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2F2B0"/>
                </a:solidFill>
                <a:latin typeface="Aptos"/>
                <a:ea typeface="Aptos"/>
                <a:cs typeface="Aptos"/>
              </a:rPr>
              <a:t>P4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3DD2A1-5EDC-4C79-838F-F594AF67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200400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IoT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9AF2F4-24BA-4D89-80BD-F1934594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57600"/>
            <a:ext cx="1495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UART, MQTT topics and ACK command loop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1833BA-67F4-4ED4-92EB-EBE2410A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B68CFF">
                <a:alpha val="44706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6561BE-B192-4DF8-A1B5-B4CA0796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486025"/>
            <a:ext cx="1933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E63AF3-20D2-4590-8C14-D0A26EEE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051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>
              <a:alpha val="11765"/>
            </a:srgbClr>
          </a:solidFill>
          <a:ln xmlns:a="http://schemas.openxmlformats.org/drawingml/2006/main" w="9525">
            <a:solidFill>
              <a:srgbClr val="B68CFF">
                <a:alpha val="53333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DC3521-8F01-4A28-85D8-90651351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813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8C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68CFF"/>
                </a:solidFill>
                <a:latin typeface="Aptos"/>
                <a:ea typeface="Aptos"/>
                <a:cs typeface="Aptos"/>
              </a:rPr>
              <a:t>P5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F9466C-1D5B-4953-9266-E6E4E5FF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0400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A92C6DE-CA7D-47F7-8217-C91CC802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57600"/>
            <a:ext cx="1495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voice, Qwen, timeline and data preference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EACC9A-DD1B-420B-A122-1B69BDA9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0520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0C616D-E2BE-4D67-A347-41CD9331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480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5E7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1AD9B69-B190-41E7-A2F2-58BB71F9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0520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AF56C88-B74D-41E1-87BE-8F5D7E1D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4480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1B60751-0B44-4AAE-BEBD-5780ECB2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0520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F08B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A51FF43-A899-4CBE-89C6-4CF4568B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480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F08B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91EC87-5C22-45C4-93D5-9582B3F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0520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B181066-B138-4CFF-A9CD-188AD8FA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4480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7B9ABD-163E-4A81-9C3B-A8A5659E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Do not open with AI. Open with physical safety response.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0554D1-2377-4355-A3FF-55139A9B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74508C8-044A-423B-850E-F6709F78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Smart Classroom IoT104TC</a:t>
            </a:r>
          </a:p>
        </p:txBody>
      </p:sp>
    </p:spTree>
    <p:extLst>
      <p:ext uri="{BB962C8B-B14F-4D97-AF65-F5344CB8AC3E}">
        <p14:creationId xmlns:p14="http://schemas.microsoft.com/office/powerpoint/2010/main" val="14918379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50AA90-F46B-428C-8E31-600B0DB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90148-9DEA-4EDA-B8EA-16A7B4D1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B12"/>
              </a:gs>
              <a:gs pos="52000">
                <a:srgbClr val="071722"/>
              </a:gs>
              <a:gs pos="100000">
                <a:srgbClr val="10152A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9DA70-BE51-472D-9244-ACFF332E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8E2FC-09F4-4454-B98B-51322FB8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B7957-FAF5-4C8F-8BDB-F4C5E9F1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46330-1AD2-4785-B108-EAD033D5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FF3F3-477E-4093-A91E-E9A5D5A1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3CFE1-E40E-495A-BC9A-04BAC5B2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56CB3-D3C6-4F86-9BB5-33B023A1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C225D-F50C-4DF0-994E-4500EDAA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74F94-AD4F-4591-A729-0F342C9D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815C3-6755-4231-8DDF-1C60C4D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6CB9F-46B1-4724-82C9-EF8F4FC4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29EBC-897D-44D2-9444-7131DB7E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60194-415C-49E8-BAEF-7F6F8EC6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966C6-E0EB-4C01-BF80-8CF62F27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67421-194A-4A54-8AAC-524DED2E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A40EF-53DB-492C-B637-2440D0A9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52EF2-39A6-4490-BF8D-50293142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00557-AF1E-4907-BE60-B6696E35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EE028-8CAA-4B30-89F2-D32ECC0D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1F217-8728-42EF-8E84-06F0FE06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DBD583-76F8-4BBF-BB13-7C6C11C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8FF54-BD0F-42B4-BB24-BD4AA31E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554D3-A838-48E8-AA95-52CF2E4C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D06CE9-55FA-4192-8BA6-DB2C96CF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-18097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20784"/>
                </a:srgbClr>
              </a:gs>
              <a:gs pos="70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2683F5-759F-4D36-931F-1FA37237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0" y="46672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68CFF">
                  <a:alpha val="14118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3C58F-F286-4571-814D-97829815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REFERENCES + SELF-CHECK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C4292D-36E9-4116-8D4B-F461099C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CFF"/>
                </a:solidFill>
                <a:latin typeface="Aptos Display"/>
                <a:ea typeface="Aptos Display"/>
                <a:cs typeface="Aptos Display"/>
              </a:rPr>
              <a:t>Ready to inspect, rebuild and present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FB4EE-DC98-459D-A62D-6FD0FEFA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The final package includes sources, assembly materials, scripts and a repeatable delivery check.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6DB921-501F-4AB2-BC3B-67BD560E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9AA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DBE636-26FA-4374-9A6A-05979407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6FEAFF">
                <a:alpha val="44706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E9E52F-41D7-4E30-A886-5979BE69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43150"/>
            <a:ext cx="4743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A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754BE2-8570-4409-8F8A-2F9172C6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43175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EA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FEAFF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25322F-8393-49A2-96ED-FD5196C3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0375"/>
            <a:ext cx="4305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Arduino UNO R3 docs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Espressif Arduino-ESP32 Serial docs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Eclipse Mosquitto config docs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Arduino PubSubClient docs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Texas Instruments LM35 page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77E39A-953D-4A7C-A431-AD0B9ABA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6">
              <a:alpha val="90196"/>
            </a:srgbClr>
          </a:solidFill>
          <a:ln xmlns:a="http://schemas.openxmlformats.org/drawingml/2006/main" w="19050">
            <a:solidFill>
              <a:srgbClr val="52F2B0">
                <a:alpha val="44706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07463D-0521-4CD1-8481-AB0879D2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43150"/>
            <a:ext cx="4743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F2B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31834E-55C7-4D7E-B431-6DD9276C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43175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2F2B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2F2B0"/>
                </a:solidFill>
                <a:latin typeface="Aptos"/>
                <a:ea typeface="Aptos"/>
                <a:cs typeface="Aptos"/>
              </a:rPr>
              <a:t>Self-check gates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450454-4ADA-4CA9-8AE4-2FF9B939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0375"/>
            <a:ext cx="4305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PPT structure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required docs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firmware presence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secret scan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Node/Python syntax</a:t>
            </a:r>
          </a:p>
          <a:p xmlns:a="http://schemas.openxmlformats.org/drawingml/2006/main">
            <a:pPr algn="l">
              <a:defRPr sz="1650" b="0">
                <a:solidFill>
                  <a:srgbClr val="B9D2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D2E2"/>
                </a:solidFill>
                <a:latin typeface="Aptos"/>
                <a:ea typeface="Aptos"/>
                <a:cs typeface="Aptos"/>
              </a:rPr>
              <a:t>UNO + ESP32 compile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3B8672-FB8E-4A04-BE02-F0E26DD9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C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7FCFF"/>
                </a:solidFill>
                <a:latin typeface="Aptos"/>
                <a:ea typeface="Aptos"/>
                <a:cs typeface="Aptos"/>
              </a:rPr>
              <a:t>Final claim: a local-first IoT classroom controller with safety, energy saving, operations and evidence-backed intelligence.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EE827A-1639-4F21-AB0A-ADC9E913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94F7BF-B247-4E6C-8723-07558022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E9AA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E9AAC"/>
                </a:solidFill>
                <a:latin typeface="Aptos"/>
                <a:ea typeface="Aptos"/>
                <a:cs typeface="Aptos"/>
              </a:rPr>
              <a:t>Smart Classroom IoT104TC final presentation package</a:t>
            </a:r>
          </a:p>
        </p:txBody>
      </p:sp>
    </p:spTree>
    <p:extLst>
      <p:ext uri="{BB962C8B-B14F-4D97-AF65-F5344CB8AC3E}">
        <p14:creationId xmlns:p14="http://schemas.microsoft.com/office/powerpoint/2010/main" val="219592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2026-05-24T12:59:10.5560000Z</dcterms:created>
  <dcterms:modified xsi:type="dcterms:W3CDTF">2026-05-24T12:59:10.5560000Z</dcterms:modified>
</coreProperties>
</file>