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a5020fb02e4e59" /><Relationship Type="http://schemas.openxmlformats.org/officeDocument/2006/relationships/extended-properties" Target="/docProps/app.xml" Id="R95c82884b2cf41b9" /><Relationship Type="http://schemas.openxmlformats.org/officeDocument/2006/relationships/officeDocument" Target="/ppt/presentation.xml" Id="Rf9950da22c734d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f7d1ffdd7c4eea"/>
  </p:sldMasterIdLst>
  <p:notesMasterIdLst>
    <p:notesMasterId xmlns:r="http://schemas.openxmlformats.org/officeDocument/2006/relationships" r:id="R35b65bd6d6ac410d"/>
  </p:notesMasterIdLst>
  <p:sldIdLst>
    <p:sldId xmlns:r="http://schemas.openxmlformats.org/officeDocument/2006/relationships" id="256" r:id="R2c017c9c72704624"/>
    <p:sldId xmlns:r="http://schemas.openxmlformats.org/officeDocument/2006/relationships" id="257" r:id="R2d608989b32947ae"/>
    <p:sldId xmlns:r="http://schemas.openxmlformats.org/officeDocument/2006/relationships" id="258" r:id="R5184cf3d37c3407c"/>
    <p:sldId xmlns:r="http://schemas.openxmlformats.org/officeDocument/2006/relationships" id="259" r:id="R6ae67186b7044b7f"/>
    <p:sldId xmlns:r="http://schemas.openxmlformats.org/officeDocument/2006/relationships" id="260" r:id="R5a9c650849d84e4d"/>
    <p:sldId xmlns:r="http://schemas.openxmlformats.org/officeDocument/2006/relationships" id="261" r:id="R99e8e6e35a8e4558"/>
    <p:sldId xmlns:r="http://schemas.openxmlformats.org/officeDocument/2006/relationships" id="262" r:id="Ra9e6895b886f4ba7"/>
    <p:sldId xmlns:r="http://schemas.openxmlformats.org/officeDocument/2006/relationships" id="263" r:id="R503f48b195e844b4"/>
    <p:sldId xmlns:r="http://schemas.openxmlformats.org/officeDocument/2006/relationships" id="264" r:id="R44969b1f3ba3403a"/>
    <p:sldId xmlns:r="http://schemas.openxmlformats.org/officeDocument/2006/relationships" id="265" r:id="Rd1bd331092d4490b"/>
    <p:sldId xmlns:r="http://schemas.openxmlformats.org/officeDocument/2006/relationships" id="266" r:id="R7452829cbf6343c9"/>
    <p:sldId xmlns:r="http://schemas.openxmlformats.org/officeDocument/2006/relationships" id="267" r:id="R4c65a05294f54510"/>
    <p:sldId xmlns:r="http://schemas.openxmlformats.org/officeDocument/2006/relationships" id="268" r:id="Rb0dabefe3cce4dff"/>
    <p:sldId xmlns:r="http://schemas.openxmlformats.org/officeDocument/2006/relationships" id="269" r:id="R8ead4bd2a4664e3b"/>
    <p:sldId xmlns:r="http://schemas.openxmlformats.org/officeDocument/2006/relationships" id="270" r:id="R971a4f1bf218413d"/>
    <p:sldId xmlns:r="http://schemas.openxmlformats.org/officeDocument/2006/relationships" id="271" r:id="R043bab3e34ef409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f7d1ffdd7c4eea" /><Relationship Type="http://schemas.openxmlformats.org/officeDocument/2006/relationships/theme" Target="/ppt/theme/theme1.xml" Id="R60c766c68c7d4362" /><Relationship Type="http://schemas.openxmlformats.org/officeDocument/2006/relationships/notesMaster" Target="/ppt/notesMasters/notesMaster1.xml" Id="R35b65bd6d6ac410d" /><Relationship Type="http://schemas.openxmlformats.org/officeDocument/2006/relationships/presProps" Target="/ppt/presProps.xml" Id="Raf8a9095045745db" /><Relationship Type="http://schemas.openxmlformats.org/officeDocument/2006/relationships/viewProps" Target="/ppt/viewProps.xml" Id="R57bbcad176c64bb9" /><Relationship Type="http://schemas.openxmlformats.org/officeDocument/2006/relationships/tableStyles" Target="/ppt/tableStyles.xml" Id="R30f323187893456e" /><Relationship Type="http://schemas.openxmlformats.org/officeDocument/2006/relationships/slide" Target="/ppt/slides/slide1.xml" Id="R2c017c9c72704624" /><Relationship Type="http://schemas.openxmlformats.org/officeDocument/2006/relationships/slide" Target="/ppt/slides/slide2.xml" Id="R2d608989b32947ae" /><Relationship Type="http://schemas.openxmlformats.org/officeDocument/2006/relationships/slide" Target="/ppt/slides/slide3.xml" Id="R5184cf3d37c3407c" /><Relationship Type="http://schemas.openxmlformats.org/officeDocument/2006/relationships/slide" Target="/ppt/slides/slide4.xml" Id="R6ae67186b7044b7f" /><Relationship Type="http://schemas.openxmlformats.org/officeDocument/2006/relationships/slide" Target="/ppt/slides/slide5.xml" Id="R5a9c650849d84e4d" /><Relationship Type="http://schemas.openxmlformats.org/officeDocument/2006/relationships/slide" Target="/ppt/slides/slide6.xml" Id="R99e8e6e35a8e4558" /><Relationship Type="http://schemas.openxmlformats.org/officeDocument/2006/relationships/slide" Target="/ppt/slides/slide7.xml" Id="Ra9e6895b886f4ba7" /><Relationship Type="http://schemas.openxmlformats.org/officeDocument/2006/relationships/slide" Target="/ppt/slides/slide8.xml" Id="R503f48b195e844b4" /><Relationship Type="http://schemas.openxmlformats.org/officeDocument/2006/relationships/slide" Target="/ppt/slides/slide9.xml" Id="R44969b1f3ba3403a" /><Relationship Type="http://schemas.openxmlformats.org/officeDocument/2006/relationships/slide" Target="/ppt/slides/slide10.xml" Id="Rd1bd331092d4490b" /><Relationship Type="http://schemas.openxmlformats.org/officeDocument/2006/relationships/slide" Target="/ppt/slides/slide11.xml" Id="R7452829cbf6343c9" /><Relationship Type="http://schemas.openxmlformats.org/officeDocument/2006/relationships/slide" Target="/ppt/slides/slide12.xml" Id="R4c65a05294f54510" /><Relationship Type="http://schemas.openxmlformats.org/officeDocument/2006/relationships/slide" Target="/ppt/slides/slide13.xml" Id="Rb0dabefe3cce4dff" /><Relationship Type="http://schemas.openxmlformats.org/officeDocument/2006/relationships/slide" Target="/ppt/slides/slide14.xml" Id="R8ead4bd2a4664e3b" /><Relationship Type="http://schemas.openxmlformats.org/officeDocument/2006/relationships/slide" Target="/ppt/slides/slide15.xml" Id="R971a4f1bf218413d" /><Relationship Type="http://schemas.openxmlformats.org/officeDocument/2006/relationships/slide" Target="/ppt/slides/slide16.xml" Id="R043bab3e34ef40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72cea91d8f642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7412f431bcf4b17" /><Relationship Type="http://schemas.openxmlformats.org/officeDocument/2006/relationships/notesMaster" Target="/ppt/notesMasters/notesMaster1.xml" Id="R3f2156849fee41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243ef4bdc3f407e" /><Relationship Type="http://schemas.openxmlformats.org/officeDocument/2006/relationships/notesMaster" Target="/ppt/notesMasters/notesMaster1.xml" Id="R8da07b58442b4e0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90729c0c1548a0" /><Relationship Type="http://schemas.openxmlformats.org/officeDocument/2006/relationships/notesMaster" Target="/ppt/notesMasters/notesMaster1.xml" Id="R4de6d6ca827f49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02af84f7e5c4f32" /><Relationship Type="http://schemas.openxmlformats.org/officeDocument/2006/relationships/notesMaster" Target="/ppt/notesMasters/notesMaster1.xml" Id="Rb8237637d6514f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8331622a044f4c" /><Relationship Type="http://schemas.openxmlformats.org/officeDocument/2006/relationships/notesMaster" Target="/ppt/notesMasters/notesMaster1.xml" Id="R77ba477d2a914d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ddf62d63888498b" /><Relationship Type="http://schemas.openxmlformats.org/officeDocument/2006/relationships/notesMaster" Target="/ppt/notesMasters/notesMaster1.xml" Id="Rb73164a83d124e6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4d09d8532545c0" /><Relationship Type="http://schemas.openxmlformats.org/officeDocument/2006/relationships/notesMaster" Target="/ppt/notesMasters/notesMaster1.xml" Id="Rf7d7a00dbc9a47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0b45a3d9c3422e" /><Relationship Type="http://schemas.openxmlformats.org/officeDocument/2006/relationships/notesMaster" Target="/ppt/notesMasters/notesMaster1.xml" Id="R2bd9051174fb45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23bf8e5e4b4a01" /><Relationship Type="http://schemas.openxmlformats.org/officeDocument/2006/relationships/notesMaster" Target="/ppt/notesMasters/notesMaster1.xml" Id="Ra806fef33d3f461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f0e4b8f7cd457a" /><Relationship Type="http://schemas.openxmlformats.org/officeDocument/2006/relationships/notesMaster" Target="/ppt/notesMasters/notesMaster1.xml" Id="R44ffd79a78c24e0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9ffa4b801094bdb" /><Relationship Type="http://schemas.openxmlformats.org/officeDocument/2006/relationships/notesMaster" Target="/ppt/notesMasters/notesMaster1.xml" Id="Rf8113851103c421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6bf315d0d14caf" /><Relationship Type="http://schemas.openxmlformats.org/officeDocument/2006/relationships/notesMaster" Target="/ppt/notesMasters/notesMaster1.xml" Id="Ra2e2a7214264437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2a03e64ddcd42bf" /><Relationship Type="http://schemas.openxmlformats.org/officeDocument/2006/relationships/notesMaster" Target="/ppt/notesMasters/notesMaster1.xml" Id="R8970a5fabef842a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0e4dbbe8e3f46de" /><Relationship Type="http://schemas.openxmlformats.org/officeDocument/2006/relationships/notesMaster" Target="/ppt/notesMasters/notesMaster1.xml" Id="Rba31c26e5eb2476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c8b4938517f4e14" /><Relationship Type="http://schemas.openxmlformats.org/officeDocument/2006/relationships/notesMaster" Target="/ppt/notesMasters/notesMaster1.xml" Id="Raa992bc6df4949d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950d7ffa5694f5d" /><Relationship Type="http://schemas.openxmlformats.org/officeDocument/2006/relationships/notesMaster" Target="/ppt/notesMasters/notesMaster1.xml" Id="Rf124b96f8fdd450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41b5332cfe447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ca5ff4284ac4447" /><Relationship Type="http://schemas.openxmlformats.org/officeDocument/2006/relationships/slideLayout" Target="/ppt/slideLayouts/slideLayout2.xml" Id="R537f2c5f68ab48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37f2c5f68ab48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900a885189e4763" /><Relationship Type="http://schemas.openxmlformats.org/officeDocument/2006/relationships/notesSlide" Target="/ppt/notesSlides/notesSlide1.xml" Id="R3159a65fe68e4d5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4f73f6cd104585" /><Relationship Type="http://schemas.openxmlformats.org/officeDocument/2006/relationships/image" Target="/ppt/media/image.png" Id="Rc73e2f79f3034106" /><Relationship Type="http://schemas.openxmlformats.org/officeDocument/2006/relationships/notesSlide" Target="/ppt/notesSlides/notesSlide2.xml" Id="Rf4ef3459fea045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99ba3d8d724a80" /><Relationship Type="http://schemas.openxmlformats.org/officeDocument/2006/relationships/notesSlide" Target="/ppt/notesSlides/notesSlide3.xml" Id="Red7eadf44a4f40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4eebd772214e7f" /><Relationship Type="http://schemas.openxmlformats.org/officeDocument/2006/relationships/notesSlide" Target="/ppt/notesSlides/notesSlide4.xml" Id="R83319c306d6544e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606fead26854d98" /><Relationship Type="http://schemas.openxmlformats.org/officeDocument/2006/relationships/notesSlide" Target="/ppt/notesSlides/notesSlide5.xml" Id="R8e941aa0d1f149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67552fecf7c4668" /><Relationship Type="http://schemas.openxmlformats.org/officeDocument/2006/relationships/notesSlide" Target="/ppt/notesSlides/notesSlide6.xml" Id="Rc072cb6fcd3d4a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2ecf5db2a194ee1" /><Relationship Type="http://schemas.openxmlformats.org/officeDocument/2006/relationships/notesSlide" Target="/ppt/notesSlides/notesSlide7.xml" Id="Rcc6c13e6a31d48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3e8e50446e40f9" /><Relationship Type="http://schemas.openxmlformats.org/officeDocument/2006/relationships/notesSlide" Target="/ppt/notesSlides/notesSlide8.xml" Id="Ra611e469e3b94a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1416dd363740ae" /><Relationship Type="http://schemas.openxmlformats.org/officeDocument/2006/relationships/notesSlide" Target="/ppt/notesSlides/notesSlide9.xml" Id="R378b133f840242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23e490ed214997" /><Relationship Type="http://schemas.openxmlformats.org/officeDocument/2006/relationships/image" Target="/ppt/media/image2.png" Id="Reead31655eb14eb5" /><Relationship Type="http://schemas.openxmlformats.org/officeDocument/2006/relationships/image" Target="/ppt/media/image3.png" Id="R0b3caf29efc547b8" /><Relationship Type="http://schemas.openxmlformats.org/officeDocument/2006/relationships/image" Target="/ppt/media/image4.png" Id="Re02852e1abef41cc" /><Relationship Type="http://schemas.openxmlformats.org/officeDocument/2006/relationships/notesSlide" Target="/ppt/notesSlides/notesSlide10.xml" Id="R2a6ff8cf23704c1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538ad8570f443a" /><Relationship Type="http://schemas.openxmlformats.org/officeDocument/2006/relationships/image" Target="/ppt/media/image5.png" Id="Rf8f22e2b73a44be6" /><Relationship Type="http://schemas.openxmlformats.org/officeDocument/2006/relationships/image" Target="/ppt/media/image6.png" Id="R128e48119f8b4cbf" /><Relationship Type="http://schemas.openxmlformats.org/officeDocument/2006/relationships/notesSlide" Target="/ppt/notesSlides/notesSlide11.xml" Id="Rb4755a349b8e466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e7793cf881944d3" /><Relationship Type="http://schemas.openxmlformats.org/officeDocument/2006/relationships/image" Target="/ppt/media/image7.png" Id="R5aed313d8a81469d" /><Relationship Type="http://schemas.openxmlformats.org/officeDocument/2006/relationships/notesSlide" Target="/ppt/notesSlides/notesSlide12.xml" Id="R82e83e22a7aa413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97672fd71d4833" /><Relationship Type="http://schemas.openxmlformats.org/officeDocument/2006/relationships/image" Target="/ppt/media/image8.png" Id="R0d2ae14efc2840cc" /><Relationship Type="http://schemas.openxmlformats.org/officeDocument/2006/relationships/notesSlide" Target="/ppt/notesSlides/notesSlide13.xml" Id="R6dc7b0e78d874d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8a705414e446f3" /><Relationship Type="http://schemas.openxmlformats.org/officeDocument/2006/relationships/notesSlide" Target="/ppt/notesSlides/notesSlide14.xml" Id="Rc836dbad777142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9777170d134bc4" /><Relationship Type="http://schemas.openxmlformats.org/officeDocument/2006/relationships/notesSlide" Target="/ppt/notesSlides/notesSlide15.xml" Id="Ra2faf33474fc4cb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3b0fb23668147e8" /><Relationship Type="http://schemas.openxmlformats.org/officeDocument/2006/relationships/notesSlide" Target="/ppt/notesSlides/notesSlide16.xml" Id="Rb0021d542c174f4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9EBEEF4-EE84-41D4-BB45-3FB2BF38B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CDA54-9F4E-486F-AE4C-9CCB7E05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C32EE-F0E8-4652-8CBC-1D0BCAE60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62C9A4-307D-4802-8D64-9B6DDA7CA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A8D1DC-605B-471F-A22F-60B23471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083245-2EB1-4CE6-80CA-72CA19C6B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313329-917F-480B-A550-62BCD9B0E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FC1B88-6EC5-494F-9D03-DE700FDF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1CA9C0-6FEA-43D0-BF8C-6408C846E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0D870A-01BE-4C1B-B392-658A2CD06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B87523-E00C-4C44-928C-5A10C48BB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FA3D8-EEDB-427C-B6F0-16883850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0D95FC-54BC-4DC3-9EB8-1D41BE599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2D25F3-6D10-43B9-8D75-62A2FDDB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6CDF81-DAF7-404E-BFFF-235072BF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DDFD33-DC63-4003-8321-0A29AE111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E9904-4111-43AB-B2D0-FE8BCD1F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1A4EC6-108B-4F3C-B9E4-966E9F5E2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847A6C-A715-43FB-BE8D-F3DCB43F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109752-5853-4ED8-99F1-9A3DB21C7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9EFBD4-FF1A-4DD2-9ACC-2157A1F2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D86D5-53AD-4001-BE07-D77F736FD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853DB6-EE10-4CF0-82E6-787FF5517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7303C4-36FC-4436-8368-5AD3E5A40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08F07F-572E-4720-BEB7-B7C0CF62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6BFF0F-1B43-4584-BC74-753ED3B0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2E8439-DA4C-42B5-AFE5-1E4F6B97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500418-6E0F-488E-9CA0-FCA92B8B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CB9E1C-2D55-4F97-ADF0-0C5A89B9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96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IOT104TC PROJECT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9E84F6-DE9C-4FD7-B91E-FD850C46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43000"/>
            <a:ext cx="6667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Smart Classroom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99E955-FD33-4F41-B7B9-46286735D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6858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Energy-Saving, Safety</a:t>
            </a:r>
          </a:p>
          <a:p xmlns:a="http://schemas.openxmlformats.org/drawingml/2006/main">
            <a:pPr algn="l">
              <a:def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&amp; Asset Monitoring System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1D884D-B95F-4A44-963B-B1ACA66EA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6858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Local-first classroom control with real sensors, actuators, MQTT operations, dashboard analytics and AI-assisted commands.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DA9B31-D8CB-4CFD-888B-C522E01D5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895350"/>
            <a:ext cx="30480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980"/>
            </a:srgbClr>
          </a:solidFill>
          <a:ln xmlns:a="http://schemas.openxmlformats.org/drawingml/2006/main" w="19050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E8DCBD-3B15-4661-B2EE-7021852D3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2954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UNO Edge Node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AFE3301-16DF-49EE-8202-38D78E30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95450"/>
            <a:ext cx="2476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Sensors, state machine and actuators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0EA281-A84F-4437-9FCD-8ADD968F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76500"/>
            <a:ext cx="1905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722"/>
          </a:solidFill>
          <a:ln xmlns:a="http://schemas.openxmlformats.org/drawingml/2006/main" w="19050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DC15796-F96C-4C1B-8073-C936F4C4E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667000"/>
            <a:ext cx="152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UART + 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06CBEDA-20D5-4828-88CC-122B88FB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ESP32 Gateway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DAFA54D-911F-4F64-8B37-1C86B4B2D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38600"/>
            <a:ext cx="24765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Wi-Fi, MQTT and dashboard bridge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EE7FB1F-5188-46C4-B2A6-50530D46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1EE293-8B04-4DFC-AB89-48A782C2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7EF4F0-CC5D-40CD-B875-7FE58F1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9+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79E5C3F-F20D-4467-A165-919354E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hardware signals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1A91FDC-8BD0-4EB7-81A4-93A2F779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4EDEBD1-CAF2-4135-A6B2-D4EB8AD07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23032D4-39EA-4CB6-BBB2-AD83977B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B05DD5-93B3-4DAC-B1D6-A224B0F82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priority modes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A51DB29-8BC5-4F0D-BFB1-B4D435F4B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2275E16-77F6-4A75-B0B1-CEAA8B6B3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D8F8FB-2919-4E14-ADF0-0156FBB10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1s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E6C1C9-473E-41C4-BE83-4B147C170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 cadence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B2078A1-7382-438F-B8E4-3B5AB70F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0611B69-2AE0-4BFD-8210-B905A37EF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8FDECC-A138-4791-B2EF-5555CD829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432m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27C4000-17E4-4510-A16A-017F448BB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recorded evidence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1227A82-340A-4865-8A08-000AC212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B611D3B-52CF-4F44-B337-52242ED54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Local safety works even when the network is offline.</a:t>
            </a:r>
          </a:p>
        </p:txBody>
      </p:sp>
    </p:spTree>
    <p:extLst>
      <p:ext uri="{BB962C8B-B14F-4D97-AF65-F5344CB8AC3E}">
        <p14:creationId xmlns:p14="http://schemas.microsoft.com/office/powerpoint/2010/main" val="28565684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F9853E-1303-491B-9461-6FCDA6C2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5C657F-5F10-49E8-ADB2-406C2D90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DB8897-EF77-4FE8-AB56-BFD99AA13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0A4844-6F6F-4298-8285-FB47D73A4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B56BD-0808-4D82-8F64-E8B7D9A0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1A72BD-ED73-4BC6-A534-75BF06F6A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3D490-B52E-446A-AE5F-49BF942AD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34C993-E580-4BAD-B9B8-F134EAB9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5CFFD-80D4-4E86-AF2E-378474DC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01991C-4512-4E0B-8F70-023CF527B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1E4807-B199-44E7-851A-E58D0B66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D703A3-40D0-4E04-904D-5C279A9E3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F84C39-BC85-4510-9233-1F77D9B1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50C6DE-C2EE-4B2D-A251-BE96393CB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6AE950-F8FA-4336-BD08-80035C972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D575E4-D018-477C-BAB3-4426CA2E1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A9D29B-CD3C-4A21-88BF-A30D6DC6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02A01B-E14E-4B11-8C14-A043A438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962098-4FD4-4841-ADC6-4E23AAF44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E5EDCB-C84B-43F0-B24E-8250A895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56E29F-3D28-4CD7-9B80-B6B3F38A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97B135-51CC-417B-9AC3-620F5E1A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0C79B6-18AD-4255-AD6B-8454BCF0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E51587-6715-41BC-868E-1F6343A11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CB4BC4-BC88-4C1E-974E-F5B11728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6770DF-A506-48F6-9F8E-61FFEB6C9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401E2-796E-42E5-BCB9-ECA08B55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6A41D8-A8B6-4645-8684-4F4038EAC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ASSESSMENT FIT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0FE40A-A848-4AC5-91A3-BDBA2AF5B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Built around the marking scheme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24EAEC-359A-4B08-BFD1-22312E8E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demo connects hardware, software, architecture, security/privacy, operations and a practical classroom use-case.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06C5EC4-62FA-474D-B2CF-7CA04016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825617-196B-4ED5-90EA-64F949A1E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52959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3e2f79f3034106"/>
          <a:stretch xmlns:a="http://schemas.openxmlformats.org/drawingml/2006/main"/>
        </p:blipFill>
        <p:spPr>
          <a:xfrm xmlns:a="http://schemas.openxmlformats.org/drawingml/2006/main">
            <a:off x="723900" y="2420561"/>
            <a:ext cx="5143500" cy="2855078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134F796-D488-44BE-80B3-D1A9F2C0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098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80C941-C6ED-411E-BEB4-DBE1E468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2193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50F761-43C0-40B4-A477-491CAA7D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193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C2EAFC-FE2D-4926-B2FC-83501200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765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Energy, comfort and safety in one classroom service.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30F95AA-8755-4770-8C68-A2926F88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2098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D08DDED-A6DB-46FD-9020-3F96659A5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193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216FC4-2502-49F4-84AC-9C3AD869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4193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Architecture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7C55BA-FE6D-4EAF-BBB1-57840D9F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8765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local control. ESP32 MQTT gateway.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7F8B61-70AB-44CC-8C91-7490D4162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005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7C4BE-6014-483C-8721-A5488FA2D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0100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D758E5-EFAA-456F-B3B2-4DF9126E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2100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828263F-15BC-4C7E-A217-C982BFAE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Telemetry, screenshots and self-check.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6422EF-4AB5-4F4E-93BD-EA32CBF30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4000500"/>
            <a:ext cx="2381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DA4F6-DC78-41C5-82AF-35BC63F5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10025"/>
            <a:ext cx="2362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A712939-EA5E-43A4-BC90-F8361B7F5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2100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Security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C760F50-C245-4156-AED4-8DBA54062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667250"/>
            <a:ext cx="19240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Fail-safe local control and ignored secrets.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B0F079-4939-4032-88C1-13CDFD15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F9B98DA-A302-40B9-8499-F48189C2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86824490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F23799-8193-45D0-82FD-96E9AC8DB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4E800A-D271-4ED4-B707-3097D32B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F63269-247B-45AE-9D4E-DAA6950B6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09C5A8-0FC3-47EA-B74E-BE9446AB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0B8514-A71C-4E31-87EE-A97A59083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D9F9BF-5717-43EE-81C5-90DB2F94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2F47B2-F36D-41E0-8F0F-087D6571A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71291F-74CB-449F-A8EA-D38F238F5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A7D8D0-A994-430F-B8FB-E8D58B58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3BBA60-4150-456B-BD32-C1740801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62B1D-B52E-4B23-85EF-819642F7C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4422E1-2EAE-4FE4-A1BA-CCFA25650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08762-6DDD-430C-B0FD-B9F217093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15BCBB-CC42-4DED-A4E4-3D37765E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622C2-837E-4A6F-9969-40D1C222F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2F7CED-3DB3-4024-BF28-3075D2EF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950E0A-E196-4A9E-A082-15288EE7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23D99C-FA6E-4113-95AA-DC31F3F6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A97A57-9804-4241-B84A-1D5D3814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7F80CB-E2AF-4AD4-8DF1-01F4437E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EE2EF5-D99C-4FCE-861A-345BCDE7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2935326-DD76-4D4A-890A-76ABEFE1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34AADF-F924-4405-BAE3-C9C508722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B09403-023F-4172-ABD7-0161C4DEF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72F090-34BE-438B-BF1B-6071D98D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405446-9649-4734-9072-8B36FB03F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6A20EC-E40B-474A-99BE-6E9BF470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7BF2707-B738-44C9-B5B3-B9CD88FF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USE-CASE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EBF3E6-8338-450A-9396-497D8F62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A classroom that reacts locally and reports globally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99F52E-F524-4EB4-9EE6-E4DD70C2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system behaves like a small building-management service, not a sensor list.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73A53E-F75F-425E-8575-1B43CDE4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25965F5-E210-46AD-B052-5A06B2A1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CFB617-5D53-43E4-97B7-169A9C9F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99D022-5512-4788-8F0D-20B128D7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BD7587-4C44-4D2A-87F2-C3415C8D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C78109-FA41-4D84-A854-26B34618D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Sense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FDA971-FCD6-415E-ABF1-1493F2D27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Occupancy, light, temperature, gas, flame and emergency button.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A050A5-F17F-4BED-A8D9-4D7FCCBF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112B53-D6EA-4160-9513-79AACFF7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BF61AA6-043A-40B7-AD01-03C435E8D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ADAC9A-8F62-4C34-A93A-753D88FC9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CED72D7-073B-4FBF-ABD9-E32D2D49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Decide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084228-1F72-40C6-895A-0CACB4A9B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Priority state machine: safety first, then comfort and energy saving.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A9DC47-4995-4049-952B-06B0D10B0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4A76C83-DC13-420D-90F7-C6380FB6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08951F-792B-4CC3-B0A2-1E4970378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B5A7E2-DCC8-4C2A-9FA3-A0E96C908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B3173DB-EA8E-4706-95D8-2462B8E9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Act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5765DCE-7AD4-4859-AACA-903EE741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Lamp, fan, PWM, tach, buzzer and status light.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3997E5-78F3-4A6C-AD5F-86E267A8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43150"/>
            <a:ext cx="21907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E636C-C625-40DB-AF19-48955261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3526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8C37F5-FD70-4019-B03C-438CF8C7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57175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6CE5EEB-0AF5-4B88-A689-6EB1D3A5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66700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1CA3CA9-6A94-446C-8EF6-A8DCD4E2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67050"/>
            <a:ext cx="1733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5A0E30E-4076-4910-B1B2-9F8C700D0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409950"/>
            <a:ext cx="17335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dashboard, manual override, presets, charts and AI timeline.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EDDAEBC-46BA-415A-A076-CA2E4E5FD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099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D8B0777-5EF8-4945-A6E4-3B6ECC0C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528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98D68FB-165B-4878-BDA0-E63A3316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099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E541CAC-8888-4AD3-87C7-6DE4DD3E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528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EC67C26-612A-4CB7-A82B-FB9BC6AC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409950"/>
            <a:ext cx="4953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B6F1DDD-9AB7-4690-900D-F3709E97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528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3777006-99EA-42BD-9C7E-686E1137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AFA90D6-AEEE-42E1-8B6A-2CAA4E87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42B6C9E-3BB5-40D8-BBB3-728F8FAB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Safety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0AC6269-7D7E-440F-B62D-C6ED73476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highest priority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564603D-0A66-4F51-AB0E-EE87ACF4B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43EAD5B-6A8B-44EE-8E09-CC6E295C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6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9599D82-702C-4CC5-B822-B9D5C67F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Comfort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3F1B037-23D4-4F60-803E-5AC4B438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adaptive fan/lamp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8D92AE8-DA83-4DF1-8F13-52577659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C721717-5297-4BC9-A993-88008400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FFD92101-4602-46ED-9232-2405A16E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Ops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459A619-0655-4F90-B0A4-E873CB08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ACK + persistence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23A3765-0B14-4364-ADBF-08A361F1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E9629DD-695E-4DD5-9E1F-168DE0816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D4FBA9B-458B-4408-B3E6-CCF0A245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Data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C334D39-01ED-4737-9A8C-D50F8C01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charts + history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15298B2-85E7-421A-B50B-DC003292D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A4B62739-6524-49AD-949E-9633CAB2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29166588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4F4C0B-E37E-408C-BFB2-B65E074A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FDEE4F-5F10-4D41-B92C-724BA5A0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DEF04A-B01E-4CE8-A141-E9CBDDD3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E497F-090F-40A4-B781-908EF1C6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C4429-333D-4056-81D5-C07BAC1F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47EC8-C005-476B-93C9-E7B00152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B1B47C-B002-4EE2-9A8D-FE4FA045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FA5113-BDA4-494E-8A5A-DD464538D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FC8926-6D14-4B31-A2F1-8F489EEC0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CA9682-D467-4664-9816-37BD04AA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883FFF-FA93-4EDB-BA97-4EA774183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9C13C9-F09E-4DBE-8AB9-127D458D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498841-FF08-4A0D-A96E-F5B2335F8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ACD888-771A-4519-BB94-D667C9B60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A29AE2-A7D9-4285-96D0-09DF6058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DB4A6F-CC4C-45C5-B49A-BA2B2BBD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D1276E6-E0AB-48F1-9325-E1B4E402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1FF706-73AA-49BA-BF03-41DBFC8B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2ADF8-2701-4F24-8121-7967A72D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E52FBA-BFF5-4E9F-9D47-8B6790FAD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3FD581-0B7A-44CA-963C-540801EC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800F4B-0A19-49AA-AD3B-71A528CC8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5B9B6E-95DD-4599-A946-EDD270A2E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6BFD45-9FFF-4984-8B5F-DD2A94C6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A85CBB-2693-4695-812F-16BED4C3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5F23A6-636F-4CD2-ABCF-722CB5E0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F9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6363AA-6ADB-4DB0-8B6A-AD2A82729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939C6C-F638-46A8-81D6-E8B90CDCA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1719EB3-E72E-423E-B330-E951A41D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Real-time control stays on UNO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CD7358-9382-4B4E-9716-576DECC8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Networking adds visibility and commands, but does not become a dependency for safety.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160238-AA4A-45E2-BAB5-249CC92A8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D692E8-1847-4F7E-90FA-0D877224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0AB350-B699-474F-B7C4-BADC9A820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1C674B-F523-4B50-80CB-2450F335D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BF1FBA-879A-4001-B3A8-0C41FC3F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21CC18-8948-47F2-A25F-16D13E66B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Sensors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6F5975-2E37-4332-879E-16517D7C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D2 PIR / A0 Light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A1 Gas / A2 LM35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D8/A3 Flame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D4 Button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8B122EC-E115-4E3B-AA45-BE2042048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C5101D0-E8FA-49F6-92AA-85C6996E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63F811-6142-4387-B222-4F7B3AAFD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CE0BBE4-E103-437C-B46F-B0F03258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B68E42D-CEC4-4154-9023-74598E8C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Arduino UNO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4FBF780-20E3-4AB9-B1DA-CE9E42B7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millis loop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state machine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relay / PWM / tach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buzzer + status light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EE4A2D-9230-4FDF-BDC3-825AEB2E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3135F7A-F939-473B-A0FE-EF3E91C74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3DFF332-BA6F-4BF4-B680-B31A4CA9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86EE51-87C7-4706-92CA-DF38539E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Gateway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692D6AD-AEA2-41F3-BD6B-26D07A9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027E365-099B-4A2E-8153-A04DBB9B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Serial2 UART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Wi-Fi reconnect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publish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command bridge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4C4E38-BCD2-456C-9FA7-C5D97258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324100"/>
            <a:ext cx="22860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38B565-D664-4C22-B3F3-901CB19AA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333625"/>
            <a:ext cx="2266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4BF006-ECFB-48CD-A794-638BD695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5527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85BD60A-8FB2-4FF1-A444-2E55B237F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479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Service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AE105AD-34B9-44B9-A205-979648251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048000"/>
            <a:ext cx="1828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Laptop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0D3463-F596-420B-B8E5-D952C3994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390900"/>
            <a:ext cx="1828800" cy="1409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Mosquitto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web dashboard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history store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AI planner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2E81B20-CE64-4FEF-ACEC-468DC9120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6004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61FEC31-70F2-428C-9A4C-5F33D681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5433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E908BE4-DF30-484E-A07E-0E09C2CB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6004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2A9AEBD-B9E5-4F58-9AE2-9FDE6312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5433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C7B8FB1-33E6-448C-820B-4AE39DF9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600450"/>
            <a:ext cx="4000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1079AB5-A10B-4720-AFCC-526D6591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433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D6B4E8C-FF66-4FAB-A0E8-3D1EA8E3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Design decision: ESP32 is a gateway; UNO remains the controller of record.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5463C6A-3209-4991-9742-422E7C6F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6A76BC3-FF6B-40EC-BCE9-86894A9AE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6921171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F1F0BEF-16FC-4B86-96C0-89FF9D99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37E16D-491E-4A1A-835E-3CFF7BF0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0ADBE-5F15-482F-B986-4049462F1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DF408-FE5E-469B-845B-C14D4B5C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A9E88-A2C1-41D7-8294-763F49B4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7C3230-1481-499F-9E90-8D4E104B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329363-8250-4A5A-9244-4F4AB66DE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6AA28F-B958-43BD-8E9A-EA84BDAE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0B507-3BBE-4405-82C5-9B16DAB0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709AF8-3AD1-41A9-84B1-5E6DEC84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65ABCF-5623-44D0-885C-D7AB886A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8E17F4-164E-4DED-BBF1-06E370B5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5D1FB4-4A3B-45C7-B99F-9CCDDFD6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DBB7F3-C2C0-4A8C-908E-5376901B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43AD16-7979-4C08-84E5-8CD21E7A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925D88-61D9-44D8-A198-FB0BCA0F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F8C474-8F05-4C1E-AD45-B9C4761BF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7685C3-DD59-4A7D-B0D7-450508A8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77BA79-874B-4868-8D24-D85093FE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AAE83C-B237-45F6-AE79-143155C8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A809E3-2620-4E77-AE85-93FF9716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F83803-9DF6-425F-885D-9CA7B7B1B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D8D0CD-2E03-4AC2-A4A1-30CBD2E31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928427-19B1-4B77-A578-60DAE476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411CD9-43C8-4D92-AFC9-AAA6A00BF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826CD7-962B-42C4-8DF8-0CA552901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63EB5-95A0-43FB-8E9D-46D5B7A6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C91200-E16C-47E9-BCB6-3909B7A64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HARDWARE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1B132E-07C7-4FEE-A8C3-22B00046F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Dense hardware, clean responsibility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676795-E1C9-455F-BF2F-0F246F8E6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build is complex, but each module has a clear role in the service.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1D73E6-981A-4B57-B0EF-223E30A7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46070C-9B66-4711-8DE7-6BE95DF88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203ACE0-94D2-4C80-B059-D90C415A9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EA03EB-5CC5-4D3E-90F4-24E86FA1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48-kit modules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53AC41-DBC2-4394-8931-5129D520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#18 PIR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#31 TEMT6000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#25 Gas Sensor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#16 Flame Sensor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#5 Active Buzzer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Traffic Light Module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E0EB8F-8729-41AF-8978-4AFE54F01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7FBE68-3CBB-4B9D-AFC8-03D5E6A31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BE58E01-01CF-475A-9396-7E047914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External components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483107-06A3-4E72-99F3-EBE49B13C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R3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ESP32 Gateway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LM35 powered from ESP32 5V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6-channel relay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12V 4-wire fan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LED + resistor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2CE1688-0554-42F7-AC2B-0E62C9FC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3143250" cy="2952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4C479FF-6EA6-469D-81F4-D988E1D0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2343150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8F8694F-369D-414B-A067-6BE1B0391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43175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Wiring rules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966925-98C8-4F8E-AE6F-30D3D544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000375"/>
            <a:ext cx="268605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Common ground is required.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A5 to ESP32 RX2 uses divider.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Relay logic uses RELAY_ON / RELAY_OFF.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 capacitor is added in this build.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78DC92-0F82-4EEC-AB51-D15B6EAF5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657850"/>
            <a:ext cx="228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BF0448-2CDE-4EC3-9993-98511F11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53100"/>
            <a:ext cx="1981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ENGINEERING FIX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43D8780-A97B-4910-802E-2B7CDEB0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638800"/>
            <a:ext cx="6096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LM35 became stable after moving power to ESP32 5V and adding ADC guard compensation.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0884EAD-3B73-49A5-ABBF-0B1E004B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95E69B8-C132-4188-9D6B-1B76DC1B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21081477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6913F5-9059-49DD-ACAD-8F9EF12C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B5B1EB-50DC-49C2-98B8-F4AF1F0C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70D61A-032A-4CA2-8EA9-A1AD12E7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4EEAEE-645C-43DB-A71E-AC9917B8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E063D-23DA-440F-8723-33760B294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281030-5996-4B40-A379-783F62677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3C3A88-71C0-4BE3-A7A5-4CDF314F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85266B-6037-4560-9AC1-3799B0AD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906AAE-11FF-415F-AC69-CE97C716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A231F9-BA47-4072-9E69-56802A97D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927F7A-3D91-4BCA-978B-960361811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30145D-5B02-4912-A4C0-A6462FF2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F1176-1A1D-4435-9DE5-7B80F5046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2C33A-90A6-437C-A887-16D84756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7DC8D7-024C-43C0-BA99-A9C37AE8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8AD85E-5BDC-4DBD-BCD3-187A4F5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380825-C044-424B-B836-B1CD3901A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D32FD9-9A37-42DE-8117-8DB6F9C2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9F7FD8-9CF5-4982-ADBE-D4F5FBCB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A02A16-88BE-4A0A-8366-B8E182F2A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95BADA-684D-4364-AA84-A845DEF1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A89BBB-F795-404F-8914-7BB4E5B1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1C9D90-EC91-4E30-B62E-5264DA919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FA75B8-F714-41EB-8AD5-2CC8D4D8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B608F90-2E68-4ABB-AFC1-0BAD1F629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4DC2B8-B70D-48BB-9158-03AB74E6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D6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281D32-F4F9-4C14-AAAF-E2EB9580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0D582F-706B-43A9-865D-9EDAD477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EDGE INTELLIGENCE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A95C5C-61C6-42FE-8119-A5606664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Priority is a state machine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9D7D22B-4F56-4919-B0E4-B35EE9B5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Mixed behavior stays predictable because safety, sensor health, manual control, cooling, lighting and saving are ordered.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EEB09B-4BE4-4CE9-879A-CE27F387D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5068A2-EAD1-465F-BCE0-49A698E45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4118"/>
            </a:srgbClr>
          </a:solidFill>
          <a:ln xmlns:a="http://schemas.openxmlformats.org/drawingml/2006/main" w="19050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F7F32F-03D8-4F24-A9BA-20E41A31D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860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SAFETY_ALARM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CEDD67-AFEE-4B76-9E36-D4A1E526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2860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gas/flame/button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594ADB-BC57-4523-A3FA-D5EDE679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4118"/>
            </a:srgbClr>
          </a:solidFill>
          <a:ln xmlns:a="http://schemas.openxmlformats.org/drawingml/2006/main" w="19050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4C9C23-280C-4C3C-9AA6-0565ED27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194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SENSOR_ERROR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8C3066-D3F1-4366-9E5F-1EB26D25B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8194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invalid sensor state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EF2573-8C52-4288-AD22-39C622C5C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766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4118"/>
            </a:srgbClr>
          </a:solidFill>
          <a:ln xmlns:a="http://schemas.openxmlformats.org/drawingml/2006/main" w="19050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6BDFEB1-7917-43F9-A7AE-1BF85DB9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528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MANUAL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37ED333-B561-4327-B748-D82A743FA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3528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operator override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85461B-9004-47FC-BE5E-063B10DE3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100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4118"/>
            </a:srgbClr>
          </a:solidFill>
          <a:ln xmlns:a="http://schemas.openxmlformats.org/drawingml/2006/main" w="19050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3D1BA64-51DA-4ECC-94C4-C61152FEF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D54AE5-5D62-4BC9-86A2-15A6CDD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862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temperature high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DF134F1-DA9F-403A-B31A-B4C44072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14118"/>
            </a:srgbClr>
          </a:solidFill>
          <a:ln xmlns:a="http://schemas.openxmlformats.org/drawingml/2006/main" w="19050">
            <a:solidFill>
              <a:srgbClr val="78F08B">
                <a:alpha val="53333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8F345F-A13A-43E5-B026-1B73A77A3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0110CC6-6CD0-475D-AC33-AA24F32D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4196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occupied + dark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6CD1AD8-53D8-44E3-9B4A-40EE902EA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4118"/>
            </a:srgbClr>
          </a:solidFill>
          <a:ln xmlns:a="http://schemas.openxmlformats.org/drawingml/2006/main" w="19050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450F73F-70F2-48C8-ABAB-C8D7E9F28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9530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ENERGY_SAVING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549184-C914-4D28-80CD-2568F9D8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9530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empty or bright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5976FE2-33F0-46A2-9BD5-EEAD7027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10200"/>
            <a:ext cx="476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E9AAC">
              <a:alpha val="14118"/>
            </a:srgbClr>
          </a:solidFill>
          <a:ln xmlns:a="http://schemas.openxmlformats.org/drawingml/2006/main" w="19050">
            <a:solidFill>
              <a:srgbClr val="7E9AAC">
                <a:alpha val="53333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260E101-149C-48FB-9D91-4C9D75B65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486400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NORMAL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4B43167-6A63-4377-A03D-B8642B25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486400"/>
            <a:ext cx="1809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monitoring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D86DB5D-8E08-43F1-9B69-99ADA468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47900"/>
            <a:ext cx="38100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000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F310888-4252-4085-BA00-988C0E6B8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47950"/>
            <a:ext cx="2571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WHY IT MATTERS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2C1E79C-B543-4559-96AF-D9CE8E9A3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304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Dashboard explains what happened and why.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8A96C73-9A03-48D8-B3B9-254F8C62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81500"/>
            <a:ext cx="30003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That turns raw telemetry into an operational classroom service.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1B3C5-1B8F-4797-BB6E-A7FC1D01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0FCB4E2-ACB9-401B-8846-8963C065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23011922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33DE6F-3FF8-42A9-A048-8117CE217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0857FB-FB03-4D92-A412-6CB7D692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B379F3-06F5-457C-A9DF-EFA59A37C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469F7-3737-4196-B1E9-29160124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F6F390-639F-4341-A77F-1371484F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B09B2-CF62-48C6-BB2F-9C065F30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096C91-5E5A-4134-92CB-93B48DB9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1FEA00-1AF3-48DE-9868-D51996EE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A002C-519D-48F0-8397-52639009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CC4D0-8D24-4EAD-B481-D2A2BCE2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60F2A1-D1A4-4D32-89D6-E7EAF5C7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312A9-1486-4045-A570-09437DA5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C303D4-D0E6-48A5-B5CA-B1DC4D698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F5A292-369F-4BA1-BB8D-8DDC14CE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840CAE-A153-404C-9DA1-0FF16D72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4925A6-5AD2-49FE-A129-2899FA833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41B436-A500-4A4E-B555-D713273D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85DAC9-D9D0-495C-80B7-588297C3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2537E2E-EB85-46EF-AB6E-6FDA5933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899E27-5708-450D-ACA3-42388ABD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0E4964-2027-4266-9EFB-DC0B8C856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F6FBF7-F65E-444C-9AAE-11DAA59C5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AA4CCC-846A-486E-B92D-5F439E451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E26B29-83ED-45B7-AFDC-61085049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8BD48F-6BC6-40A1-A82F-79B7094E5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1E403E-C055-4AA9-B7A2-B78AB9B7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5E7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F18987-156C-4806-B650-07B7DC917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A728CD5-6A92-4288-9036-58BAEBE50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7CB7868-438A-4E4D-A727-5B00E97C8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The highest-priority path is visible and local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C5D1754-2AF8-442B-A1EA-589D4DF12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button gives a safe live demo while gas and flame remain the real sensor paths.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0D38CA-8746-4A3B-822B-067FF4847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666065-55CD-47FD-BD51-07D616F09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206D08-5BE7-479D-855A-01D9A495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C0F2B1-34CE-4511-9FC4-F3F8A35C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E66C8D-F19E-4CD8-82F7-04454730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Trigger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3A4D636-A515-41AE-859F-1ED33A14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Three inputs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ECDE740-6B28-4A7B-AA0E-6CEF06B6E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gasDanger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flameDetected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demoEmergency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6C3A83A-34C4-42CC-9F4B-5C8B208C6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137ABE-C824-4B49-85FB-519BD941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AA00CD-E80A-4CCD-91B3-C3B86991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B1BCC45-7907-48B6-8FF1-7035FDA49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Decision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CA4D48-96BF-4177-8286-081DA79C5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SAFETY ALARM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B02A38-0077-485B-9867-CA5A30264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8725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Overrides lighting, cooling and energy-saving logic immediately.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7A9C28B-0919-4AA4-A5BD-10D9EFE60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476500"/>
            <a:ext cx="25717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46ECD7-9A48-45D1-8BFD-52A0F96F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486025"/>
            <a:ext cx="2552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F071DC2-8FA2-4D0B-91DE-4EFE886FB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7DD1A5-33DB-4B72-BA81-64CB667A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Action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2A7358-24D2-4644-97E4-A1258176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00400"/>
            <a:ext cx="2114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Physical response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AFD9CBC-B00B-44F2-BF53-B8BCFD1D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543300"/>
            <a:ext cx="21145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red light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pulsed buzzer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fan relay ON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PWM = 255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9E3FBCE-C5E2-48AC-BD57-3E00BA76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6195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59D3683-B040-4A8D-A90D-63720834D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5623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6C46F9C-267F-480B-8802-61745BF8F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8075" y="361950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00FE26-8686-4D12-83FC-B9F2F72D4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5623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2491CD9-D7EC-4A14-8027-560A96B9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Demo first: press D4, then watch red light, buzzer, fan and dashboard alarm.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6CE94C-1369-4AAC-B32B-580897978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94F37B2-FA5F-4227-90ED-F4DE23183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1989135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D7AA38-EC87-4923-A490-17CA8319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18B536-1EE8-44F9-BC2A-7F746B56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11535-7DFF-45A6-A250-3BCF9922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40E9B8-7A8B-438E-B43B-91235DE9D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58575-3627-4139-A5CA-162F4060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3DBFDE-19C6-4BE1-A8C7-395A305B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9FFF79-D932-4E3C-94D2-2A5917DF1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4655C2-7C58-4695-88D1-B3EEA23C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EF4464-D8E1-4B2D-98E1-69EE6C3A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34CDB-AFEA-4744-8ABB-72A1F25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86145-1383-4C02-BD13-241B975B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DDCAB-5837-49FA-80CA-872738C7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341584-1F56-4086-8DA2-4D5234AE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6BE94C-32A6-4AFB-902A-38477C0A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E1569E-3EE2-4AF5-BB58-47FCFFD92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36E4AB-1FC8-4EB6-AB78-4649A9A0C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27B99B-7864-4DE1-83C2-4A12B71C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6606D2-B379-45FC-A91D-9F726CC0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DD362E-1AAB-45A2-894E-95BA70F7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2DBB2C-FF22-4AC8-A20E-B01AA35D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59D93A-94A2-4A0E-B13B-97204531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9845E1-3007-4AB1-A387-716FFBCA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2F3760-9882-4930-B97F-FDFF2B1B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0A6F96-9896-4884-84AF-76172620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A874FE-44A5-4372-9F10-4332586F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37D6CD-778B-4E1C-A25A-9DBF4F2B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78F08B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D57B73-BF48-46C8-8184-FC2243780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4914D79-0B99-45F3-B957-BA1E56BF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COMFORT + ENERGY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4732DC-B918-4097-8E07-C91813CF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Human-friendly automation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7DB93F-4A99-4E8A-8033-275C0D57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classroom avoids waste without making the controls feel abrupt.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F17C58D-4A1C-4B96-AB61-CE94C05DA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2352834-9380-4306-800A-0D6551FB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A2AB6D-701F-48F3-AF9B-7D533CB67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90775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3D871D-BFE9-4A33-A638-0ECCD760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Lighting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486C3B-A779-4989-94DE-AC251F8F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48000"/>
            <a:ext cx="43053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Bright room: lamp stays off even if PIR sees motion.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Dark room + occupied: lamp turns on.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 occupancy timeout: lamp turns off.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94FF16-DD8A-4417-BB67-14100931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8125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1F52C0B-1F35-4082-8BEB-5D029D576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90775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BB9C34-5606-4188-8AD3-BB1F2C145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90800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Cooling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BC0096-6A07-4603-8390-C9B1358FF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48000"/>
            <a:ext cx="4305300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Temperature threshold starts the relay.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PWM ramps fan intensity.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Tach RPM is interrupt-based and never blocks the system.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81EAB8-CC43-441A-9F2E-89C315E9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23299A6-3F36-4A49-AD77-58D8D669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023646C-F095-4357-8743-F1F16278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78F08B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78F08B"/>
                </a:solidFill>
                <a:latin typeface="Aptos Display"/>
                <a:ea typeface="Aptos Display"/>
                <a:cs typeface="Aptos Display"/>
              </a:rPr>
              <a:t>10s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0CD10A3-3A5A-4616-A2A2-D7846C1B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occupancy timeout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013AD9A-20D2-40C1-96FC-2843422B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7A3FDBA-5129-4FE6-8130-CD13C1AB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E937195-3025-410F-A1CC-065476A4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PWM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8503B07-2725-4722-9231-030DD4E9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smooth fan path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2D227E2-E2F4-4C94-9030-A8F387B2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A5CCC63-273B-430C-BF53-354A32B53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4FD7C57-2AB2-4712-973B-0D94992E3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ACK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6FF980F-BFCF-463D-81D2-D03475F9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config confirmed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24B56B-D137-481C-B880-2D1124837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191125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DBA9357-BAFF-442D-9868-F2707EC1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5200650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31A6009-258D-4939-8C89-25DEA1D7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36257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Local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4DC8A90-C359-4D97-BFE1-952B0A2E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915025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works offline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C39CBA-80F5-464F-A1A8-62B481DF8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7ABD203-B36A-4747-A0DD-E7CA13674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93545061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BD7278-59B3-4549-8C58-FC940834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FD2F6C-127D-4AB1-A799-B1CDD2327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C5F427-2A42-438B-B347-B56EB694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ED02C-D964-48AA-A456-9A62F063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445CD-EF26-4329-B1CE-9F7A2080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68D97-879B-4BF2-86C7-387568CF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A50982-7F61-4CE7-B6AF-6A6EFC670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9F72C3-C877-465D-A26E-F7F47C924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1D63D9-2565-47C0-BC22-6C405CE8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250EB5-8857-47DA-89E7-4949464EE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FBCEDD-838F-4641-AEDA-D70636DC7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E22BF9-F6D6-4558-8832-7489FB6A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FA636-7FEA-43F8-B87D-818B0435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F8906C-9F06-4CA5-9BCE-C5FE63951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997F07-0087-4317-966B-239CEE8D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A34140-0C0C-4705-B904-E0414E5A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4F4814-CB28-4612-807E-8DCAAD8D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F5AA4-F360-4101-BD7C-C5CB452E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D9EE5C-71D1-4FD0-B431-BB03FDFFA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DCA6E5-5709-495E-AB07-02C01D87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C4694C7-0991-46D4-B8A1-79776733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CB67E0-111C-4886-AB66-7C358179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9C4FD9-E58F-41B1-8DD6-A4D0112A9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74B6C1-28A6-4510-B48E-BE7E0A01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745032-30F6-48FF-9972-73AD6604B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6A2441-CE2D-4596-A81D-55C2BA8C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61596-4D68-4896-81C5-25E43A5C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1FEB67-EDA5-42E2-9765-C9AF3215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MQTT NETWORK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377734-B583-4267-8E62-67451185A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Telemetry goes up; commands come back with 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6D5024-782B-4655-9903-B2F74A1D7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protocol is simple enough to debug and structured enough for a dashboard.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0A3F45-F2AA-4E37-AC57-26632CE75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5F0BA5-B9EC-4F78-B2C3-607E4E1F0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86000"/>
            <a:ext cx="10287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722"/>
          </a:solidFill>
          <a:ln xmlns:a="http://schemas.openxmlformats.org/drawingml/2006/main" w="19050">
            <a:solidFill>
              <a:srgbClr val="6FEAFF">
                <a:alpha val="46667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EE01F62-7067-48CD-8339-00516A9C4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05075"/>
            <a:ext cx="9753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defRPr>
            </a:pPr>
            <a:r>
              <a:rPr sz="1650" b="0">
                <a:solidFill>
                  <a:srgbClr val="6FEAFF"/>
                </a:solidFill>
                <a:latin typeface="Aptos Mono"/>
                <a:ea typeface="Aptos Mono"/>
                <a:cs typeface="Aptos Mono"/>
              </a:rPr>
              <a:t>SC2,mode=SAFETY_ALARM,pir=1,light=323,temp10=286,gas=520,fan=1,pwm=255,rpm=1320,status=R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463C4F3-5A64-4994-B2A3-8CA622FA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2F71E4-38C9-4E2F-B053-F92B4F9B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E9861B-D81E-4434-B050-8CDCE68D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11765"/>
            </a:srgbClr>
          </a:solidFill>
          <a:ln xmlns:a="http://schemas.openxmlformats.org/drawingml/2006/main" w="9525">
            <a:solidFill>
              <a:srgbClr val="FFCD6E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8A5505-9F3F-48F0-B3E7-E2105DC0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UNO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70BD8E7-5BD5-4A5D-81A4-8C7911D8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Emit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1F3C217-8DC8-4AA6-80E3-EB43E992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SoftwareSerial line every second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2828F18-AB5B-4D25-BB8E-817EF94D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A6C9A6-E362-4A04-8388-8B096742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A35C413-3465-4BEB-8C4A-00565B5D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6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B14672-93D4-45EF-9CA7-ECD40AC82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ESP32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658E67-702C-4CF8-94F5-8228D52C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Parse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813DA49-7283-4000-AC56-19A8CF6A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Serial2 + Wi-Fi reconnect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1D6817-A3B8-49A4-A331-5DDED12CF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69E52C-739C-4C16-B8B2-35FD147E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2C165D2-2D9F-48AF-9D82-03BDD1B4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02CE9D-418D-4533-B3C3-FBA33765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MQTT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401FE7E-B141-4221-B0CB-A6299A01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Publish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853225-79AC-4C27-B203-DDD801F25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JSON plus key topics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9D3DF2F-0C7F-4622-925C-B556364D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619500"/>
            <a:ext cx="20955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2FA6DB3-8DDC-4FDF-A771-D4A8CBB5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29025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652168C-6FD0-4BD7-B994-77A5B2ED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848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641BA03-861C-4FF5-9A0F-088E127C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943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Web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7E9323C-5AFC-487D-BAE5-32BE5389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3434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Operate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461EDE9-65FB-4992-A7C3-18B2EC4C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46863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Config, presets and manual control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138AB0B-EF31-476B-9E05-EEC5257B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10075"/>
            <a:ext cx="476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A31EDCD-49AC-46A9-9C9A-A69FDC3E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3529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098F37F-901A-42E4-A5B3-70BA2113E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410075"/>
            <a:ext cx="476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CB2EBB3-4F95-4B3D-9732-4BD4BD281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529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C36479A-717C-48B2-8B53-F0823883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410075"/>
            <a:ext cx="476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5E04646-84BA-4390-B4BF-622550F4E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52925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127FF52-DA83-4A40-A310-457DCAC4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67375"/>
            <a:ext cx="8001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ACK loop proves the command actually landed on the UNO.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0D8DD05-1111-4345-8109-29EF7519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0A027EA-8AAA-4112-82BA-60639CAD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1000816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D62EED3-658C-4D0F-A0C9-1C75B9093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792C24-EA69-4976-B2E1-18A92571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A961E-C6A8-4434-BFE6-A8C1D0F0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30E495-E328-411C-A7D1-89BB0B4F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1058C-C994-4E37-A873-8C648D46B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07419-C630-404F-80E0-CB2E85AA1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85EEF0-F256-4414-8EC9-22EB6D7B9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B18678-1A50-42EE-88E0-66C13CBFB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1CB72B-2B9F-49DB-AD86-6E7E8A5D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0CA031-8918-4B2E-819A-10C09A976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42C528-3010-4B51-8D24-01639401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C2B1F8-9121-4759-9934-F9B5A32C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784482-0E86-40D7-BF02-35352CFB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981D80-DA30-42ED-A9B6-23441513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BCAFA5-59E9-4B66-9231-5157BCEBC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B48D8C-6287-415F-8589-04618926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911A3A-604A-4A4C-AF5C-F556AB5D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0A1C2B-AD8B-4219-8CD4-1CC5D983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68B07D-2362-4B27-805B-695DCC9F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5F505D-219B-434A-B2A0-85498102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7AFC46-2966-4723-A789-1ADAAFEF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D49190-0868-4411-B453-C4C33657A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AFF647-9590-4139-AA78-CBB31CD8B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65B23E-AF57-4CF9-8A0D-798FD4F0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9AF456-0A33-4571-981A-E25551A9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C5A009-B867-4752-B2A5-48A004F8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095293-8DCC-4F70-AF7F-DBF89DE5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788D69-106D-49F6-812C-1D3E86D5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C582C9-7E64-4D5A-A44E-7F22FCF4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An operator console, not a raw JSON page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8AC8CC-1127-491F-8E9A-3D7EA16F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Large cards, live charts, mobile access, manual mode and scene presets make the system usable.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698AB9-F3F4-4B4D-8EE7-47CC5012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A00891-AC59-499F-9C95-8376FB2FA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95500"/>
            <a:ext cx="624840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ad31655eb14eb5"/>
          <a:srcRect xmlns:a="http://schemas.openxmlformats.org/drawingml/2006/main" l="0" t="8112" r="0" b="81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171700"/>
            <a:ext cx="6096000" cy="333375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AF037D-0F1D-41BE-A6CD-B57D4A916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95500"/>
            <a:ext cx="32956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3caf29efc547b8"/>
          <a:srcRect xmlns:a="http://schemas.openxmlformats.org/drawingml/2006/main" l="1092" t="0" r="109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43750" y="2171700"/>
            <a:ext cx="3143250" cy="1562100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948A678-2363-47E7-A4D5-9E6D660B7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2095500"/>
            <a:ext cx="12001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2852e1abef41cc"/>
          <a:srcRect xmlns:a="http://schemas.openxmlformats.org/drawingml/2006/main" l="19780" t="0" r="197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572750" y="2171700"/>
            <a:ext cx="1047750" cy="3333750"/>
          </a:xfrm>
          <a:prstGeom xmlns:a="http://schemas.openxmlformats.org/drawingml/2006/main" prst="rect">
            <a:avLst/>
          </a:prstGeom>
        </p:spPr>
      </p:pic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A9AAD0F-70ED-416A-B725-20675405E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71950"/>
            <a:ext cx="1714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0570601-C9E3-4ADA-BDE7-883F4AD5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81475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B574DE6-260C-4D2E-8101-76DF0FA92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4340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Auto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3DB27F5-9932-41A4-974A-58E76D0E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895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manual switch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2F1D054-EE2B-4F96-AD14-79A252642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171950"/>
            <a:ext cx="171450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8B6D9B1-7B0B-4BE1-A022-5136A5D9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181475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7AD530-C2DD-4CB7-BA7F-9A75891D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34340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Presets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26C705F-D788-4127-96AB-698985E35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895850"/>
            <a:ext cx="1333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one-click scenes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F71155-7CF3-41DD-9A3C-F431A533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DA17B8E-6431-492D-9838-EA47BEAC6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Dashboard screenshots captured from the local running system.</a:t>
            </a:r>
          </a:p>
        </p:txBody>
      </p:sp>
    </p:spTree>
    <p:extLst>
      <p:ext uri="{BB962C8B-B14F-4D97-AF65-F5344CB8AC3E}">
        <p14:creationId xmlns:p14="http://schemas.microsoft.com/office/powerpoint/2010/main" val="46322491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9BCE8B-DBD2-4ECF-A153-204EB34B2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F76CCD-AA8C-4714-A9D2-9F1BC0AC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818CE1-8C2B-4708-8978-E41F7D14A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73753-ADB7-4ABA-AF9C-B529CD1C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DD4F23-EE8B-4B0B-BC2A-82B851716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0A0629-CCF9-40E1-8258-D9386DDD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2A253-EE3F-4E77-ABCD-40007DE7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F7D91C-8AE0-4F08-AC2E-A3DE0F82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FBFCF2-1953-4B78-A260-8FE497DE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EB3CBC-FD35-4392-8C02-A353B75B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3504A1-6C5D-4AA5-9A47-6C44000F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1FD681-353B-4FDE-82E2-0804C278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D9ABE3-50EA-4CDA-B4E1-2CD1D96CE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2B9E2-45BD-49D9-AEE3-21FF619F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80F121-1199-4AE6-B689-0208C37D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9ED66C-4D32-417D-85A2-1A4992EB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55325-4F13-41D8-8558-12F7598B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A06BE5-78CA-4F55-912C-31946687E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7E244C-BCB1-4651-A850-F1808A2FA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56BFE1-93B4-4E11-B77F-130E40D3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59AEB-5A00-4EBD-8360-6134CF74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7D9D2F-D0C4-4D95-B0D3-F218C916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C5BBA0-CD5B-4160-BEE7-C7C9EC1A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ADFC82-CC74-492B-9983-43140BEC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CD73A7-F76E-4AD2-A431-2E59C532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1A8ED0-1EFB-467E-93C8-72487F36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FFCD6E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E2311E-2BBC-45FC-8094-E9EE879D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2FBC0C-584B-4DA7-87C3-9493A60C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TELEMETRY EVIDENCE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7DE143-FF79-4C5E-B840-D621D5AA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The demo has history, not just live values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BB6254B-182D-41B4-9856-04221A799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Recorded data supports behavior explanation: modes, temperature response, fan duty and safety events.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372DB2-4D40-48B8-838A-D87E34AF7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ACD86DE-8C9F-4F4E-B7AA-F4A55369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52959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22e2b73a44be6"/>
          <a:stretch xmlns:a="http://schemas.openxmlformats.org/drawingml/2006/main"/>
        </p:blipFill>
        <p:spPr>
          <a:xfrm xmlns:a="http://schemas.openxmlformats.org/drawingml/2006/main">
            <a:off x="666750" y="2697892"/>
            <a:ext cx="5143500" cy="2224216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A4D98C7-0AF1-4290-8B37-95A1E6A54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05050"/>
            <a:ext cx="46291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8e48119f8b4cbf"/>
          <a:stretch xmlns:a="http://schemas.openxmlformats.org/drawingml/2006/main"/>
        </p:blipFill>
        <p:spPr>
          <a:xfrm xmlns:a="http://schemas.openxmlformats.org/drawingml/2006/main">
            <a:off x="6381750" y="2566634"/>
            <a:ext cx="4476750" cy="2486732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3B88E6-BF77-4B21-A438-914B37E3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1975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9,764 samples | avg temp 28.3C | fan duty 31.5% | safety events 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5C779FD-97ED-49C2-9E43-A19C1435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08219-4815-464F-A7FE-7E16E248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48635392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AAE9E1-FAC0-4133-BFE4-1D276BF9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E2598-2164-4764-B316-FBED8DC0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B419C-A8A6-45C3-9437-676F7897D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81A19-2EC5-49E6-B819-941610B7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F868F-2B5B-4475-8552-BFD412C9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377F10-A98D-48F5-A1D0-0165A697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3921B9-DA97-4B92-A943-C2A420914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F85E79-C1FF-4C46-895A-DB6CC09F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1A3E2-EEBC-4F2C-8728-75AF3DE4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74CF1D-A8C7-4045-B88D-068D76301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43FF0-E33B-490C-BD47-ACEFA5A0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AA699A-AFA0-41B3-82C6-96072EF7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81761-1073-4CF8-B424-C8FD0534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1F3E83-A958-4539-ABBA-59C7247C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42C18-902D-4728-AA62-80598482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B1553D-6607-419E-A7AE-B077F2D9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EB700B-D5E4-4B2A-9B3D-3F7F3C1B5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C34D97-7EB2-42D7-9E84-FF9E9957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BFE5DF-6553-4C7E-8113-FBF6DF21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C7B557-FA9C-4E79-9AAA-7CF990607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162E95-DB99-4672-9D65-0D3E49A6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EB5E38-4F04-4E14-A6EC-2DF1620B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AEF55A-6F89-4F94-A5C7-4B7348525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6F888B-25BE-413E-965B-9581390F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6B1968-DFE9-4D37-B7EA-C5EDA84F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72F268-2E5A-495B-AC9B-641E2E66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AC2450-F1E1-4C58-9606-102D41D5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4AC68-69B7-488C-879E-1A0E0B61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MEASURED COMPLEXITY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033DF9-2C92-42B7-AAF4-D92FF861A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Complexity comes from closed loops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808D40-CEF3-421F-B122-CAEF73D51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Sensors, control, gateway, dashboard, persistence and AI all interact with the same physical system.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58FAC2-8994-471B-9DB5-B5EC32CA9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137C5A-03E7-4775-BA89-65C85741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51054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ed313d8a81469d"/>
          <a:stretch xmlns:a="http://schemas.openxmlformats.org/drawingml/2006/main"/>
        </p:blipFill>
        <p:spPr>
          <a:xfrm xmlns:a="http://schemas.openxmlformats.org/drawingml/2006/main">
            <a:off x="685800" y="2387708"/>
            <a:ext cx="4953000" cy="2749335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241A12-9206-42D2-8480-FC7104FE6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860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B73C465-5509-493F-BE69-EBD38E48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2955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B47E98-478E-49D5-B273-9DCBC177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574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6FEAFF"/>
                </a:solidFill>
                <a:latin typeface="Aptos Display"/>
                <a:ea typeface="Aptos Display"/>
                <a:cs typeface="Aptos Display"/>
              </a:rPr>
              <a:t>9,764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1699CB2-1DCE-48AE-A992-6E27B52A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0099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telemetry samples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EE359D-9B96-43A2-8849-978B791B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1C11D5-8CE2-4607-B272-705F50BBA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955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B4A6D47-BD1E-4B05-BBDC-BFE0DE86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574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CD6E"/>
                </a:solidFill>
                <a:latin typeface="Aptos Display"/>
                <a:ea typeface="Aptos Display"/>
                <a:cs typeface="Aptos Display"/>
              </a:rPr>
              <a:t>12+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3FA1FF-5E4F-4FFC-8BBB-C81E8645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0099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topics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3355E7-2E30-4279-8EE0-ABDCE7238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8CF9495-059A-4905-8C78-7065A2C9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7242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A1D394-6F05-4C06-BAA4-4ED3E410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B68CFF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B68CFF"/>
                </a:solidFill>
                <a:latin typeface="Aptos Display"/>
                <a:ea typeface="Aptos Display"/>
                <a:cs typeface="Aptos Display"/>
              </a:rPr>
              <a:t>2-way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BE94676-CE71-48FB-A59C-FC43E5F7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UART command + ACK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2C7E810-F362-455A-B114-6C58D224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71475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EDF74D4-F314-443C-A6E3-3150E4AC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2427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CBDF3C8-71A2-4F78-9FAF-9E9D2725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FF5E7E"/>
                </a:solidFill>
                <a:latin typeface="Aptos Display"/>
                <a:ea typeface="Aptos Display"/>
                <a:cs typeface="Aptos Display"/>
              </a:rPr>
              <a:t>Local-first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EBFA8CF-C804-49DB-9DD6-24C33FA0B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386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safety path offline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7E2C76-E548-4BD1-8577-76133FD5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43500"/>
            <a:ext cx="21907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55F34E6-5109-4034-BCC8-1B24323BF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5153025"/>
            <a:ext cx="2171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32DC23-EBB7-419B-A195-315F9AAC5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31495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52F2B0"/>
                </a:solidFill>
                <a:latin typeface="Aptos Display"/>
                <a:ea typeface="Aptos Display"/>
                <a:cs typeface="Aptos Display"/>
              </a:rPr>
              <a:t>34/34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F7B56CC-3DA6-40EC-A851-26E9D7B0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867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delivery self-check PASS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B41E8CC-AE59-49CA-A23E-E48AFF86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705BD2F-A99F-4734-A96C-B609C4AE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8313921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A3307D2-76D9-43D5-B560-D84C6B3E8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875AA1-9EE7-4E2C-97A2-1500DC70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2709BB-9BC5-4C76-89B2-F01D18BA9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6A37CC-FE8F-4ED4-BDFA-A784FB013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372CCC-A631-48EB-A266-FE2DC5BDD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A18F1-A125-4852-9FA7-C71F0981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7DE27F-FD62-4DCB-A4AF-E4F1A0D2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60AA0F-4AAA-4426-8F9D-DF9C9C26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2CBD5D-DCCF-49E4-A33D-1B65C1E6D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5E767-9B03-45C1-9161-DF0A9E92A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A4018B-DCF0-455D-85FD-A66E80EF3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FEE6AF-BDAF-42C7-A875-90FF1951E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DE028-C9C8-4729-A7DE-2C9BADD8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51E09C-C8DB-40AD-B482-75A45BED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6711D2-2F63-4415-9406-BD3049A5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77A64D-4EE0-4FA1-86E7-B1B063790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FAEEB3-2C17-4332-A791-99DF4B12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7F853B-C7A2-4F73-AD2E-1D9A686AD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C8CDED-C7DD-4BA5-96F6-D8AE444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F2CA08-F6DB-48CD-878A-D98881145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426422C-6C02-431C-A511-2D7065FC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1178FBB-DB44-46AB-BF74-DAA7DED9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6C0A9B-9678-4C2E-8879-5995A2D22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D105A0-74F2-4D8A-9F76-3650C7008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44731C-780C-4971-A05A-FE731A38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3C26A9-2F44-46D1-82F1-A65323881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F9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652780-CD78-464B-BE21-83A1EC689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505122-AC2B-423C-85A0-F03C8E1B5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AI OPERATIONS LAYER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1FDBA0-BD41-460B-A08C-39133D198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Natural language becomes structured control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00D4AE-B48C-4F58-A10B-20206D39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AI is useful because it turns vague operator intent into ordered tasks and timed actions.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CE8409-B5DA-4BAD-97ED-CF8E57823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5F630E-B177-4578-87B8-5D28B817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305050"/>
            <a:ext cx="501015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6275"/>
            </a:srgbClr>
          </a:solidFill>
          <a:ln xmlns:a="http://schemas.openxmlformats.org/drawingml/2006/main" w="9525">
            <a:solidFill>
              <a:srgbClr val="FFFFFF">
                <a:alpha val="18431"/>
              </a:srgbClr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2ae14efc2840cc"/>
          <a:srcRect xmlns:a="http://schemas.openxmlformats.org/drawingml/2006/main" l="6910" t="0" r="69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2381250"/>
            <a:ext cx="4857750" cy="2857500"/>
          </a:xfrm>
          <a:prstGeom xmlns:a="http://schemas.openxmlformats.org/drawingml/2006/main" prst="rect">
            <a:avLst/>
          </a:prstGeom>
        </p:spPr>
      </p:pic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CB7E44-59FD-4AA0-BD3C-91B3DABA6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18279E1-8EFC-48DA-8CD0-82FB48AD8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2808821-175F-42E5-A755-798639CC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D62558F-11E5-4F42-9B86-3B3A319C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Voice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CDCAAA8-E029-4C1D-A604-5DBA9043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D1881CA-64F9-46B9-B228-E9CB5D89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Browser mic input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AAD51A9-AE8A-4C24-BB8F-2B8740CE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40542FB-8CAB-4A25-A76C-8DD32FBD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893AEF-9F8E-4566-936D-BBF45420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A2CAF09-101D-4C6E-AB91-026DFB11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STT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FF381A-AA29-4EA4-A256-A8DD3240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Text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4B6B7D4-DA61-4D65-835F-3F23E0F1C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faster-whisper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38C858-4825-4DFC-B05D-123CF38D2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619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FDD7C3C-C0FB-4FEF-8697-E560EBDA0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2390775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67EFEA5-D6B1-49D3-976B-C924C99EE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09850"/>
            <a:ext cx="12001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DDDF0B5-802B-40D4-8D0A-B9BC607F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2705100"/>
            <a:ext cx="8953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Qwen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5FE539E-9A24-49C6-B2E1-E09D2E4E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105150"/>
            <a:ext cx="116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45FD9A-A3A3-489E-81B9-E69C5CEF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448050"/>
            <a:ext cx="1162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structured tasks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62A647B-2AA6-46EA-9CBD-3C403976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219450"/>
            <a:ext cx="238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767AA02-2D51-4A7A-B3A4-5DC572B0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623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DAA46A2-954C-4F58-B899-A8F405FEC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19450"/>
            <a:ext cx="238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D3DB4EF-5A06-4564-B377-71DE3CBD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16230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24F61E6-6779-4A63-859E-40267768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57200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CD6E">
                <a:alpha val="44706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3B7EDFD-E4E6-455C-A034-BD701C68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581525"/>
            <a:ext cx="34099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D6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E58A0EC-B579-4884-8C0D-B5AD214A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781550"/>
            <a:ext cx="2971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Timeline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FE6C6F2-3804-4D9D-9959-1EAC231C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38750"/>
            <a:ext cx="29718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Delayed actions auto-clear after completion.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5E49B98-37C8-4F6B-8BDD-6F8AD2F1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72000"/>
            <a:ext cx="1809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EA421EF-42B5-4969-A483-5FE64F15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4581525"/>
            <a:ext cx="17907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E83E399-7193-438B-A9C4-A516CB0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781550"/>
            <a:ext cx="1352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429D201-29A3-46BD-81F7-F999F2AF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238750"/>
            <a:ext cx="13525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Overrides guide comfort.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6521927-306D-4C42-AFDC-B04FD5CD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ADDD420-ADDC-49BC-A55C-A8624FF44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40765838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26A1C3-B263-420E-A0E8-A15EE815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2CFF49-64D7-458C-A9DE-AFAE1F4F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A9055-C1BF-493A-95D7-8E132B3E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F5FAF9-9008-4B4D-9124-CCD0CDE1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36C8F2-4BCB-4C25-A72D-F3E048D85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DC20B-5B5E-4B25-8588-0E88A35D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4FD2A-4727-4276-A924-C804E260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E1E24C-86D6-4F04-A5EA-190AA855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77479-11E3-4EB8-BEC0-73CB89DB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24022F-2070-4227-980C-96978646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831ADA-2054-4B66-9D45-F70F913F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12F639-F502-4AE5-8E21-ABF622853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D60AA8-BF63-4CCD-B775-39C006423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0BE67E-AD4A-4700-B5EB-F84C9EC6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87454D-B610-4990-B796-40C611D5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59B77E-538D-4254-ACFD-6AEDFD1A3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9F6B7B-0E46-4A3C-AA32-BC5D6210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22A4AB-CD86-489E-87F9-A8D07A12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88C5CA-EDF4-431A-A3D6-7A187B624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E16319-13C3-4724-BDE5-130A0225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04A905D-445C-4D17-B11E-E5882FD7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863333-F353-44AD-8832-6262F0E2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FB853A-C010-41D4-B9FD-AF40CE49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43743D-4B98-40D8-9DDC-A15F283DF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D12027-2CF2-44AE-A1FA-D5FF6736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67284E-5B1A-40C0-A06D-E287C44ED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52F2B0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83FF8F-24BB-4657-A309-CA85319CA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28CAAA-2D76-4950-814F-92AC7FB7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SECURITY, PRIVACY &amp; OPERATIONS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A2AB40-A881-43BA-A636-8514F4FB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Demo-friendly, but risk-aware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889B3D-746F-448F-B692-3D490A06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project separates safety-critical local control from network convenience and AI assistance.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765E72-6FAC-4879-8E95-4A5D2EE4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B02349-EE8F-424B-BE93-BC3A7869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C596702-CFC2-4C1A-A6BF-887668D92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1A563D-80F6-4888-93F0-137FD5BE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Safety boundary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EDB9A91-77F7-461D-96E9-A4C3FE9C1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Safety alarm, buzzer, red light and fan response are local on UNO.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E413B1-CF68-44AA-B314-AD4FC4AD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D7C484-2636-4245-8E56-C9F61B278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65EFC1C-68DC-4E76-A949-56150A8F4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Privacy boundary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35ED52-438D-4B83-8B80-BD4D76DE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Microphone is user-triggered and requires browser permission.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DBE70BF-8FE3-47C3-9B69-8A4B3E21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76500"/>
            <a:ext cx="314325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F9701DB-8BEC-4FB0-AE40-464E0E558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486025"/>
            <a:ext cx="3124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ACECE93-F7F7-46F9-B9DE-40275861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686050"/>
            <a:ext cx="2686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Operations boundary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28F0580-2E11-44EC-BAD7-5919B0F7C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143250"/>
            <a:ext cx="2686050" cy="1657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MQTT status, ACK logs, persistence and self-check reduce demo risk.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56A6380-47E2-4834-9A98-80EE5C9D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476875"/>
            <a:ext cx="9525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FCD6E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CD6E"/>
                </a:solidFill>
                <a:latin typeface="Aptos"/>
                <a:ea typeface="Aptos"/>
                <a:cs typeface="Aptos"/>
              </a:rPr>
              <a:t>Production hardening path: authenticated MQTT, TLS, enclosure, fuse, isolation and power filtering.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4C4C4D-6F20-4CDD-AAC6-94C93074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E328D69-35B9-4D52-8664-D84546968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58112547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B0373BB-1E87-44FA-BB6D-9C0F5490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379299-F02D-48DA-88DE-143F8757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3CE563-1D81-488E-9CBD-27421F1C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ABEF6A-674B-411A-B9BE-938C3781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E9DB0C-6EBE-4F92-99A1-9D5F167A6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6F7FB-8739-43DE-8089-DB491E1D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C3C821-A2A8-4988-817E-74319B25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624E8-C44E-47F0-910D-DE225FB74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45C30-ACB1-4F55-9773-2B792B18D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3BE3D3-7286-435D-9841-4B85190F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ADF85D-F8FC-4A2B-8D81-BEFFDD69D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028BFF-2DA0-49E7-BDE2-CEC7A154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42575F-96A8-4319-867F-3155FE2A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A36F7F-795A-44E6-8D2B-0DD9DDE7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CACAFC-FBCB-4A02-BCC6-65B099B00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1781B5-0A1A-4D70-95EF-AD415B3E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CE6FF-858F-48F4-B1F4-621C588F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7A7D04-4328-42E0-B1BF-C2C30756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1C308E-6889-46FF-8CAE-1D64251F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E14CF8-C611-4409-8BC8-5D2367D1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8AC656A-A5DD-4DE6-80CC-B0A96BE05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7CB750-6A0D-4B89-BCC7-1E5E86077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60427C-5E11-4FC6-8D22-F73A43F6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CCE3F6-93F1-41D7-909D-89C6963D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5483B9-2ABB-4886-8278-D84FE0EB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6AA9C5-8DDA-4CDF-96C1-91AD28F9F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6FEA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5F25BE-97FB-4A71-A615-04F7723A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954B6F-C805-4FE6-8330-56482494F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DEMO CHOREOGRAPHY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20E8C0-D2B6-4C3F-B0E7-8EAA73CB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Show the strongest engineering first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CC746F-FFED-4545-8C61-D5F35B8E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audience should see safety and edge control before dashboard polish and AI features.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6F8E91-ABD5-42AC-8346-EA608608B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E6CC95-578B-47C2-87F0-3F9A75C0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FF5E7E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48E9BF2-37FA-4ADC-9D96-50086EDA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2D1364-3243-4385-BA76-5FA22373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11765"/>
            </a:srgbClr>
          </a:solidFill>
          <a:ln xmlns:a="http://schemas.openxmlformats.org/drawingml/2006/main" w="9525">
            <a:solidFill>
              <a:srgbClr val="FF5E7E">
                <a:alpha val="53333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61DFFCB-3CA3-4880-9818-56CB073A2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5E7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5E7E"/>
                </a:solidFill>
                <a:latin typeface="Aptos"/>
                <a:ea typeface="Aptos"/>
                <a:cs typeface="Aptos"/>
              </a:rPr>
              <a:t>P1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12EF439-FC88-45A5-950F-71BFCF0F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Safety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433CDB9-55DA-41F4-BE41-28D1ACC8A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button -&gt; red light -&gt; buzzer -&gt; fan high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CA6A06-DC9E-4361-A23A-413BF2BD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FD381CF-227F-4F75-9015-F1BF9BFD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0575114-30FF-449F-A154-9CB6D117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11765"/>
            </a:srgbClr>
          </a:solidFill>
          <a:ln xmlns:a="http://schemas.openxmlformats.org/drawingml/2006/main" w="9525">
            <a:solidFill>
              <a:srgbClr val="6FEAFF">
                <a:alpha val="53333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DCDE85-53DD-4E63-832E-21744376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07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P2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E505613-E23D-40EC-A196-15B55BB86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Edge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1CFE40-0B2C-4318-87DF-DF2D5E7E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local controller and priority modes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5611CA7-354C-4A09-BE5B-AB63ABEB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78F08B">
                <a:alpha val="44706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46C1A79-73A9-434F-95B8-D6A012693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302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AA4C6F8-0CFC-4B3D-ADD9-3FEE2D8D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11765"/>
            </a:srgbClr>
          </a:solidFill>
          <a:ln xmlns:a="http://schemas.openxmlformats.org/drawingml/2006/main" w="9525">
            <a:solidFill>
              <a:srgbClr val="78F08B">
                <a:alpha val="53333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14D4DE9-EF06-47C2-9A2E-573D3E2AD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F08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8F08B"/>
                </a:solidFill>
                <a:latin typeface="Aptos"/>
                <a:ea typeface="Aptos"/>
                <a:cs typeface="Aptos"/>
              </a:rPr>
              <a:t>P3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09D0A1-CBD4-4403-9434-E68005C6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Energy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BDA5BF1-5E8D-4E4C-B1E1-BE3ABFF7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PIR + light + temp drive lamp and fan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A992039-0807-4617-A266-F2B32BE86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66F2C0-D752-4F2A-AB2C-29F1047D8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82FD426-5D99-4C55-ACEB-469CED16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11765"/>
            </a:srgbClr>
          </a:solidFill>
          <a:ln xmlns:a="http://schemas.openxmlformats.org/drawingml/2006/main" w="9525">
            <a:solidFill>
              <a:srgbClr val="52F2B0">
                <a:alpha val="53333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3FF4201-EB07-470A-8A6D-D4AC51DC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P4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4B4670F-28EC-49B5-8669-15CADFD7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IoT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24A61A-FDF6-428D-9664-E8C20FD96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UART, MQTT topics and ACK command loop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0E5DD6C-8963-4853-BF69-D9F28990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476500"/>
            <a:ext cx="1952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B68CFF">
                <a:alpha val="44706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62F4DB6-08DE-4ABD-B17A-B662EEE5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2486025"/>
            <a:ext cx="1933575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176FBEF-0CE2-4639-A896-C507C77E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705100"/>
            <a:ext cx="1257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68CFF">
              <a:alpha val="11765"/>
            </a:srgbClr>
          </a:solidFill>
          <a:ln xmlns:a="http://schemas.openxmlformats.org/drawingml/2006/main" w="9525">
            <a:solidFill>
              <a:srgbClr val="B68CFF">
                <a:alpha val="53333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DD133E3-3C36-417E-A49A-1E8515F9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2800350"/>
            <a:ext cx="952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68C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8CFF"/>
                </a:solidFill>
                <a:latin typeface="Aptos"/>
                <a:ea typeface="Aptos"/>
                <a:cs typeface="Aptos"/>
              </a:rPr>
              <a:t>P5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94A5210-A6EF-4C51-A81B-CCDD745F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00400"/>
            <a:ext cx="14954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09C1D6C-3ABC-45EE-B7EA-8B5140F0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543300"/>
            <a:ext cx="14954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voice, Qwen, timeline and data preference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F452301-8474-4BED-9E27-E4ACD9FE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50520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0711EC2-587A-4377-AEE0-7737989C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480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5E7E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BE24712-19ED-4E78-AF03-73B89116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50520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78F02F3-4F1B-4F96-818C-927B13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4480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FB1B330-DC22-4A6D-B172-7731F1B0E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50520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DCAD6EE-3F74-4218-A624-CEDED20C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480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78F08B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EB235A89-6A3D-4264-BA47-F0CBEA2C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3505200"/>
            <a:ext cx="19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0511F3F-9135-4FBF-BEDD-1444A8E3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448050"/>
            <a:ext cx="152400" cy="15240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BCE21A7-19AC-4A23-B153-988AFFA7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81625"/>
            <a:ext cx="8763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Do not open with AI. Open with physical safety response.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79712A7-BEC5-4A0C-8D06-F3902C6E8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7AEF5267-0693-41D9-B946-027478FA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</a:t>
            </a:r>
          </a:p>
        </p:txBody>
      </p:sp>
    </p:spTree>
    <p:extLst>
      <p:ext uri="{BB962C8B-B14F-4D97-AF65-F5344CB8AC3E}">
        <p14:creationId xmlns:p14="http://schemas.microsoft.com/office/powerpoint/2010/main" val="1193369339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E3A65EC-4A78-4CA8-8D7C-34F8C8E0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0B1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DD735C-1C13-471B-853F-3C3336FE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2"/>
              </a:gs>
              <a:gs pos="52000">
                <a:srgbClr val="071722"/>
              </a:gs>
              <a:gs pos="100000">
                <a:srgbClr val="10152A"/>
              </a:gs>
            </a:gsLst>
            <a:lin ang="8700000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5F63AD-26F2-4CE8-BD9B-D82A4D1A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C9662-486D-4EEF-B74E-32AAADB8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1EC0C2-9076-439A-8142-15635429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985E40-CCE6-4EAB-9AC4-B8025FFDC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99D87E-5CFF-4816-B4D4-D87E21C6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CC0317-8AA3-42C0-AAFA-DE6C9E06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FE739-9EE2-460C-B991-1CA24B7A4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61E9E-BD43-4E6A-B192-68784FA7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BDEDBF-A685-4C61-BF1B-CD2353F2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968B4-9653-4B6E-8A35-FD1FB2B9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C60ED9-9287-4E45-88F8-E3B5DEFA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D5916A-0FEF-45EF-9E2B-6A3ABBC02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A57593-2496-48F3-A922-3B6BB5DD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FD53A-3363-4ACB-8905-A204D8D5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0" y="0"/>
            <a:ext cx="95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74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DB8B3F-CB86-4F78-A27D-31629AE33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6561AD-E716-4A56-B546-9F966DE8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857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540567-4134-4D07-A0BB-75D2D4BD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714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F49B4B-85AD-403A-BB5C-AB46E0B3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71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AB9C03-74C1-4636-835D-B9FD24D6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429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CAB861-9D1C-4274-9D29-C13078BE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862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5154E4-7BB8-4BBF-9141-BBCF3145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435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72BE5E-92BF-4820-A2EE-01590637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00075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FE23D4-FE30-44EF-B0BB-64D8D4191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858000"/>
            <a:ext cx="12192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235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B77FE7-1AA6-42D6-B4FA-095119E7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-1809750"/>
            <a:ext cx="5334000" cy="5334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20784"/>
                </a:srgbClr>
              </a:gs>
              <a:gs pos="70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9F9649-A218-4E92-BE5C-03E0624D4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476500" y="4667250"/>
            <a:ext cx="5715000" cy="5715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B68CFF">
                  <a:alpha val="14118"/>
                </a:srgbClr>
              </a:gs>
              <a:gs pos="72000">
                <a:srgbClr val="000000">
                  <a:alpha val="0"/>
                </a:srgbClr>
              </a:gs>
            </a:gsLst>
            <a:path path="shape"/>
          </a:gra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967F37-5B59-43AB-8255-FCD45F64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619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 + SELF-CHECK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A1F2CA-1296-4569-8555-3742BC136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9906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7FCFF"/>
                </a:solidFill>
                <a:latin typeface="Aptos Display"/>
                <a:ea typeface="Aptos Display"/>
                <a:cs typeface="Aptos Display"/>
              </a:rPr>
              <a:t>Ready to inspect, rebuild and present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4B4260-8552-44EE-8933-56C095216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43050"/>
            <a:ext cx="8572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The final package includes sources, assembly materials, scripts and a repeatable delivery check.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396A2E1-D6DF-4282-9786-3BCAB00C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400050"/>
            <a:ext cx="76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7E9AAC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EB6BC3-FD44-4CF4-8064-577EB69B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33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6FEAFF">
                <a:alpha val="44706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BB171DC-3ECF-4B52-A264-456AA634E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343150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EAFF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00FCB5-80F8-448F-A981-6CE4AC00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43175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FEA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6FEAFF"/>
                </a:solidFill>
                <a:latin typeface="Aptos"/>
                <a:ea typeface="Aptos"/>
                <a:cs typeface="Aptos"/>
              </a:rPr>
              <a:t>References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61C75AF-11C0-4D8A-8EA9-E9C84444C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00375"/>
            <a:ext cx="4305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Arduino UNO R3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Espressif Arduino-ESP32 Serial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Eclipse Mosquitto config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Arduino PubSubClient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Texas Instruments LM35 page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5B17342-52DC-4A89-9122-E8552C1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33625"/>
            <a:ext cx="4762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2636">
              <a:alpha val="90196"/>
            </a:srgbClr>
          </a:solidFill>
          <a:ln xmlns:a="http://schemas.openxmlformats.org/drawingml/2006/main" w="19050">
            <a:solidFill>
              <a:srgbClr val="52F2B0">
                <a:alpha val="44706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8E8EA2-2D62-4C0B-B6BC-4C031A849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343150"/>
            <a:ext cx="4743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F2B0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F1B87B-8EE0-4C3D-B824-E0F67A53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43175"/>
            <a:ext cx="4305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2F2B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52F2B0"/>
                </a:solidFill>
                <a:latin typeface="Aptos"/>
                <a:ea typeface="Aptos"/>
                <a:cs typeface="Aptos"/>
              </a:rPr>
              <a:t>Self-check gates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69DEDA-4BCE-4161-92EC-D6F6B6FE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000375"/>
            <a:ext cx="4305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PPT structure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required docs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firmware presence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secret scan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Node/Python syntax</a:t>
            </a:r>
          </a:p>
          <a:p xmlns:a="http://schemas.openxmlformats.org/drawingml/2006/main">
            <a:pPr algn="l">
              <a:defRPr sz="1650" b="0">
                <a:solidFill>
                  <a:srgbClr val="B9D2E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B9D2E2"/>
                </a:solidFill>
                <a:latin typeface="Aptos"/>
                <a:ea typeface="Aptos"/>
                <a:cs typeface="Aptos"/>
              </a:rPr>
              <a:t>UNO + ESP32 compile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A48D56-75A4-4FAB-9564-CB85FF10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72125"/>
            <a:ext cx="971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F7FC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7FCFF"/>
                </a:solidFill>
                <a:latin typeface="Aptos"/>
                <a:ea typeface="Aptos"/>
                <a:cs typeface="Aptos"/>
              </a:rPr>
              <a:t>Final claim: a local-first IoT classroom controller with safety, energy saving, operations and evidence-backed intelligence.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ACBE68-9955-4316-B70C-9CF46DF35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D868F4-6ADB-4378-B372-8A9105F2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239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7E9AAC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7E9AAC"/>
                </a:solidFill>
                <a:latin typeface="Aptos"/>
                <a:ea typeface="Aptos"/>
                <a:cs typeface="Aptos"/>
              </a:rPr>
              <a:t>Smart Classroom IoT104TC final presentation package</a:t>
            </a:r>
          </a:p>
        </p:txBody>
      </p:sp>
    </p:spTree>
    <p:extLst>
      <p:ext uri="{BB962C8B-B14F-4D97-AF65-F5344CB8AC3E}">
        <p14:creationId xmlns:p14="http://schemas.microsoft.com/office/powerpoint/2010/main" val="3739605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2026-05-24T13:18:08.8150000Z</dcterms:created>
  <dcterms:modified xsi:type="dcterms:W3CDTF">2026-05-24T13:18:08.8150000Z</dcterms:modified>
</coreProperties>
</file>