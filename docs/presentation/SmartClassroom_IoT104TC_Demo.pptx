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6a143b614942f2" /><Relationship Type="http://schemas.openxmlformats.org/officeDocument/2006/relationships/extended-properties" Target="/docProps/app.xml" Id="R0f8918b5c7ae405b" /><Relationship Type="http://schemas.openxmlformats.org/officeDocument/2006/relationships/officeDocument" Target="/ppt/presentation.xml" Id="R40f8ceb598744a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acbec83fb04263"/>
  </p:sldMasterIdLst>
  <p:notesMasterIdLst>
    <p:notesMasterId xmlns:r="http://schemas.openxmlformats.org/officeDocument/2006/relationships" r:id="R9036f55e4fdd406b"/>
  </p:notesMasterIdLst>
  <p:sldIdLst>
    <p:sldId xmlns:r="http://schemas.openxmlformats.org/officeDocument/2006/relationships" id="256" r:id="R0a233a179abb4b70"/>
    <p:sldId xmlns:r="http://schemas.openxmlformats.org/officeDocument/2006/relationships" id="257" r:id="R463874ff71b44033"/>
    <p:sldId xmlns:r="http://schemas.openxmlformats.org/officeDocument/2006/relationships" id="258" r:id="R8504b9f39b264941"/>
    <p:sldId xmlns:r="http://schemas.openxmlformats.org/officeDocument/2006/relationships" id="259" r:id="Rb1029f3758b44acb"/>
    <p:sldId xmlns:r="http://schemas.openxmlformats.org/officeDocument/2006/relationships" id="260" r:id="R0f64813fa2a04dbb"/>
    <p:sldId xmlns:r="http://schemas.openxmlformats.org/officeDocument/2006/relationships" id="261" r:id="R4fed9f35661d4ac3"/>
    <p:sldId xmlns:r="http://schemas.openxmlformats.org/officeDocument/2006/relationships" id="262" r:id="R31eea9fbd06e417b"/>
    <p:sldId xmlns:r="http://schemas.openxmlformats.org/officeDocument/2006/relationships" id="263" r:id="Rad74651e8f314aee"/>
    <p:sldId xmlns:r="http://schemas.openxmlformats.org/officeDocument/2006/relationships" id="264" r:id="R7455e1f5e0514c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acbec83fb04263" /><Relationship Type="http://schemas.openxmlformats.org/officeDocument/2006/relationships/theme" Target="/ppt/theme/theme1.xml" Id="R432b4de210ba41ac" /><Relationship Type="http://schemas.openxmlformats.org/officeDocument/2006/relationships/notesMaster" Target="/ppt/notesMasters/notesMaster1.xml" Id="R9036f55e4fdd406b" /><Relationship Type="http://schemas.openxmlformats.org/officeDocument/2006/relationships/presProps" Target="/ppt/presProps.xml" Id="R231384a68cd14dde" /><Relationship Type="http://schemas.openxmlformats.org/officeDocument/2006/relationships/viewProps" Target="/ppt/viewProps.xml" Id="R040c45b20c8348c0" /><Relationship Type="http://schemas.openxmlformats.org/officeDocument/2006/relationships/tableStyles" Target="/ppt/tableStyles.xml" Id="Rf3f71ff221c54fc9" /><Relationship Type="http://schemas.openxmlformats.org/officeDocument/2006/relationships/slide" Target="/ppt/slides/slide1.xml" Id="R0a233a179abb4b70" /><Relationship Type="http://schemas.openxmlformats.org/officeDocument/2006/relationships/slide" Target="/ppt/slides/slide2.xml" Id="R463874ff71b44033" /><Relationship Type="http://schemas.openxmlformats.org/officeDocument/2006/relationships/slide" Target="/ppt/slides/slide3.xml" Id="R8504b9f39b264941" /><Relationship Type="http://schemas.openxmlformats.org/officeDocument/2006/relationships/slide" Target="/ppt/slides/slide4.xml" Id="Rb1029f3758b44acb" /><Relationship Type="http://schemas.openxmlformats.org/officeDocument/2006/relationships/slide" Target="/ppt/slides/slide5.xml" Id="R0f64813fa2a04dbb" /><Relationship Type="http://schemas.openxmlformats.org/officeDocument/2006/relationships/slide" Target="/ppt/slides/slide6.xml" Id="R4fed9f35661d4ac3" /><Relationship Type="http://schemas.openxmlformats.org/officeDocument/2006/relationships/slide" Target="/ppt/slides/slide7.xml" Id="R31eea9fbd06e417b" /><Relationship Type="http://schemas.openxmlformats.org/officeDocument/2006/relationships/slide" Target="/ppt/slides/slide8.xml" Id="Rad74651e8f314aee" /><Relationship Type="http://schemas.openxmlformats.org/officeDocument/2006/relationships/slide" Target="/ppt/slides/slide9.xml" Id="R7455e1f5e0514c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13d6614b50046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4d3548f8c64de5" /><Relationship Type="http://schemas.openxmlformats.org/officeDocument/2006/relationships/notesMaster" Target="/ppt/notesMasters/notesMaster1.xml" Id="Rd72ad31819c240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d6dcdf26324af9" /><Relationship Type="http://schemas.openxmlformats.org/officeDocument/2006/relationships/notesMaster" Target="/ppt/notesMasters/notesMaster1.xml" Id="R864696d198524a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cb1f0fc6af44a3" /><Relationship Type="http://schemas.openxmlformats.org/officeDocument/2006/relationships/notesMaster" Target="/ppt/notesMasters/notesMaster1.xml" Id="Rc8f0e9474ff14f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5c2e8009724503" /><Relationship Type="http://schemas.openxmlformats.org/officeDocument/2006/relationships/notesMaster" Target="/ppt/notesMasters/notesMaster1.xml" Id="Rc914fcd2a3f246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47070a1b074ec7" /><Relationship Type="http://schemas.openxmlformats.org/officeDocument/2006/relationships/notesMaster" Target="/ppt/notesMasters/notesMaster1.xml" Id="R011a7e47fe6c4e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41c39af2dc4d03" /><Relationship Type="http://schemas.openxmlformats.org/officeDocument/2006/relationships/notesMaster" Target="/ppt/notesMasters/notesMaster1.xml" Id="R06a6412b13424e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26f7bcd0dc4107" /><Relationship Type="http://schemas.openxmlformats.org/officeDocument/2006/relationships/notesMaster" Target="/ppt/notesMasters/notesMaster1.xml" Id="Rd340231f4cfd45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7a9cecb88a4083" /><Relationship Type="http://schemas.openxmlformats.org/officeDocument/2006/relationships/notesMaster" Target="/ppt/notesMasters/notesMaster1.xml" Id="Rcba5658d822741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8c044889304ba6" /><Relationship Type="http://schemas.openxmlformats.org/officeDocument/2006/relationships/notesMaster" Target="/ppt/notesMasters/notesMaster1.xml" Id="Rf141d4709d6b4a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86418214046a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9eca37a56c247fb" /><Relationship Type="http://schemas.openxmlformats.org/officeDocument/2006/relationships/slideLayout" Target="/ppt/slideLayouts/slideLayout2.xml" Id="R5bc51a2549424e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c51a2549424e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399d4be0e1472c" /><Relationship Type="http://schemas.openxmlformats.org/officeDocument/2006/relationships/notesSlide" Target="/ppt/notesSlides/notesSlide1.xml" Id="R9bc81ad499a242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6c6fc4a9194bcc" /><Relationship Type="http://schemas.openxmlformats.org/officeDocument/2006/relationships/notesSlide" Target="/ppt/notesSlides/notesSlide2.xml" Id="Re05cb99b9a354e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43850859824123" /><Relationship Type="http://schemas.openxmlformats.org/officeDocument/2006/relationships/notesSlide" Target="/ppt/notesSlides/notesSlide3.xml" Id="R3316f8bb896543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1fee4e083c4bef" /><Relationship Type="http://schemas.openxmlformats.org/officeDocument/2006/relationships/notesSlide" Target="/ppt/notesSlides/notesSlide4.xml" Id="Raf466a1ee2e24b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25da28a1234089" /><Relationship Type="http://schemas.openxmlformats.org/officeDocument/2006/relationships/notesSlide" Target="/ppt/notesSlides/notesSlide5.xml" Id="R17e929c8053742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a2d0cfce0f4e46" /><Relationship Type="http://schemas.openxmlformats.org/officeDocument/2006/relationships/notesSlide" Target="/ppt/notesSlides/notesSlide6.xml" Id="Ra407c841183942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a0cbc977864b91" /><Relationship Type="http://schemas.openxmlformats.org/officeDocument/2006/relationships/notesSlide" Target="/ppt/notesSlides/notesSlide7.xml" Id="R5af83274ef684c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f357f02c114ee2" /><Relationship Type="http://schemas.openxmlformats.org/officeDocument/2006/relationships/notesSlide" Target="/ppt/notesSlides/notesSlide8.xml" Id="R1f59906f6a5340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2755e68da54827" /><Relationship Type="http://schemas.openxmlformats.org/officeDocument/2006/relationships/notesSlide" Target="/ppt/notesSlides/notesSlide9.xml" Id="Rbaa584af705741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04A5AF-C5CA-4915-BC93-3D8EB928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57E0F-6EFD-4450-8E9F-1454B277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D6E1F5-9A14-489C-8610-5203643E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74900E-128F-4835-87CF-6DEFDB6D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77D70B-F01F-4A1D-BD60-D1782F10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A3C50E-5723-42DF-8219-4CE6B0D2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723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3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43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Smart Classroom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FE3A1-6043-4CF4-9E3A-F71BC45C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Energy-Saving, Safety &amp; Asset Monitoring 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293F4-EED0-4A57-8871-FFDE730E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23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Arduino UNO edge control + ESP32 MQTT gateway + local operations dashboard + AI task planner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7DFCC-F3C1-40E1-89A3-A43484C9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161925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2C52E-C5FF-45CA-B382-514AA3FC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UNO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4F341-0F44-45A7-AAEA-FBCCAD69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real-time edge node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F19E7-C474-4C06-B13F-32034872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733800"/>
            <a:ext cx="180975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1F8761-69C3-4125-A994-9BABF268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92430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ESP32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5A1852-A74D-4E08-8D38-3ED00D81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624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Wi-Fi / MQTT gateway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DC08CC-9C12-4904-8DE2-E65D7F2E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00025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00C9E-B657-402A-9E5D-23943D1F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243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4F8CFF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4F8CFF"/>
                </a:solidFill>
                <a:latin typeface="Aptos"/>
                <a:ea typeface="Aptos"/>
                <a:cs typeface="Aptos"/>
              </a:rPr>
              <a:t>MQTT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D1169-F792-4211-A527-052F16E6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telemetry + command 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CEDA65-85F3-4A53-BE7B-E9C53391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33800"/>
            <a:ext cx="161925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BB360E-601A-4924-8955-8EECF822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FFD166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C2C35F-9C6F-4224-861C-6D0EC0A7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624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structured timed tasks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904C49-BE17-4B18-9059-9538F60B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3238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3A56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957FB7-4FA3-41D5-BD9E-9E104F4D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81700"/>
            <a:ext cx="2971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FAE10C-935A-47A5-84E4-CDEC5574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9626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Built for a practical 10-minute live demo</a:t>
            </a:r>
          </a:p>
        </p:txBody>
      </p:sp>
    </p:spTree>
    <p:extLst>
      <p:ext uri="{BB962C8B-B14F-4D97-AF65-F5344CB8AC3E}">
        <p14:creationId xmlns:p14="http://schemas.microsoft.com/office/powerpoint/2010/main" val="13132318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B8A053-EC9C-447C-95DC-197B4F06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05742-9A92-4FEF-820C-891CEDA9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74075-4EB4-4345-95FF-2988FCF4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A6777-03D3-472E-9760-A9D97E3B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03295B-AFD7-4E17-BD87-1DC64F64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E4AF3-0616-49B0-B5D9-548DF279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The classroom problem is operational, not just electrical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449C3-C6A8-4FCC-8E92-2BD69C8E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6572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A classroom wastes energy and misses safety events when lighting, ventilation, and alarms are isolated devices.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027A8-1E65-4774-B429-B77A6177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241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06128-808C-4F3F-981B-867E2574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560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Lights should react to occupancy and ambient brightness.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15B2C-926B-4156-8FBB-6D7C2B5C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575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672DD7-147E-4FC2-9DCE-1D8857B1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6076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Ventilation should respond to temperature without abrupt full-speed behavior.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3802E-729D-4201-B38D-0AA852F6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9DEE05-9803-4EBF-A375-249251AF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Gas, flame, and emergency events must override normal saving logic.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8E344-3F48-44CD-962D-9C4ADFE2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24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FBD01-75DD-4FED-8BCB-218A1A63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5765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Operators need telemetry, manual override, and traceable commands.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81CFE-558B-483F-A72E-A45A2FC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3333750" cy="3429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55BBE-AE44-4047-A7AD-C3E58B83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526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Use-case promise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113C7E-92B8-4063-9A6D-DD58F2FC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05050"/>
            <a:ext cx="268605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49F40A-0088-4680-BC66-08DE5240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95550"/>
            <a:ext cx="2343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save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F3E7E-04E7-4B89-9DD9-CD4F133A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337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energy when rooms are empty or bright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159849-058F-42C9-86EB-36FEE6A5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57600"/>
            <a:ext cx="268605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907354-25BB-429D-B94E-AC398BD5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48100"/>
            <a:ext cx="2343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FF5C7A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FF5C7A"/>
                </a:solidFill>
                <a:latin typeface="Aptos"/>
                <a:ea typeface="Aptos"/>
                <a:cs typeface="Aptos"/>
              </a:rPr>
              <a:t>warn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371B42-AD31-4B21-817D-D1AD2AFB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8625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early safety risk with visible alarm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A9782A-AB58-46DC-B2C0-6E72FC30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1970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The demo is therefore evaluated as an IoT service, not a single Arduino trick.</a:t>
            </a:r>
          </a:p>
        </p:txBody>
      </p:sp>
    </p:spTree>
    <p:extLst>
      <p:ext uri="{BB962C8B-B14F-4D97-AF65-F5344CB8AC3E}">
        <p14:creationId xmlns:p14="http://schemas.microsoft.com/office/powerpoint/2010/main" val="3618418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AD9E35-C01A-4935-9F7A-C2BC8851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6A7CC4-215B-442E-86DC-A83F23A8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366263-A027-4ABE-A9D5-171DF6D0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5E761-EF32-4A4C-9008-EC60715C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38598-8277-445B-89B0-D5D81A45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0A0D4-54E0-4A45-96AA-02B8A00F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Layered IoT architecture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A7EC51-3B37-4017-BB2A-780A6756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3048000" cy="14287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E822E9-C432-4956-9609-E7AEEB67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AD8D1-9E95-4AC0-AE25-16D93274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5260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Sensor and actuator layer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151B5-F846-4DBD-AEBC-FBF2B1DB9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533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PIR, TEMT6000, LM35, gas, flame, button, LED, buzzer, relay fan, PWM, tach, R/Y/G status light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81208-2AB6-48F1-A087-DB064F95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19250"/>
            <a:ext cx="3048000" cy="14287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1D4F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C5ED3-C82D-49DE-ABA7-D0D79ECA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AA661B-03A0-4286-AF3D-6FDB5E1C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5260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Arduino UNO edge node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4FD590-CC89-462A-83F5-F12EAF19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57400"/>
            <a:ext cx="2533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millis-based state machine, safety priority, fan/lamp control, UART telemetry, command 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013B66-5214-4FB4-946A-5D24E747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19250"/>
            <a:ext cx="3048000" cy="14287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4F8CF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0C0CE-FC12-427A-A811-97EBF173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790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2B696C-866A-44F6-9691-590AD058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75260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ESP32 gateway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83065E-1AAC-456B-9D84-25BD09F2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57400"/>
            <a:ext cx="2533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UART bridge, Wi-Fi reconnect, MQTT publish/subscribe, LM35 ADC compensation on GPIO34/GPIO35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204FEB-67C3-4DC6-8641-0347D4B1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91000"/>
            <a:ext cx="3048000" cy="14287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FD16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6520A8-021C-4DCD-85D4-BD579C6D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62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1B3B4F-6B33-4555-8E70-7D8A96EA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3243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Laptop service layer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F4DFB3-FAF8-4DC3-8EE7-5F701F26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629150"/>
            <a:ext cx="2533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local MQTT broker, WebSocket dashboard, HTTPS mic endpoint, Qwen task planner, analytics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0D8C0D-0C7E-40FC-B3DF-F9DACB45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336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5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3551DF-20DA-4048-860F-3ADCE93B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336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5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0EEADA-5CC5-40DF-9534-2D983DF6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48000"/>
            <a:ext cx="19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5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15C68C-EDDE-4D12-B863-BF778286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245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Design principle: safety-critical actuator control stays local on UNO; cloud-like intelligence remains optional and supervisory.</a:t>
            </a:r>
          </a:p>
        </p:txBody>
      </p:sp>
    </p:spTree>
    <p:extLst>
      <p:ext uri="{BB962C8B-B14F-4D97-AF65-F5344CB8AC3E}">
        <p14:creationId xmlns:p14="http://schemas.microsoft.com/office/powerpoint/2010/main" val="5798904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A6A912-AC8E-4BEE-81E0-27364625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8BEFA-2FDE-4379-BED8-A18736ED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58340-FA5B-4449-8440-9C8D5776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2EAE2-4D61-473A-85F9-EF1080D1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3807F-90AA-4289-836E-7F774A63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EB2120-49C8-440F-A767-CE335C4E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Hardware map: every module has a role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022A1-15F6-4F88-9BDA-41C91750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Modules from the kit photo are labeled by photo number. The single-relay kit module is replaced by a separate 6-port relay module.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9A7CF9-36E3-4620-84AB-7E932982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232410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F0E79-5D37-4FBC-A37D-64F3158B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DC761-4712-412B-B755-8A411CAC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145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#18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5F95E-FD3F-4B04-BADE-EDD68460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19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PIR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5BC88D-1678-4022-A410-EA7E0823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occupancy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015404-8A38-4704-AF48-65D131EA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66900"/>
            <a:ext cx="232410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1D4FD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B471B-A198-46FD-98D3-E3967770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3835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D32B89-8B5B-4922-8BDF-8769A5AF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1145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#30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4C60E-E342-41FF-B85E-A4F0B6B0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19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TEMT6000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70C3F8-4506-4002-8577-BF918E23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light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792E41-FDFA-47EE-AC2C-A033C91F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66900"/>
            <a:ext cx="232410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D16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8F1240-4F06-4C6A-AA43-C8762B53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3835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4BD9E1-8C16-4F3E-9BC7-776243BC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145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D166"/>
                </a:solidFill>
                <a:latin typeface="Aptos"/>
                <a:ea typeface="Aptos"/>
                <a:cs typeface="Aptos"/>
              </a:rPr>
              <a:t>#39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5CA2D6-84F3-4F88-9912-EEDF105E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19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LM35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709346-B10E-4916-AF47-1A32FC32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temperature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E438EA-44DB-426F-AFC1-292E4531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866900"/>
            <a:ext cx="232410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5C7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F4FBF8-8E3C-4FD5-A57A-6E05852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3835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4F7618-0441-44F9-802B-0144DC77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145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5C7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5C7A"/>
                </a:solidFill>
                <a:latin typeface="Aptos"/>
                <a:ea typeface="Aptos"/>
                <a:cs typeface="Aptos"/>
              </a:rPr>
              <a:t>#25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9A28F4-FDB2-4737-8255-2DF5BCBB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19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Gas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E12F2-6D67-4100-B8A8-3B274013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air safety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FF40B0-2E1B-457C-A05A-3596DB3E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232410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5C7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1424CC-4206-495C-90F3-AA92C437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0FE972-0E88-493D-BA9C-6C6AE339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528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5C7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5C7A"/>
                </a:solidFill>
                <a:latin typeface="Aptos"/>
                <a:ea typeface="Aptos"/>
                <a:cs typeface="Aptos"/>
              </a:rPr>
              <a:t>#16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1DD369-018F-462F-BBCF-9D925E63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57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Flame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015648-9F53-4D51-B611-CD616B05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005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fire safety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3433B7-32E9-4B56-BB52-09A283DF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05200"/>
            <a:ext cx="232410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D166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C1DB0A-8E7E-4757-AFD2-8C8F8E88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7665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DB9015-1C90-4C8C-9B4C-4474A245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7528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D166"/>
                </a:solidFill>
                <a:latin typeface="Aptos"/>
                <a:ea typeface="Aptos"/>
                <a:cs typeface="Aptos"/>
              </a:rPr>
              <a:t>#5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35FC7C-6A07-4ED5-B545-CFE36F68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57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Buzzer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FF5292-9B76-4FDB-85D3-C673239B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005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audible alert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9B0FB3-BC2F-4533-8A94-E8CA5774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05200"/>
            <a:ext cx="232410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4F8CF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E4A3CC-7DBF-4C9C-99E1-1F80C57B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7665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2AB1B5-85E3-4190-97F4-B43ACC0F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528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4F8C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4F8CFF"/>
                </a:solidFill>
                <a:latin typeface="Aptos"/>
                <a:ea typeface="Aptos"/>
                <a:cs typeface="Aptos"/>
              </a:rPr>
              <a:t>#4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CB5845-51B8-4BDD-BC2F-8593A031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57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Traffic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0716F7-D48D-43B7-828D-9EC06BE4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status light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6273E6-6F1A-4350-8D0A-8116F043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05200"/>
            <a:ext cx="232410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3A7A9D-3BE4-4C9C-A137-84F9E5D3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67665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65C82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898F341-F775-4424-A76B-B0D86B56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528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Extra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2B5663-87E3-4F87-A20B-206822F2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057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Fan + Relay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5ED1C5-237E-4680-8CFA-D5671D0A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4005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ventilation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94FD91-417C-4AE1-B077-4698EF79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Current build note: no capacitors are installed. LM35 is powered from ESP32 5V/VIN and read on GPIO34, with GPIO35 used as a dummy ADC reference.</a:t>
            </a:r>
          </a:p>
        </p:txBody>
      </p:sp>
    </p:spTree>
    <p:extLst>
      <p:ext uri="{BB962C8B-B14F-4D97-AF65-F5344CB8AC3E}">
        <p14:creationId xmlns:p14="http://schemas.microsoft.com/office/powerpoint/2010/main" val="3402407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59209F-16C9-4900-B2B8-D1832F95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09055-5D77-4A4E-9DB1-FE91E8D6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2604B-3894-40DC-8154-23664E8D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764E1-4844-4C90-9A33-8007DFB2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835A8-FE82-4739-960C-B3B687B4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0A2081-E961-43F4-8C31-AD230E47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Safety alarm is the highest-priority control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3E4C5-F253-4DCD-8875-A7BEF75F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1714500" cy="1428750"/>
          </a:xfrm>
          <a:prstGeom xmlns:a="http://schemas.openxmlformats.org/drawingml/2006/main" prst="roundRect">
            <a:avLst>
              <a:gd name="adj" fmla="val 14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3A4C3D-E68B-4209-8B91-48B80256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241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BE784-6383-41D1-AFCC-47137BC0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green status / monitoring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5964F-69AF-403C-A056-B11B2283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781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9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A786-5A74-4244-9EE7-BDA830F2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76450"/>
            <a:ext cx="1714500" cy="1428750"/>
          </a:xfrm>
          <a:prstGeom xmlns:a="http://schemas.openxmlformats.org/drawingml/2006/main" prst="roundRect">
            <a:avLst>
              <a:gd name="adj" fmla="val 14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1D4F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236F9-476E-4139-84E3-CC6494EC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241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8EE5AA-262A-4841-8609-9B4F384D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8130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occupied + dark -&gt; lamp 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D23EA-3E56-4C81-AE79-3C313562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9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F9A8E-A87D-416D-AEB4-F4CD8ED4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76450"/>
            <a:ext cx="1714500" cy="1428750"/>
          </a:xfrm>
          <a:prstGeom xmlns:a="http://schemas.openxmlformats.org/drawingml/2006/main" prst="roundRect">
            <a:avLst>
              <a:gd name="adj" fmla="val 14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FD16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281FF3-E983-4749-A6F5-C78E891D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241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FD166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217E47-F088-4CC6-A4C9-06F5D5EF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8130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temperature policy -&gt; fan PWM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67CDAE-D487-417A-B9ED-A26FB543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81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9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F9F5E6-3C63-42F0-A644-96959FF0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76450"/>
            <a:ext cx="1714500" cy="1428750"/>
          </a:xfrm>
          <a:prstGeom xmlns:a="http://schemas.openxmlformats.org/drawingml/2006/main" prst="roundRect">
            <a:avLst>
              <a:gd name="adj" fmla="val 14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4F8C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78952E-9C41-4F59-A51D-C4319281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241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4F8C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4F8CFF"/>
                </a:solidFill>
                <a:latin typeface="Aptos"/>
                <a:ea typeface="Aptos"/>
                <a:cs typeface="Aptos"/>
              </a:rPr>
              <a:t>ENERGY SAVING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F90F74-8E38-4C84-BF41-AB037E75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no occupancy / bright -&gt; outputs reduced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BDE12A-AE3E-4902-A050-2765FA6E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81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9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A793A5-39C1-4149-83D7-2D362046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1714500" cy="1428750"/>
          </a:xfrm>
          <a:prstGeom xmlns:a="http://schemas.openxmlformats.org/drawingml/2006/main" prst="roundRect">
            <a:avLst>
              <a:gd name="adj" fmla="val 14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F5C7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80F6EE-F74F-4407-930A-D94695E6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241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FF5C7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F5C7A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EAE5C2-2543-49AB-87AF-186C876A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gas/flame/button -&gt; red + buzzer + fan high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074DBC-279F-45D6-92F5-7A98A25C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24350"/>
            <a:ext cx="9486900" cy="1047750"/>
          </a:xfrm>
          <a:prstGeom xmlns:a="http://schemas.openxmlformats.org/drawingml/2006/main" prst="roundRect">
            <a:avLst>
              <a:gd name="adj" fmla="val 23636"/>
            </a:avLst>
          </a:prstGeom>
          <a:solidFill xmlns:a="http://schemas.openxmlformats.org/drawingml/2006/main">
            <a:srgbClr val="FF5C7A">
              <a:alpha val="11000"/>
            </a:srgbClr>
          </a:solidFill>
          <a:ln xmlns:a="http://schemas.openxmlformats.org/drawingml/2006/main" w="9525">
            <a:solidFill>
              <a:srgbClr val="FF5C7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3B8527-A2F3-4248-9DC3-CD1045A7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720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FF5C7A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FF5C7A"/>
                </a:solidFill>
                <a:latin typeface="Aptos"/>
                <a:ea typeface="Aptos"/>
                <a:cs typeface="Aptos"/>
              </a:rPr>
              <a:t>Priority rule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BA8414-037B-403C-99B7-A6E8ABFB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52950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SAFETY_ALARM &gt; SENSOR_ERROR &gt; COOLING &gt; LIGHTING &gt; ENERGY_SAVING &gt; NORMAL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E820B1-02B9-4A77-A9DD-1E0C8876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482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Normal automation always yields to safety, so gas, flame, and emergency events cannot be hidden by energy-saving logic.</a:t>
            </a:r>
          </a:p>
        </p:txBody>
      </p:sp>
    </p:spTree>
    <p:extLst>
      <p:ext uri="{BB962C8B-B14F-4D97-AF65-F5344CB8AC3E}">
        <p14:creationId xmlns:p14="http://schemas.microsoft.com/office/powerpoint/2010/main" val="21190291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154384-3C41-4AD6-8CB4-E0FC9667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1DA91-73A2-475F-856C-A0AEE6FC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B40A7-B68B-4122-9E08-148F8DC5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61E936-A8DB-4749-A935-F93CE1A5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27592-433B-433E-B807-4727BA0C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14AE6-FCA2-4C50-B24D-2961FB9A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MQTT turns hardware events into an operations service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9CFCC3-5AC2-4BDA-90F2-51F8A840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2857500" cy="128587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1D4F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E1BCC-299F-49D4-AD1E-0659F793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90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545848-A62A-43DB-9BE5-BE662D16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526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SC2 UART telemetry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4976EC-593E-44DA-A280-BF81D28E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57400"/>
            <a:ext cx="23431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mode, PIR, light, temp10, gas, flame, fan, PWM, RPM, lamp, 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709E5-D2C9-4FC5-B3E5-02BF03EA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19250"/>
            <a:ext cx="2857500" cy="128587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4F8C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307F0-5E21-4CE9-99BA-C5D9CB96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790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1C3F3-9773-4711-938C-11F23F3A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JSON MQTT telemetry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D7DB8-8951-4D32-B9BC-65B93C83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57400"/>
            <a:ext cx="23431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smartclassroom/edge1/telemetry plus key retained topics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093742-B556-4522-8B17-5E1E1C2C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19250"/>
            <a:ext cx="2857500" cy="128587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FD16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75F54-2CDB-4079-B508-5883E50F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6FF236-3D0A-4959-8432-D9ACDD4C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Command channel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35F967-FD1B-4557-8283-424B7EE5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57400"/>
            <a:ext cx="23431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dashboard/Qwen -&gt; MQTT command -&gt; ESP32 -&gt; UNO 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A4B40D-C902-460B-AF92-D9B1088D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47900"/>
            <a:ext cx="1028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5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241848-A900-4670-B4AE-64AB6B69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47900"/>
            <a:ext cx="1028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5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F85D66-10FF-4E21-85C1-17A47D6C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Critical topics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4944D9-7233-4E07-BC28-527F6AA8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smartclassroom/edge1/mode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9E2530-394C-400D-8AAB-32F1AF7E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958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smartclassroom/edge1/safety/alarm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C27618-8281-4C21-9F77-E177F063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smartclassroom/edge1/sensors/temperature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7BF678-C008-40B1-8672-B3EE5E90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smartclassroom/edge1/actuators/fan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9B7AD8-D9C4-498B-8EFF-48BF05EF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673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FD166"/>
                </a:solidFill>
                <a:latin typeface="Aptos"/>
                <a:ea typeface="Aptos"/>
                <a:cs typeface="Aptos"/>
              </a:rPr>
              <a:t>smartclassroom/edge1/command_ack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9CD05B-5ACA-4B54-9E3E-B5F1C674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33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D166"/>
                </a:solidFill>
                <a:latin typeface="Aptos"/>
                <a:ea typeface="Aptos"/>
                <a:cs typeface="Aptos"/>
              </a:rPr>
              <a:t>Operations value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B548E9-872E-4F57-A6C4-DE0301F2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71950"/>
            <a:ext cx="3429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The system is observable: every actuator decision can be watched through telemetry, command queue depth, and ACK feedback.</a:t>
            </a:r>
          </a:p>
        </p:txBody>
      </p:sp>
    </p:spTree>
    <p:extLst>
      <p:ext uri="{BB962C8B-B14F-4D97-AF65-F5344CB8AC3E}">
        <p14:creationId xmlns:p14="http://schemas.microsoft.com/office/powerpoint/2010/main" val="165251918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5D3700-08A8-4A6D-90CE-C07BEC2F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44E83-50B8-45E1-8C1A-F2AC91E4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4F835D-1B15-4E47-9547-E6E8C31F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8435B-ADF8-4D86-BD72-40B97BBE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A33987-185F-4E2D-B22D-6B23065E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9DF2F0-D7E7-4603-8D44-6E8581A3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Dashboard: from debugging tool to control center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DA5AEF-855B-4528-A157-8674C63E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228600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ECFE3-AB02-45CC-B925-5A93B331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1943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Live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D5917-1B7B-4261-86DD-BEF907A4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telemetry cards and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07B1F-04D0-4659-AC9B-6CB150FA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19250"/>
            <a:ext cx="247650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BD705-F376-43BD-A142-59669C9C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097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FFD166"/>
                </a:solidFill>
                <a:latin typeface="Aptos"/>
                <a:ea typeface="Aptos"/>
                <a:cs typeface="Aptos"/>
              </a:rPr>
              <a:t>Manual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1AD85-93F2-479C-855E-DB6533EB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479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override lamp, fan, buzzer, R/Y/G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C6215A-4959-4124-94A1-E03C4EBA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19250"/>
            <a:ext cx="247650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7C696F-CC87-41DA-AA35-9930D08D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097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521879-1CD5-4F11-A8E8-EA620B33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479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fan thresholds, brightness, presets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F89A7-85B7-4584-A147-95DE5669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19250"/>
            <a:ext cx="2286000" cy="1123950"/>
          </a:xfrm>
          <a:prstGeom xmlns:a="http://schemas.openxmlformats.org/drawingml/2006/main" prst="roundRect">
            <a:avLst>
              <a:gd name="adj" fmla="val 18644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73DE58-2043-4858-9F6C-4DB6964E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1943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4F8CFF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4F8CFF"/>
                </a:solidFill>
                <a:latin typeface="Aptos"/>
                <a:ea typeface="Aptos"/>
                <a:cs typeface="Aptos"/>
              </a:rPr>
              <a:t>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5C7E9E-16DC-4836-B4E4-D24BBBAE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4790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traceable command feedback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24C431-C2B1-47BD-A7FE-6487D6BA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24250"/>
            <a:ext cx="9906000" cy="16002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9D8FF8-8AF3-4DFF-B43D-A965280D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48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AI task planning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208A52-77FC-4E80-A1C2-80F46EE6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05300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"3 minutes later switch to manual mode, set fan PWM to 180, then return to auto 2 minutes later."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BC8F7F-431F-425E-BBD3-6DA914A1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196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Qwen returns a structured timeline. The local scheduler executes it over MQTT and auto-clears completed plans.</a:t>
            </a:r>
          </a:p>
        </p:txBody>
      </p:sp>
    </p:spTree>
    <p:extLst>
      <p:ext uri="{BB962C8B-B14F-4D97-AF65-F5344CB8AC3E}">
        <p14:creationId xmlns:p14="http://schemas.microsoft.com/office/powerpoint/2010/main" val="8388280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CDAFCD-9148-4B28-9BE0-6AABDCAA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88E4A1-87E5-47EE-B4BC-519C4CDC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A9968-0F2F-4937-AE63-5AEFD04D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16BC5-F1BA-4057-B44D-8AD25F6D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3B2E0-404D-4711-9795-81092D63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FF262-A870-4648-987D-2C7CD7F3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Live demonstration runbook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EC174-6BF2-4156-ABAA-22AF00E6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4572000" cy="10287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D5BA22-65A1-4639-B1EC-AEC91FB1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76400"/>
            <a:ext cx="51435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6D838-3E59-426B-BAFE-C7D14F95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907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302F36-1CBF-4CCE-A829-0EFDC5BA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383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Power and online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9A36AB-BB0A-4394-A10F-00BD6B13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62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ESP32 online, MQTT status, telemetry age &lt; 2s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C2FF26-C354-423F-9C27-53E5B494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428750"/>
            <a:ext cx="4572000" cy="10287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64B4A-4D0B-459B-B7A3-E62A4E34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76400"/>
            <a:ext cx="51435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110B4-BD78-4EF1-9118-09FF1290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7907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CE22A-0EB9-4D95-A162-A835CB19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6383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Energy-saving 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F931AC-2460-4096-A69E-47C2B1F2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62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cover light sensor / trigger PIR / show lamp logic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9F6107-64D5-4D5C-9333-8BE67000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4572000" cy="10287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2867BA-7006-4A95-B390-48523BC2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05150"/>
            <a:ext cx="51435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1A64AB-8BA5-4B6A-8CE0-445BA136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5427E6-525E-462E-B914-A40B3A19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670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Cooling behavior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2E7DFA-9D20-4CCB-A73E-932D3CCC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90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adjust threshold or warm LM35 / show fan PWM and RPM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6E7F8A-7A67-42D6-89CF-4A40AF22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857500"/>
            <a:ext cx="4572000" cy="10287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F5C7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918E37-BA7B-4A7C-8184-99BD69E8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05150"/>
            <a:ext cx="51435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62B8CB-D59C-40E5-A8D9-7D195E85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1945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23F96B-6918-46D3-AEDB-E14DBC94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670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F2BEB7-78A6-43F6-99FD-FEE5955F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390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press emergency button / red light + buzzer + fan high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5D2A89-620E-47F7-AA29-7396F8C3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86250"/>
            <a:ext cx="4572000" cy="10287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522C8B-26EE-4740-947A-944405E1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51435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DF4301-E0CA-4580-BDB5-68F2CC0C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482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FFAFE7-969D-4F07-AF48-19E19CD3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958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Operations layer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1FC089-51A4-46E4-8E92-0F896B01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196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manual mode, preset, command ACK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D84353-F5A6-443F-BE3C-8C0A4C73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286250"/>
            <a:ext cx="4572000" cy="10287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B557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E6B6DF-9301-4D3A-9B46-5835506D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533900"/>
            <a:ext cx="51435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CD4F07-005A-464A-BE44-A26D04DF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6482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764919-131E-4261-896D-FD510CF4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958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AI timeline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C3F76F-2688-493C-B35C-44AAB9C2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8196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text command -&gt; structured tasks -&gt; scheduled execution</a:t>
            </a:r>
          </a:p>
        </p:txBody>
      </p:sp>
    </p:spTree>
    <p:extLst>
      <p:ext uri="{BB962C8B-B14F-4D97-AF65-F5344CB8AC3E}">
        <p14:creationId xmlns:p14="http://schemas.microsoft.com/office/powerpoint/2010/main" val="136461271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42CDA8-84E7-4A79-B235-9D43DD5B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8AE7E-6D53-4FFB-B0A9-F8EDCF69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0D1B2F"/>
              </a:gs>
              <a:gs pos="100000">
                <a:srgbClr val="12345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93A36-818B-4EA8-BDC8-BF08A688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-2000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975A0-A238-470D-AF45-85E2B342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495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D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B2B7D-3F0C-4C4F-9D62-BD07E6BD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4580FB-1129-4BB5-8AC2-E9B1759B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Why this is commercially plausible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55694-725E-4C24-AD0C-ECB7CBBC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4762500" cy="3810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1D4F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9D7485-D1C7-4EB2-92CF-1D837C1B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21D4F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21D4FD"/>
                </a:solidFill>
                <a:latin typeface="Aptos"/>
                <a:ea typeface="Aptos"/>
                <a:cs typeface="Aptos"/>
              </a:rPr>
              <a:t>Service shape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9578D-4A72-44EC-90DB-DFE4EA50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28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29F2CC-E198-45B5-B7FF-9DC07DC0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62200"/>
            <a:ext cx="350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Energy KPIs: lamp state, occupancy rate, fan duty, temperature load.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E55A5-10D2-4636-9CAE-21DDC5A6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52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BD40D-E8F1-4A0B-BA1D-C211B46D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86100"/>
            <a:ext cx="350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Safety KPIs: gas/flame alarms, emergency button, buzzer/status response.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93A73-3F93-4155-A1B5-2037DB58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76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30D00-16F0-43FD-8353-6FB44868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10000"/>
            <a:ext cx="350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Operations KPIs: device health, command ACK, telemetry freshness.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D918D1-D986-4185-AE6C-E02FB2B4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4762500" cy="3810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FD16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7CC0F7-5242-45F1-B83C-7D2A57F0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526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FFD166"/>
                </a:solidFill>
                <a:latin typeface="Aptos"/>
                <a:ea typeface="Aptos"/>
                <a:cs typeface="Aptos"/>
              </a:rPr>
              <a:t>Production hardening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9C7EB6-F17F-43F0-B140-AD9FEC7E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28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D4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3E2D01-AA8F-4CD7-9649-39309244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62200"/>
            <a:ext cx="350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MQTT authentication, TLS, user accounts, and role-based control.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C92446-920D-4D5E-849F-6915B573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52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BAC26C-09E1-41FA-81A2-206E20EA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86100"/>
            <a:ext cx="350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Electrical enclosure, fused 12V fan power, stable sensor front-end.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54138-E69B-45E5-8F05-9FAA118A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76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5F57F8-8658-48F7-9078-CB9F050A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10000"/>
            <a:ext cx="350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Asset layer: RFID/BLE tags or accelerometer modules for equipment tracking.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F95EFB-F6E5-4491-A553-D9C216C6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5310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The prototype already demonstrates hardware, software, architecture, security/privacy awareness, operations, and a realistic IoT application.</a:t>
            </a:r>
          </a:p>
        </p:txBody>
      </p:sp>
    </p:spTree>
    <p:extLst>
      <p:ext uri="{BB962C8B-B14F-4D97-AF65-F5344CB8AC3E}">
        <p14:creationId xmlns:p14="http://schemas.microsoft.com/office/powerpoint/2010/main" val="20090204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2026-05-18T09:57:30.5740000Z</dcterms:created>
  <dcterms:modified xsi:type="dcterms:W3CDTF">2026-05-18T09:57:30.5740000Z</dcterms:modified>
</coreProperties>
</file>