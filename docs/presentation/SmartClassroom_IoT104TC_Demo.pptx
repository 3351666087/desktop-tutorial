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005efaa8d0b4501" /><Relationship Type="http://schemas.openxmlformats.org/officeDocument/2006/relationships/extended-properties" Target="/docProps/app.xml" Id="Rd4ecbff81d25455f" /><Relationship Type="http://schemas.openxmlformats.org/officeDocument/2006/relationships/officeDocument" Target="/ppt/presentation.xml" Id="R14f82a187247479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4f449d6dc5241fd"/>
  </p:sldMasterIdLst>
  <p:notesMasterIdLst>
    <p:notesMasterId xmlns:r="http://schemas.openxmlformats.org/officeDocument/2006/relationships" r:id="Rd9b8a929c1994b24"/>
  </p:notesMasterIdLst>
  <p:sldIdLst>
    <p:sldId xmlns:r="http://schemas.openxmlformats.org/officeDocument/2006/relationships" id="256" r:id="Rf456fb862836476e"/>
    <p:sldId xmlns:r="http://schemas.openxmlformats.org/officeDocument/2006/relationships" id="257" r:id="R20f5fff044fd4c9a"/>
    <p:sldId xmlns:r="http://schemas.openxmlformats.org/officeDocument/2006/relationships" id="258" r:id="R9761f1aa96664936"/>
    <p:sldId xmlns:r="http://schemas.openxmlformats.org/officeDocument/2006/relationships" id="259" r:id="Rbc3a88ea79a946dd"/>
    <p:sldId xmlns:r="http://schemas.openxmlformats.org/officeDocument/2006/relationships" id="260" r:id="R88a080d4b1a743e4"/>
    <p:sldId xmlns:r="http://schemas.openxmlformats.org/officeDocument/2006/relationships" id="261" r:id="R110519bee9be487a"/>
    <p:sldId xmlns:r="http://schemas.openxmlformats.org/officeDocument/2006/relationships" id="262" r:id="Rc5b9f83b7b0a486b"/>
    <p:sldId xmlns:r="http://schemas.openxmlformats.org/officeDocument/2006/relationships" id="263" r:id="Raf6e3df0ea1449bd"/>
    <p:sldId xmlns:r="http://schemas.openxmlformats.org/officeDocument/2006/relationships" id="264" r:id="R5d627c572d464d9f"/>
    <p:sldId xmlns:r="http://schemas.openxmlformats.org/officeDocument/2006/relationships" id="265" r:id="Rd0214e2d9b924406"/>
    <p:sldId xmlns:r="http://schemas.openxmlformats.org/officeDocument/2006/relationships" id="266" r:id="Rf9797b2bdc09411a"/>
    <p:sldId xmlns:r="http://schemas.openxmlformats.org/officeDocument/2006/relationships" id="267" r:id="Rc2665ef06e51477f"/>
    <p:sldId xmlns:r="http://schemas.openxmlformats.org/officeDocument/2006/relationships" id="268" r:id="R5c46f0ef51fa4853"/>
    <p:sldId xmlns:r="http://schemas.openxmlformats.org/officeDocument/2006/relationships" id="269" r:id="R7c3ceb6d205b414f"/>
    <p:sldId xmlns:r="http://schemas.openxmlformats.org/officeDocument/2006/relationships" id="270" r:id="R4218a1b977f64e85"/>
    <p:sldId xmlns:r="http://schemas.openxmlformats.org/officeDocument/2006/relationships" id="271" r:id="Rf31eb619bdb4470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f449d6dc5241fd" /><Relationship Type="http://schemas.openxmlformats.org/officeDocument/2006/relationships/theme" Target="/ppt/theme/theme1.xml" Id="Ra7ad79e164574fd2" /><Relationship Type="http://schemas.openxmlformats.org/officeDocument/2006/relationships/notesMaster" Target="/ppt/notesMasters/notesMaster1.xml" Id="Rd9b8a929c1994b24" /><Relationship Type="http://schemas.openxmlformats.org/officeDocument/2006/relationships/presProps" Target="/ppt/presProps.xml" Id="R7752c8fa6bf24d95" /><Relationship Type="http://schemas.openxmlformats.org/officeDocument/2006/relationships/viewProps" Target="/ppt/viewProps.xml" Id="R326344bd27244c68" /><Relationship Type="http://schemas.openxmlformats.org/officeDocument/2006/relationships/tableStyles" Target="/ppt/tableStyles.xml" Id="R0c0efb8440a040fd" /><Relationship Type="http://schemas.openxmlformats.org/officeDocument/2006/relationships/slide" Target="/ppt/slides/slide1.xml" Id="Rf456fb862836476e" /><Relationship Type="http://schemas.openxmlformats.org/officeDocument/2006/relationships/slide" Target="/ppt/slides/slide2.xml" Id="R20f5fff044fd4c9a" /><Relationship Type="http://schemas.openxmlformats.org/officeDocument/2006/relationships/slide" Target="/ppt/slides/slide3.xml" Id="R9761f1aa96664936" /><Relationship Type="http://schemas.openxmlformats.org/officeDocument/2006/relationships/slide" Target="/ppt/slides/slide4.xml" Id="Rbc3a88ea79a946dd" /><Relationship Type="http://schemas.openxmlformats.org/officeDocument/2006/relationships/slide" Target="/ppt/slides/slide5.xml" Id="R88a080d4b1a743e4" /><Relationship Type="http://schemas.openxmlformats.org/officeDocument/2006/relationships/slide" Target="/ppt/slides/slide6.xml" Id="R110519bee9be487a" /><Relationship Type="http://schemas.openxmlformats.org/officeDocument/2006/relationships/slide" Target="/ppt/slides/slide7.xml" Id="Rc5b9f83b7b0a486b" /><Relationship Type="http://schemas.openxmlformats.org/officeDocument/2006/relationships/slide" Target="/ppt/slides/slide8.xml" Id="Raf6e3df0ea1449bd" /><Relationship Type="http://schemas.openxmlformats.org/officeDocument/2006/relationships/slide" Target="/ppt/slides/slide9.xml" Id="R5d627c572d464d9f" /><Relationship Type="http://schemas.openxmlformats.org/officeDocument/2006/relationships/slide" Target="/ppt/slides/slide10.xml" Id="Rd0214e2d9b924406" /><Relationship Type="http://schemas.openxmlformats.org/officeDocument/2006/relationships/slide" Target="/ppt/slides/slide11.xml" Id="Rf9797b2bdc09411a" /><Relationship Type="http://schemas.openxmlformats.org/officeDocument/2006/relationships/slide" Target="/ppt/slides/slide12.xml" Id="Rc2665ef06e51477f" /><Relationship Type="http://schemas.openxmlformats.org/officeDocument/2006/relationships/slide" Target="/ppt/slides/slide13.xml" Id="R5c46f0ef51fa4853" /><Relationship Type="http://schemas.openxmlformats.org/officeDocument/2006/relationships/slide" Target="/ppt/slides/slide14.xml" Id="R7c3ceb6d205b414f" /><Relationship Type="http://schemas.openxmlformats.org/officeDocument/2006/relationships/slide" Target="/ppt/slides/slide15.xml" Id="R4218a1b977f64e85" /><Relationship Type="http://schemas.openxmlformats.org/officeDocument/2006/relationships/slide" Target="/ppt/slides/slide16.xml" Id="Rf31eb619bdb4470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82e3e78ab6e74b6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2fc76d011744da4" /><Relationship Type="http://schemas.openxmlformats.org/officeDocument/2006/relationships/notesMaster" Target="/ppt/notesMasters/notesMaster1.xml" Id="R7fc2e2548d9844d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9d20ed87b614d8a" /><Relationship Type="http://schemas.openxmlformats.org/officeDocument/2006/relationships/notesMaster" Target="/ppt/notesMasters/notesMaster1.xml" Id="R000819e79edc450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af08fbe267a4c9d" /><Relationship Type="http://schemas.openxmlformats.org/officeDocument/2006/relationships/notesMaster" Target="/ppt/notesMasters/notesMaster1.xml" Id="R3743edc4c691427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fd8056a866242f2" /><Relationship Type="http://schemas.openxmlformats.org/officeDocument/2006/relationships/notesMaster" Target="/ppt/notesMasters/notesMaster1.xml" Id="Ree239bfb1fda46f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cedb6caa9b84fe7" /><Relationship Type="http://schemas.openxmlformats.org/officeDocument/2006/relationships/notesMaster" Target="/ppt/notesMasters/notesMaster1.xml" Id="R010d7002e024498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c7deac5134a49d2" /><Relationship Type="http://schemas.openxmlformats.org/officeDocument/2006/relationships/notesMaster" Target="/ppt/notesMasters/notesMaster1.xml" Id="R31a1beb2b280496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cb4f2ad58784d91" /><Relationship Type="http://schemas.openxmlformats.org/officeDocument/2006/relationships/notesMaster" Target="/ppt/notesMasters/notesMaster1.xml" Id="Rc50addab6dae497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86c7a12635e4b49" /><Relationship Type="http://schemas.openxmlformats.org/officeDocument/2006/relationships/notesMaster" Target="/ppt/notesMasters/notesMaster1.xml" Id="R07f4413a90af438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a634de040954eed" /><Relationship Type="http://schemas.openxmlformats.org/officeDocument/2006/relationships/notesMaster" Target="/ppt/notesMasters/notesMaster1.xml" Id="Rd65b5f8f9c7b4fd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b332616030e4546" /><Relationship Type="http://schemas.openxmlformats.org/officeDocument/2006/relationships/notesMaster" Target="/ppt/notesMasters/notesMaster1.xml" Id="R7abfb5b62c984b5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6bb194277b346fb" /><Relationship Type="http://schemas.openxmlformats.org/officeDocument/2006/relationships/notesMaster" Target="/ppt/notesMasters/notesMaster1.xml" Id="Rf5a005a6ec43485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2fd8096d35e475d" /><Relationship Type="http://schemas.openxmlformats.org/officeDocument/2006/relationships/notesMaster" Target="/ppt/notesMasters/notesMaster1.xml" Id="R77a218a59ba7411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ef4e1361ee4400c" /><Relationship Type="http://schemas.openxmlformats.org/officeDocument/2006/relationships/notesMaster" Target="/ppt/notesMasters/notesMaster1.xml" Id="R1d48ec77543f482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c5ace4f22d14737" /><Relationship Type="http://schemas.openxmlformats.org/officeDocument/2006/relationships/notesMaster" Target="/ppt/notesMasters/notesMaster1.xml" Id="R80ea2c28880b4ce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ad8d729ccc443a0" /><Relationship Type="http://schemas.openxmlformats.org/officeDocument/2006/relationships/notesMaster" Target="/ppt/notesMasters/notesMaster1.xml" Id="Rd5280e8a0c0843f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87c00a27a694f8b" /><Relationship Type="http://schemas.openxmlformats.org/officeDocument/2006/relationships/notesMaster" Target="/ppt/notesMasters/notesMaster1.xml" Id="R33fe9b3bab57449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827ebe44f840fe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d1fb36cd93df4739" /><Relationship Type="http://schemas.openxmlformats.org/officeDocument/2006/relationships/slideLayout" Target="/ppt/slideLayouts/slideLayout2.xml" Id="R50e9071aa83144b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0e9071aa83144b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244e7acdb37495a" /><Relationship Type="http://schemas.openxmlformats.org/officeDocument/2006/relationships/notesSlide" Target="/ppt/notesSlides/notesSlide1.xml" Id="Rb35a5d66ca72406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766133bd3e495f" /><Relationship Type="http://schemas.openxmlformats.org/officeDocument/2006/relationships/image" Target="/ppt/media/image.png" Id="Rc47559d5584c4c2e" /><Relationship Type="http://schemas.openxmlformats.org/officeDocument/2006/relationships/notesSlide" Target="/ppt/notesSlides/notesSlide2.xml" Id="R3f9bb114ec6043e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ea416746f834ddb" /><Relationship Type="http://schemas.openxmlformats.org/officeDocument/2006/relationships/notesSlide" Target="/ppt/notesSlides/notesSlide3.xml" Id="Rf0bb793fe5ad4ca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fabe44c221c4187" /><Relationship Type="http://schemas.openxmlformats.org/officeDocument/2006/relationships/notesSlide" Target="/ppt/notesSlides/notesSlide4.xml" Id="R0d586b010585433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e1db124db39413a" /><Relationship Type="http://schemas.openxmlformats.org/officeDocument/2006/relationships/notesSlide" Target="/ppt/notesSlides/notesSlide5.xml" Id="Rff13d17be41d4a1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2f201bb9c344f61" /><Relationship Type="http://schemas.openxmlformats.org/officeDocument/2006/relationships/notesSlide" Target="/ppt/notesSlides/notesSlide6.xml" Id="R8ac594dfcd5c431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61972918ea44a1b" /><Relationship Type="http://schemas.openxmlformats.org/officeDocument/2006/relationships/notesSlide" Target="/ppt/notesSlides/notesSlide7.xml" Id="R0fd54083f4624d8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2721b42d54949e8" /><Relationship Type="http://schemas.openxmlformats.org/officeDocument/2006/relationships/notesSlide" Target="/ppt/notesSlides/notesSlide8.xml" Id="R7dc547e61dcc4f1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7df1ec566594c8b" /><Relationship Type="http://schemas.openxmlformats.org/officeDocument/2006/relationships/notesSlide" Target="/ppt/notesSlides/notesSlide9.xml" Id="Rbfe46e61260b4a6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f9635d17987433b" /><Relationship Type="http://schemas.openxmlformats.org/officeDocument/2006/relationships/image" Target="/ppt/media/image2.png" Id="R901c2a628a0c46b2" /><Relationship Type="http://schemas.openxmlformats.org/officeDocument/2006/relationships/image" Target="/ppt/media/image3.png" Id="R9ff00650d6a9472d" /><Relationship Type="http://schemas.openxmlformats.org/officeDocument/2006/relationships/image" Target="/ppt/media/image4.png" Id="Refe0db43dd0344ee" /><Relationship Type="http://schemas.openxmlformats.org/officeDocument/2006/relationships/notesSlide" Target="/ppt/notesSlides/notesSlide10.xml" Id="R666f6a4f8e2149b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48ca4ffd2924d26" /><Relationship Type="http://schemas.openxmlformats.org/officeDocument/2006/relationships/image" Target="/ppt/media/image5.png" Id="R9b0d6d0b46fd42c5" /><Relationship Type="http://schemas.openxmlformats.org/officeDocument/2006/relationships/image" Target="/ppt/media/image6.png" Id="R3326b569c07e45ba" /><Relationship Type="http://schemas.openxmlformats.org/officeDocument/2006/relationships/notesSlide" Target="/ppt/notesSlides/notesSlide11.xml" Id="R10c76f8a091048c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2708a4a18764647" /><Relationship Type="http://schemas.openxmlformats.org/officeDocument/2006/relationships/image" Target="/ppt/media/image7.png" Id="Ra0d45fc223474342" /><Relationship Type="http://schemas.openxmlformats.org/officeDocument/2006/relationships/notesSlide" Target="/ppt/notesSlides/notesSlide12.xml" Id="R901f05a517c94ea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aa264943ba946cc" /><Relationship Type="http://schemas.openxmlformats.org/officeDocument/2006/relationships/image" Target="/ppt/media/image8.png" Id="Rc7f2bca7e9ea417e" /><Relationship Type="http://schemas.openxmlformats.org/officeDocument/2006/relationships/notesSlide" Target="/ppt/notesSlides/notesSlide13.xml" Id="Rfcb8576e3a204b6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3a9e8ac2414b28" /><Relationship Type="http://schemas.openxmlformats.org/officeDocument/2006/relationships/notesSlide" Target="/ppt/notesSlides/notesSlide14.xml" Id="R6884adfd99604de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ac06ed2f26d4c4c" /><Relationship Type="http://schemas.openxmlformats.org/officeDocument/2006/relationships/notesSlide" Target="/ppt/notesSlides/notesSlide15.xml" Id="Raa82e60e53d5481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350bfbacfa54571" /><Relationship Type="http://schemas.openxmlformats.org/officeDocument/2006/relationships/notesSlide" Target="/ppt/notesSlides/notesSlide16.xml" Id="R90c5f35ca4934b4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9940632-7253-4A00-923D-F3E807F23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EC7447-04BE-45F4-B8C5-3CC006DF1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CD7048-623A-4760-8EB8-77B24C226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8B73DC-86C7-4E12-BF9B-366B2EBF4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B2350A-4900-4D10-A373-2671E9888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13463B-FBC5-428B-BF50-F9D89E99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EDD479-9E25-4D9F-8445-1D5BD974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8F34FA-A60C-4E4C-B94D-090074CE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3B60A1-134A-4E2E-B562-07BEEB6FA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D73732-CD61-4AE8-9A72-D8B059C59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D601A3-7CD5-486C-ACAB-A27F03281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746D86-1B57-433B-BBB3-B4E9F2C80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01A0A8-0DEF-4E38-B340-406CA5189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88C058-6A9C-46E2-8A61-1011611B6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D34421-AEA2-438B-9F0E-08CF68C2E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82AED3-B835-4A40-AC04-FEEDAE4A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B4A7E7-70FE-4FEC-8FFF-C75F9588F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A4B9EA-E563-4E41-846F-33C5349A9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EB045C-AAF9-4120-AEEE-28FD7F185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282B55-6B61-41C0-93F8-CF1158782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6E65C1-23FB-410C-9A40-C08A37D5A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8245C7-F9F5-4368-A935-AAD00E857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84BF71-C095-4F24-9A44-D97F2EC30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069966-70F5-43CE-B96A-347E640AF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5EE16E-90D5-44AB-AA82-9559B8CC3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249C62-A506-43F5-B016-EBC40E4EF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6FEAFF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C4E1BF-ACC8-41EE-BAEF-7D5295DC1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D62BF0E-6CF2-4248-9BC2-7215BFB7B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4350"/>
            <a:ext cx="2286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11765"/>
            </a:srgbClr>
          </a:solidFill>
          <a:ln xmlns:a="http://schemas.openxmlformats.org/drawingml/2006/main" w="9525">
            <a:solidFill>
              <a:srgbClr val="6FEAFF">
                <a:alpha val="53333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308394C-A714-4187-BA1E-378C3178F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9600"/>
            <a:ext cx="1981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IOT104TC PROJECT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850AD7F-09BC-4933-9F9E-B4AE7F7AF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43000"/>
            <a:ext cx="666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Smart Classroom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F6B440-9ABC-4A82-A1C3-A41694E21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85950"/>
            <a:ext cx="6858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Energy-Saving, Safety</a:t>
            </a:r>
          </a:p>
          <a:p xmlns:a="http://schemas.openxmlformats.org/drawingml/2006/main">
            <a:pPr algn="l">
              <a:defRPr sz="34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&amp; Asset Monitoring System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B9E822D-036D-4B2B-ACDF-FB52224A7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33750"/>
            <a:ext cx="6858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Local-first classroom control with real sensors, actuators, MQTT operations, dashboard analytics and AI-assisted commands.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2CF6313-EC5D-4336-A66F-19312EB73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895350"/>
            <a:ext cx="3048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980"/>
            </a:srgbClr>
          </a:solidFill>
          <a:ln xmlns:a="http://schemas.openxmlformats.org/drawingml/2006/main" w="19050">
            <a:solidFill>
              <a:srgbClr val="6FEAFF">
                <a:alpha val="4000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CEF8CB4-C530-4683-B8E5-EB9F94D29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29540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UNO Edge Node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9876325-EA3A-4F40-803C-648098A55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95450"/>
            <a:ext cx="247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Sensors, state machine and actuators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F7666EE-BC53-4186-A2CB-EDE01AF49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476500"/>
            <a:ext cx="190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722"/>
          </a:solidFill>
          <a:ln xmlns:a="http://schemas.openxmlformats.org/drawingml/2006/main" w="19050">
            <a:solidFill>
              <a:srgbClr val="6FEAFF">
                <a:alpha val="53333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6BB3A62-D5D8-4D55-BF9C-2BDEC330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6670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UART + ACK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40BBF8D-FEE0-4A24-8BE0-D0C823646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63855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ESP32 Gateway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8CD10A9-BC8B-4C4D-A782-E65953F02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3860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Wi-Fi, MQTT and dashboard bridge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D34D873-6A4C-438E-B7E6-E51F2504A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4350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4706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E909B57-3A25-4452-ABE8-0DA06C978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15302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9F0F5CB-AD72-4FBD-8C30-C76E2CC1E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1495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6FEAFF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6FEAFF"/>
                </a:solidFill>
                <a:latin typeface="Aptos Display"/>
                <a:ea typeface="Aptos Display"/>
                <a:cs typeface="Aptos Display"/>
              </a:rPr>
              <a:t>9+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4E1943C-9D83-44FE-B630-0E864FB5A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86740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hardware signals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AB869B4-D259-41F0-B4E0-72DCFCF91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14350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5E7E">
                <a:alpha val="44706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8021B2B-4E0E-421E-A868-E3C99987B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515302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6BDE9E4-DBC0-4B15-A15A-FE8F7CDD4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31495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5E7E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F5E7E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97618F2-0E5E-47F5-940D-E12A831D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86740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priority modes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5134C04-9F7A-4984-A24A-11F93AB38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514350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52F2B0">
                <a:alpha val="44706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232A9AC-40D0-4DEB-ABB7-71B175FE0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1175" y="515302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2FD74B1-5602-4F5E-82DE-0E2BEDD2B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531495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52F2B0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52F2B0"/>
                </a:solidFill>
                <a:latin typeface="Aptos Display"/>
                <a:ea typeface="Aptos Display"/>
                <a:cs typeface="Aptos Display"/>
              </a:rPr>
              <a:t>1s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085F5A7-E03B-459C-9348-AEAC78AF0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586740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telemetry cadence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71993A3-8E44-48C2-AA76-805B13235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14350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CD6E">
                <a:alpha val="44706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8F94647-20EF-4B94-9890-6B8117B99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515302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EE37B50-0BF7-4F0C-ABB6-5596349D6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31495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CD6E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FCD6E"/>
                </a:solidFill>
                <a:latin typeface="Aptos Display"/>
                <a:ea typeface="Aptos Display"/>
                <a:cs typeface="Aptos Display"/>
              </a:rPr>
              <a:t>432m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F00CD8A-EA7F-4285-8925-921F2EC81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86740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recorded evidence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532A63C-0ADE-4A54-9F10-3BA01B2B9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4EB59A2-B941-4B30-B7BA-32FCC58E7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Local safety works even when the network is offline.</a:t>
            </a:r>
          </a:p>
        </p:txBody>
      </p:sp>
    </p:spTree>
    <p:extLst>
      <p:ext uri="{BB962C8B-B14F-4D97-AF65-F5344CB8AC3E}">
        <p14:creationId xmlns:p14="http://schemas.microsoft.com/office/powerpoint/2010/main" val="200506127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8A22734-E016-45E9-B3B0-51CB29DEC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92BEE6-8F4F-43A6-A704-CAF6F89F3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B5A2CD-0682-4021-8DB8-FE92AC7EE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5CCD25-AFFA-4B39-A28B-1548C8E7D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EBDCDC-91C8-417F-8225-2B2EC0340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84F370-801F-4B08-8911-FC724A45B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1A4323-C233-45EF-BE64-3FC5B3AD8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FF3265-AA3F-494C-B850-403744D9C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3C42F5-2D78-4D3F-972A-6F6DA5D18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B37151-0C76-4920-97CD-1ACD42C13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517AB0-5FE2-4726-82DB-618FF6DA1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25D4B5-2C80-47A2-99DD-D731AEC90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BEBC4E-A292-4505-B5C0-F24D383B8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F946E4-FAFB-4B4A-8CC5-D3D6EFAE3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4EF2E9-A15D-45D1-9B69-6BBFA3CB5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15EBF8-C10E-4D8E-A4F2-053A9D8E1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C8BF5F-DD01-4391-9153-1F8F88A96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584BD0-1506-4503-B695-4DBBE90FB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FB7C29-3E0A-419C-B7A0-63955BD1C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E0B3E8-51A4-4CA4-BBB3-4046539F2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9EE16E-BDFC-47A2-BAA4-F42C2F43B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71CA1A-FA52-4D64-98A5-D64341FC1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2899DD-AA92-4AA0-A6A1-50797F9EC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E7AC79-284F-4AA5-8233-24C525CBB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E80E76-4B02-48CD-869D-DFB8BE5EA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38D453-7E2A-46CD-AAD6-6E4669552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7658DDB-8183-4488-AE61-3D574A07D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B13341B-84D5-4FF7-BA82-632903D32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ASSESSMENT FIT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1D54B26-E16C-4E74-AC4E-08C6D8E9A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Built around the marking scheme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DD019BC-C8B6-4839-A8C3-520B3813D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The demo connects hardware, software, architecture, security/privacy, operations and a practical classroom use-case.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3CA03CB-382C-44E8-BF6C-CB581656B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1A3BBA3-8562-4FDA-828C-E14B1F547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43150"/>
            <a:ext cx="529590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275"/>
            </a:srgbClr>
          </a:solidFill>
          <a:ln xmlns:a="http://schemas.openxmlformats.org/drawingml/2006/main" w="9525">
            <a:solidFill>
              <a:srgbClr val="FFFFFF">
                <a:alpha val="18431"/>
              </a:srgbClr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7559d5584c4c2e"/>
          <a:stretch xmlns:a="http://schemas.openxmlformats.org/drawingml/2006/main"/>
        </p:blipFill>
        <p:spPr>
          <a:xfrm xmlns:a="http://schemas.openxmlformats.org/drawingml/2006/main">
            <a:off x="723900" y="2420561"/>
            <a:ext cx="5143500" cy="2855078"/>
          </a:xfrm>
          <a:prstGeom xmlns:a="http://schemas.openxmlformats.org/drawingml/2006/main" prst="rect">
            <a:avLst/>
          </a:prstGeom>
        </p:spPr>
      </p:pic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B71C270-3563-4856-9BE3-3808DDA5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09800"/>
            <a:ext cx="2381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4706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6A1017-3836-41BB-88C0-6B408A553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219325"/>
            <a:ext cx="2362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388D9DE-771C-4912-911E-FFE22A8E2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41935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Application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ED935E6-7AC2-47BD-A6EC-AF5DE653F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76550"/>
            <a:ext cx="19240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Energy, comfort and safety in one classroom service.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83C2783-1B74-49CF-B2B7-7DDDAE36C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209800"/>
            <a:ext cx="2381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52F2B0">
                <a:alpha val="44706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611EC36-0F3F-4D61-A55B-FB2F37BD3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19325"/>
            <a:ext cx="2362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54D1072-A723-4E3F-8F01-46F584C3A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41935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Architecture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4495B2F-3B1F-4632-9588-9BDE8651E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876550"/>
            <a:ext cx="19240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UNO local control. ESP32 MQTT gateway.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7782743-1C6B-41A5-AEAA-B1753F7D7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00500"/>
            <a:ext cx="2381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CD6E">
                <a:alpha val="44706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27C8CAF-E827-46F7-A1E4-593A4B91B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010025"/>
            <a:ext cx="2362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3A5D75D-C580-4EDB-BDF6-2856BF1E4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21005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CD6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CD6E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648FE32-454E-4BC5-BABC-DBFAFEAFD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67250"/>
            <a:ext cx="19240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Telemetry, screenshots and self-check.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6D4C7BC-D547-4665-89F4-EA4088D2F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4000500"/>
            <a:ext cx="2381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5E7E">
                <a:alpha val="44706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AF533B6-FE72-4FAE-8660-902CD1F50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010025"/>
            <a:ext cx="2362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9548F3A-96D2-4724-A9BF-0D440B02A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421005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5E7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5E7E"/>
                </a:solidFill>
                <a:latin typeface="Aptos"/>
                <a:ea typeface="Aptos"/>
                <a:cs typeface="Aptos"/>
              </a:rPr>
              <a:t>Security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D48BC3E-137F-4F84-92D6-B0653D206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4667250"/>
            <a:ext cx="19240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Fail-safe local control and ignored secrets.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DC30DC9-C982-4ABD-B05C-CD6423CE4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A9ADC6B-3EF6-44B4-8CC0-05800D736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</p:spTree>
    <p:extLst>
      <p:ext uri="{BB962C8B-B14F-4D97-AF65-F5344CB8AC3E}">
        <p14:creationId xmlns:p14="http://schemas.microsoft.com/office/powerpoint/2010/main" val="144680173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A1B89C1-0182-4D6E-9EF9-94E3F3BF7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86C6B2-08BC-446D-A931-F662A4BE8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F44AEC-26ED-4DA5-9145-C9CAFCCCD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6FBB2A-D326-4F8B-BCD3-409BFCB2F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C82736-28E6-43CB-98F2-01C77300B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A73B73-27DF-4AD1-B13B-A5D664F13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DAD135-3092-4B45-9D2B-6B525A37C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A940AA-B647-4026-A9A3-52871A2BB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2E87E7-4B80-4E47-A115-3AF58B66B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096F04-4734-4C82-B39B-741EF2C48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B3F210-F2E9-4EB8-B7EA-9E3148E5B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3D3A99-7CB8-4D0B-836C-909AC3D00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2169F4-1C33-49D0-AA19-FFBAEAB1B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A75A3D-B86E-4D34-A4BB-170A93879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9E94E6-EB8E-42B5-A121-D45E17300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49010D-3C40-4F6E-90A9-58895DDDC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772511-0EA3-4DD3-9B23-70BC286F1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0B551D-40CE-4590-919A-C8B95919F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79A1A6-2FBC-4665-9A98-56EB65365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293892-071F-48E0-8120-83D2793FE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E456B1-5ABF-4193-95F7-5F413F263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2337A8-7C27-412B-9B2A-B59E5E702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AB6A03-FDC5-45F0-8BC2-AAE159812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F3BE29-0CBF-42F6-8F0F-EAD70B757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533907-6129-4CF5-A8EC-CAB9F3E15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F9AEDF-992C-4239-AFBF-F7F270C56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52F2B0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0107E1A-ECA5-4B53-881A-BEAD5FB1E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406CA3-155D-45B1-A71E-C2090BC7D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USE-CASE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737BCC9-5214-406F-AF68-29FD2C33F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A classroom that reacts locally and reports globally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A329CD-422A-4E18-88EE-3F449C15D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The system behaves like a small building-management service, not a sensor list.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CBEF5F4-BE99-47AD-A253-5B52FE125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352E1B1-CA29-44E0-ACC1-2CE1F91DE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43150"/>
            <a:ext cx="2190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4706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0BEC0FF-EB16-4830-9844-DC9034756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35267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91B2A95-55AA-4954-B112-DE130D215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11765"/>
            </a:srgbClr>
          </a:solidFill>
          <a:ln xmlns:a="http://schemas.openxmlformats.org/drawingml/2006/main" w="9525">
            <a:solidFill>
              <a:srgbClr val="6FEAFF">
                <a:alpha val="53333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C978C4C-8093-44B0-84A4-65A3E6E27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6700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7774E0D-EAAC-4039-B293-A61F06E28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67050"/>
            <a:ext cx="1733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Sense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E040CC5-7503-45DF-A2C1-3A7A13D25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09950"/>
            <a:ext cx="17335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Occupancy, light, temperature, gas, flame and emergency button.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0F66DE8-4E19-4599-A300-98F1DEC68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343150"/>
            <a:ext cx="2190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CD6E">
                <a:alpha val="44706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4860E97-3EA2-4792-B07C-D22295435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35267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BAA7D12-B80F-4C1A-8E16-0F5777A8F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57175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11765"/>
            </a:srgbClr>
          </a:solidFill>
          <a:ln xmlns:a="http://schemas.openxmlformats.org/drawingml/2006/main" w="9525">
            <a:solidFill>
              <a:srgbClr val="FFCD6E">
                <a:alpha val="53333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B15D8DA-CC07-4576-9D8C-0289E6A08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66700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CD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CD6E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37C6920-9911-48FC-9EED-3EF9C4A6E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067050"/>
            <a:ext cx="1733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Decide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6236743-7A43-4FB5-9501-D9A0E916B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409950"/>
            <a:ext cx="17335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Priority state machine: safety first, then comfort and energy saving.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FDF8FA9-412A-4EA9-B410-0896FA8DB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343150"/>
            <a:ext cx="2190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5E7E">
                <a:alpha val="44706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1846C15-C640-43D8-BBF5-74F2EB9AC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35267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583F8C4-3878-44DA-A389-1CA9232C7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57175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11765"/>
            </a:srgbClr>
          </a:solidFill>
          <a:ln xmlns:a="http://schemas.openxmlformats.org/drawingml/2006/main" w="9525">
            <a:solidFill>
              <a:srgbClr val="FF5E7E">
                <a:alpha val="53333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B3526AB-EED6-48C4-BC7B-C7E31834E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6700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5E7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5E7E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6474420-99BB-44D0-8866-93EACB7FE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067050"/>
            <a:ext cx="1733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Act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A9EBB85-2A94-4998-8123-E62DF3B1F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409950"/>
            <a:ext cx="17335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Lamp, fan, PWM, tach, buzzer and status light.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07A1628-DBB0-4B01-A973-9F08124E1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343150"/>
            <a:ext cx="2190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52F2B0">
                <a:alpha val="44706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757BE20-2369-4974-90D9-9DE2B039D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35267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9865493-8C26-4C2E-B1DC-1D5DDB97B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57175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11765"/>
            </a:srgbClr>
          </a:solidFill>
          <a:ln xmlns:a="http://schemas.openxmlformats.org/drawingml/2006/main" w="9525">
            <a:solidFill>
              <a:srgbClr val="52F2B0">
                <a:alpha val="53333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74A5192-BA4B-49C8-B174-8CD28257C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66700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720F3EA-0911-4185-A8D0-9F679BFAC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67050"/>
            <a:ext cx="1733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Operate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F193640-B406-47FD-AF56-8CD8DBF7A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409950"/>
            <a:ext cx="17335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MQTT dashboard, manual override, presets, charts and AI timeline.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0211BAC-10A6-4914-B257-F4B807242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409950"/>
            <a:ext cx="361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D60CA99-9088-4E3B-9FFB-82F7B1A21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257550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5FD3ABD-5245-47E6-B381-58F5E9931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09950"/>
            <a:ext cx="361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D0A6D3C-75F9-4A60-9681-F1EB8A4FC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257550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CD6E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CD6E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1C6B2EF-B9F9-4AE7-A7E9-E4047B857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409950"/>
            <a:ext cx="361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35921A8-C8E5-4D8A-A4BD-D3494A37E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257550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5E7E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5E7E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F99D874-DA42-4CCA-9FB1-26F4FAD21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4350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5E7E">
                <a:alpha val="44706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31197F9-821C-45C8-B95B-4AD9DEB99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515302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DE7726E-888E-4840-BE93-F809A8F91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31495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5E7E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F5E7E"/>
                </a:solidFill>
                <a:latin typeface="Aptos Display"/>
                <a:ea typeface="Aptos Display"/>
                <a:cs typeface="Aptos Display"/>
              </a:rPr>
              <a:t>Safety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F35627F-E019-4A7C-A394-DA2EB8F87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86740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highest priority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1FAC29E-3BAB-41F9-BF0F-7FFF6CD9B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14350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4706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EEC94D9-53FD-4BA9-A754-4C093AEE5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515302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CA0DEE5-B907-4291-B953-9BDB18DF8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31495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6FEAFF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6FEAFF"/>
                </a:solidFill>
                <a:latin typeface="Aptos Display"/>
                <a:ea typeface="Aptos Display"/>
                <a:cs typeface="Aptos Display"/>
              </a:rPr>
              <a:t>Comfort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A6D0C4F-0628-4816-B0C8-51B4FB090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86740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adaptive fan/lamp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002490E-5FBE-45F0-93DF-E158169AC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4350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52F2B0">
                <a:alpha val="44706"/>
              </a:srgbClr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91FE5AC-DB74-477B-8A38-B61C5EB3B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15302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658CF06-05D8-4745-ADE5-EAEC12A62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31495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52F2B0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52F2B0"/>
                </a:solidFill>
                <a:latin typeface="Aptos Display"/>
                <a:ea typeface="Aptos Display"/>
                <a:cs typeface="Aptos Display"/>
              </a:rPr>
              <a:t>Ops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F3737F9-3A27-4086-823C-804B877D1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86740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ACK + persistence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9F9382C-4304-41E1-91FA-3C7EFA711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14350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CD6E">
                <a:alpha val="44706"/>
              </a:srgbClr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100A8F9D-9E8A-42AF-B6E7-CA4963F9F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515302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89D8BD0-8E94-4B6F-8DF4-0BE86572A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31495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CD6E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FCD6E"/>
                </a:solidFill>
                <a:latin typeface="Aptos Display"/>
                <a:ea typeface="Aptos Display"/>
                <a:cs typeface="Aptos Display"/>
              </a:rPr>
              <a:t>Data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5A41088E-08FC-4CB7-95EB-58FE7D5DE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86740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charts + history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EDF8A56F-658C-41D5-AFB1-F49BEA14A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74FC583-72E2-4792-9F79-08198140D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</p:spTree>
    <p:extLst>
      <p:ext uri="{BB962C8B-B14F-4D97-AF65-F5344CB8AC3E}">
        <p14:creationId xmlns:p14="http://schemas.microsoft.com/office/powerpoint/2010/main" val="103494968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51553C4-C565-49FC-A6C1-19F0A3F4A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5EC9E1-00E4-4955-9E53-43E8224AA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6754D0-7891-4529-8F00-6390C4A01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64137D-3914-4B15-973A-0B3179BBD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0A7234-BDAC-4E3E-AA4E-9DA71344A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8FE16B-9D91-404C-9C20-8AACEAED2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C13679-58A5-4248-A180-11A8EACF8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A92317-E832-4BD8-8184-015117F39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45C02E-4A44-4377-845C-B2D75624D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796D4D-3BEF-4C6C-95B9-343DF1DEC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5417A2-3F3B-4604-A4FF-090DB9A12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F12C8D-B88F-4C9E-8113-5FC5342E6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B4D569-567B-4C37-BB2F-D7E4FFCC8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8F12C7-79C4-443F-9C3E-39D0C391E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28F53E-ECAD-473E-A255-CCBCD943D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F6AA0B-75B7-4489-9DF8-2FF2194C8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504F4D-438D-45A4-8622-3190CE89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653B40-0B79-43ED-B421-232B0C69C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6167FB-5D5C-4D8D-8AF7-51FDEF6EA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217CF9-D1FA-4651-B2F4-24BC005B5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EBE61D-E4E8-4784-A100-A1C0027EB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4AAAAC-1376-4B16-916D-1D337444C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DA2786-05CE-4C77-9374-2C857CC0A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B6AFAE-9F95-4682-ABAB-78DB06113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6F43561-9C2A-452F-BF11-867C1C93E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352E412-47A8-4C1C-8144-F7AA00DA3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5F9CFF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F5EB57-4BB2-4F64-92E6-561FE7810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D7FB9FC-CCFA-4294-83AA-8477936F3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SYSTEM ARCHITECTURE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E055B2E-5E34-4D35-8620-A02BD99D4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Real-time control stays on UNO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CDBB59B-9D68-48A2-97DC-472F4A29D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Networking adds visibility and commands, but does not become a dependency for safety.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B323A75-DDAD-45BF-A92D-9AD2DEAD5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0E6E922-F515-4E62-AA96-42CB215AD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2286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4706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BE3967E-7590-49F9-8691-4EB9959DE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33625"/>
            <a:ext cx="2266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CDAA4B9-5E2A-412A-8887-A76FB8E91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527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11765"/>
            </a:srgbClr>
          </a:solidFill>
          <a:ln xmlns:a="http://schemas.openxmlformats.org/drawingml/2006/main" w="9525">
            <a:solidFill>
              <a:srgbClr val="6FEAFF">
                <a:alpha val="53333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CC03B45-3BCE-42F1-AB39-E4BA14672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479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D53E942-A0E9-4AD6-9342-AA9D26047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48000"/>
            <a:ext cx="1828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Sensors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B69EAA1-16E4-4371-9DAA-612710ABA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8288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D2 PIR / A0 Light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A1 Gas / A2 LM35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D8/A3 Flame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D4 Button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9BC2D01-EEB9-49CE-BC7C-22EDAE5E0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324100"/>
            <a:ext cx="2286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CD6E">
                <a:alpha val="44706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A0BD3AE-62A2-4798-ADF1-5D7451E3C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333625"/>
            <a:ext cx="2266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BF0B644-6FAF-44B5-8E9E-6F273ACA1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5527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11765"/>
            </a:srgbClr>
          </a:solidFill>
          <a:ln xmlns:a="http://schemas.openxmlformats.org/drawingml/2006/main" w="9525">
            <a:solidFill>
              <a:srgbClr val="FFCD6E">
                <a:alpha val="53333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AA8FB96-750D-4CFF-A195-3D0A76371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6479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CD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CD6E"/>
                </a:solidFill>
                <a:latin typeface="Aptos"/>
                <a:ea typeface="Aptos"/>
                <a:cs typeface="Aptos"/>
              </a:rPr>
              <a:t>Edge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AC97603-4700-4025-867E-8300919C3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048000"/>
            <a:ext cx="1828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Arduino UNO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E23D80C-13EC-4A12-BB56-E7870CCAC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390900"/>
            <a:ext cx="18288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millis loop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state machine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relay / PWM / tach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buzzer + status light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A8A8183-8FF6-4300-B8CE-5A14BB4A9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24100"/>
            <a:ext cx="2286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52F2B0">
                <a:alpha val="44706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C7BEA4B-42C1-43C0-8367-EF579A4F0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333625"/>
            <a:ext cx="2266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954B521-FC81-4A23-A8E7-60054B74D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5527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11765"/>
            </a:srgbClr>
          </a:solidFill>
          <a:ln xmlns:a="http://schemas.openxmlformats.org/drawingml/2006/main" w="9525">
            <a:solidFill>
              <a:srgbClr val="52F2B0">
                <a:alpha val="53333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9A61940-2893-4FC2-A495-40B288072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6479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Gateway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620E102-127E-4B2B-A720-5DFE50AC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48000"/>
            <a:ext cx="1828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ESP32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167FF92-87F8-4CEF-8470-A5F4AF549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390900"/>
            <a:ext cx="18288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Serial2 UART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Wi-Fi reconnect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MQTT publish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command bridge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F12F860-81DD-4302-A881-CD6C5C4C7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324100"/>
            <a:ext cx="2286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B68CFF">
                <a:alpha val="44706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8C3F27E-2D4E-4C34-BB74-1CC5A47FD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333625"/>
            <a:ext cx="2266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8C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77FBBF4-EB9E-4C6F-9A80-3240754A3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5527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8CFF">
              <a:alpha val="11765"/>
            </a:srgbClr>
          </a:solidFill>
          <a:ln xmlns:a="http://schemas.openxmlformats.org/drawingml/2006/main" w="9525">
            <a:solidFill>
              <a:srgbClr val="B68CFF">
                <a:alpha val="53333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A87A9AC-D618-41C8-A6D9-B1F80B707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6479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68C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68CFF"/>
                </a:solidFill>
                <a:latin typeface="Aptos"/>
                <a:ea typeface="Aptos"/>
                <a:cs typeface="Aptos"/>
              </a:rPr>
              <a:t>Service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383B75C-4F28-4648-9C0A-A465A6A0A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048000"/>
            <a:ext cx="1828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Laptop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E31AD21-8FB2-48EF-96F9-7CED62724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390900"/>
            <a:ext cx="18288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Mosquitto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web dashboard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history store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AI planner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D4E51A9-E03F-47E9-9992-D7AD238A1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60045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756E614-DDCC-4260-9E66-08F60FA63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448050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D7E308F-F41B-468C-8C65-DDD5D997E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60045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9CFC6CA-0EE6-4707-98D9-4063964D1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448050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CD6E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CD6E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2808644-50BE-405E-908A-3288ED3E8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60045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3EEA434-89D7-47FD-9ACC-5D6BED3B0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448050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6BCD9D6-55A7-4A3F-8ED9-EAE8C0F5A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476875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Design decision: ESP32 is a gateway; UNO remains the controller of record.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6A4E94C-C8F3-4151-8559-40001D427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0953E04-6A57-42F2-B386-A3D5C2D31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</p:spTree>
    <p:extLst>
      <p:ext uri="{BB962C8B-B14F-4D97-AF65-F5344CB8AC3E}">
        <p14:creationId xmlns:p14="http://schemas.microsoft.com/office/powerpoint/2010/main" val="82815582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3F5828-D7FA-4157-99E1-69485D961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F4EA91-5D95-4B48-98D3-0ABE0CD9C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EAF70D-8009-436B-8ADF-73FB90CD5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A84F0A-6AAD-4DD4-9CC4-3F2399FD9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121F38-8CE7-4721-880D-E0F4BFBB8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7D802F-136C-49B1-9738-F88A08EDD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A85D63-692D-4F60-97C7-BAABD5C45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4F6CB5-F246-4C8D-BD2C-A780A7D81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FA05B0-4E1D-4AB3-B5D5-57C10D76F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6D1F5C-CF1F-449A-9363-C52AD9183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CB046A-4D8C-434B-80D8-E6D95522F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45708B-37E1-44F6-AD13-3814C3691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B086BF-C242-4ADC-AF40-DF6919234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56323B-7E25-4DA0-BC33-E2D2F614F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DA85E6-8F31-4235-8178-1F52D97BF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D0260F-162B-443B-B053-54E72332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5F0FC2-6C29-47AE-B568-29545EF5E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334840-A016-40DE-8023-49D56E951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2C1CC8-7367-41BF-B497-FD7633CEF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EC8F00-E3AB-4030-A852-EE356FD69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4718AB-5C66-4AF0-8034-9F283A8CF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EBA21E-061C-40AD-BA6F-93E49E35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0A39C7-6212-4506-804E-4459658F8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7C4DDE-86F6-45C1-ACFF-FA3E32BB1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FBE4D1-E80B-4E55-9773-E50E0DC25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2BACDB-2F12-4E4B-A44D-C435D6FE9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6FEAFF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2A9183-E54C-4957-AC19-B5346406A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BCE93BD-3E14-4996-A57A-1880A95AF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HARDWARE EVIDENCE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F85743-2F20-497B-A117-21F13DA5C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Dense hardware, clean responsibility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443C49A-61E0-41DE-A5F5-94EB497E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The build is complex, but each module has a clear role in the service.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82976E4-0053-47F3-B8EF-B41BCC0B5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48F22F3-19D3-4D0C-AC96-F4AEA616D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31432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4706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58CEF58-0E7F-40E0-904A-1A5880D11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43150"/>
            <a:ext cx="3124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D1326BF-E646-4FDB-8A23-AE3819B2B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43175"/>
            <a:ext cx="2686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48-kit modules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5984751-DB6E-45AE-A6D4-BCC11CA82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00375"/>
            <a:ext cx="2686050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#18 PIR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#31 TEMT6000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#25 Gas Sensor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#16 Flame Sensor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#5 Active Buzzer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Traffic Light Module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9E63E22-C725-43CE-A1E1-870628D3A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333625"/>
            <a:ext cx="31432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52F2B0">
                <a:alpha val="44706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2AB9284-A2FA-4DDC-9B9B-3C2813822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343150"/>
            <a:ext cx="3124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89E978F-FA4A-416D-A435-CDC95E27F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543175"/>
            <a:ext cx="2686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External components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F69F495-51F8-48AE-BD84-206A00198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3000375"/>
            <a:ext cx="2686050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UNO R3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ESP32 Gateway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LM35 powered from ESP32 5V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6-channel relay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12V 4-wire fan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LED + resistor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4116889-FC56-4D27-A3D5-B87B70543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33625"/>
            <a:ext cx="31432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CD6E">
                <a:alpha val="44706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CEBD2F3-94BB-4AA3-BA54-783EF4AC5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2343150"/>
            <a:ext cx="3124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CBCB682-FFFA-455A-B02A-052BDAA97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543175"/>
            <a:ext cx="2686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CD6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CD6E"/>
                </a:solidFill>
                <a:latin typeface="Aptos"/>
                <a:ea typeface="Aptos"/>
                <a:cs typeface="Aptos"/>
              </a:rPr>
              <a:t>Wiring rules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E61B60E-2556-4C22-BFE8-730C84916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000375"/>
            <a:ext cx="2686050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Common ground is required.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UNO A5 to ESP32 RX2 uses divider.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Relay logic uses RELAY_ON / RELAY_OFF.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No capacitor is added in this build.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22FD7B9-ED39-4778-B03A-95C5F6108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657850"/>
            <a:ext cx="2286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11765"/>
            </a:srgbClr>
          </a:solidFill>
          <a:ln xmlns:a="http://schemas.openxmlformats.org/drawingml/2006/main" w="9525">
            <a:solidFill>
              <a:srgbClr val="FF5E7E">
                <a:alpha val="53333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405806A-13AC-4E13-BC98-D079CF433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753100"/>
            <a:ext cx="1981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5E7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5E7E"/>
                </a:solidFill>
                <a:latin typeface="Aptos"/>
                <a:ea typeface="Aptos"/>
                <a:cs typeface="Aptos"/>
              </a:rPr>
              <a:t>ENGINEERING FIX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9C61D7E-6AF7-42D9-8030-7B2729F3B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638800"/>
            <a:ext cx="6096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LM35 became stable after moving power to ESP32 5V and adding ADC guard compensation.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A225E68-0184-4149-B46F-5EDBD8CCF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5CF34E5-E556-490C-98A3-4AADC3C7D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</p:spTree>
    <p:extLst>
      <p:ext uri="{BB962C8B-B14F-4D97-AF65-F5344CB8AC3E}">
        <p14:creationId xmlns:p14="http://schemas.microsoft.com/office/powerpoint/2010/main" val="186250464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CE7717C-7AF8-49A1-9F4F-5D7A390AC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B96458-8491-4948-A157-4CD8DBEA0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106AD7-1A56-40DC-9D0A-375430E1D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ED04A8-D552-4671-B859-762F2CB0C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AC0196-5399-4AA9-8BE2-C9BA93866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B512E0-D650-4143-B9DE-DAEC420FD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E07747-9DFD-4C9F-B3EE-39AE19170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F64463-C397-44E4-98DE-B28631912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36A430-6930-4C24-8291-D59EA0B2B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733AA6-2B20-4647-9A48-24C902C4D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9A0C9B-4191-4354-B187-96781A00B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DD7514-D7EA-4A61-8013-5EAF8A226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21CC06-77FA-4F19-ADC3-64FEEDB1D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739930-849E-43BB-AEC1-A7947EC8A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98D874-7A9D-4753-B415-1B3BDFBE8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B9E2A9-01E8-4164-A55D-62D46115C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6528D4-99E7-4D94-AE34-60CFACE65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19E88D-EAD3-424A-A341-E6AC76B38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D341EF-9A64-45A5-B438-6DB6D1B2E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DD2A72-3B40-4F06-8178-B50B6419E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7C0F78-EE58-4A70-97A2-07AB39DC2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2C3CCD-BBA7-412D-AD47-79962780D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87D4F7-8F8B-44A6-BA92-8AB23D3D2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4C7E844-A91A-4A02-AAA3-977AA8D78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488270-BC09-4E15-B418-348C1DFBD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8685577-7E8D-4C99-8087-EEFF232E3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FFCD6E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E0BB6D0-4424-41F7-8679-937EA4831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8BBBC66-F6CA-4D16-BAE1-1B9CF8A10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EDGE INTELLIGENCE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2764690-6509-434B-8D5E-0B02368A3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Priority is a state machine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3F8A6A3-D853-4F07-A6D2-0284E79B5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Mixed behavior stays predictable because safety, sensor health, manual control, cooling, lighting and saving are ordered.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0DC80E5-EBD2-409D-B0EB-638DA6D72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77A7154-CE78-4B7F-8FDD-EE15A7F28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476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14118"/>
            </a:srgbClr>
          </a:solidFill>
          <a:ln xmlns:a="http://schemas.openxmlformats.org/drawingml/2006/main" w="19050">
            <a:solidFill>
              <a:srgbClr val="FF5E7E">
                <a:alpha val="53333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418B97E-30FF-4C5D-BA8F-6D9C7676A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8600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5E7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5E7E"/>
                </a:solidFill>
                <a:latin typeface="Aptos"/>
                <a:ea typeface="Aptos"/>
                <a:cs typeface="Aptos"/>
              </a:rPr>
              <a:t>SAFETY_ALARM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4A2B198-BF3E-4D8E-A288-7B83BAA56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28600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gas/flame/button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91D7B14-BD13-44A9-B7E0-2E523998C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43200"/>
            <a:ext cx="476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8CFF">
              <a:alpha val="14118"/>
            </a:srgbClr>
          </a:solidFill>
          <a:ln xmlns:a="http://schemas.openxmlformats.org/drawingml/2006/main" w="19050">
            <a:solidFill>
              <a:srgbClr val="B68CFF">
                <a:alpha val="53333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D963E8B-059F-4E5C-9F2B-3B728FA4E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1940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68C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68CFF"/>
                </a:solidFill>
                <a:latin typeface="Aptos"/>
                <a:ea typeface="Aptos"/>
                <a:cs typeface="Aptos"/>
              </a:rPr>
              <a:t>SENSOR_ERROR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FA9F0DE-BC7A-4645-AB6E-F349756A4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81940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invalid sensor state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70BED39-9F73-4F80-BF40-FE4E2E895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76600"/>
            <a:ext cx="476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14118"/>
            </a:srgbClr>
          </a:solidFill>
          <a:ln xmlns:a="http://schemas.openxmlformats.org/drawingml/2006/main" w="19050">
            <a:solidFill>
              <a:srgbClr val="6FEAFF">
                <a:alpha val="53333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C098697-1B40-4476-80FE-BE6B006CF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5280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MANUAL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7EF722C-4112-4F2D-9E8C-65A0661CF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35280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operator override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8ADE4C6-706E-4B60-AD96-2D2D746C8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10000"/>
            <a:ext cx="476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14118"/>
            </a:srgbClr>
          </a:solidFill>
          <a:ln xmlns:a="http://schemas.openxmlformats.org/drawingml/2006/main" w="19050">
            <a:solidFill>
              <a:srgbClr val="FFCD6E">
                <a:alpha val="53333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9F1FB1D-C46E-48CF-8CCC-2774B213E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8620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CD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CD6E"/>
                </a:solidFill>
                <a:latin typeface="Aptos"/>
                <a:ea typeface="Aptos"/>
                <a:cs typeface="Aptos"/>
              </a:rPr>
              <a:t>COOLING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9F1B43F-2201-4E07-B2D4-00906C95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88620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temperature high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41CA44C-EB9D-4012-B347-2AF0DB85B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476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F08B">
              <a:alpha val="14118"/>
            </a:srgbClr>
          </a:solidFill>
          <a:ln xmlns:a="http://schemas.openxmlformats.org/drawingml/2006/main" w="19050">
            <a:solidFill>
              <a:srgbClr val="78F08B">
                <a:alpha val="53333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68CE92E-B0B0-4695-B845-688A864E7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41960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8F08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8F08B"/>
                </a:solidFill>
                <a:latin typeface="Aptos"/>
                <a:ea typeface="Aptos"/>
                <a:cs typeface="Aptos"/>
              </a:rPr>
              <a:t>LIGHTING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CFEF4D3-59E5-4306-93A6-5DD49B633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441960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occupied + dark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B35468A-1A8A-4A47-B3FB-0E459FADD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76800"/>
            <a:ext cx="476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14118"/>
            </a:srgbClr>
          </a:solidFill>
          <a:ln xmlns:a="http://schemas.openxmlformats.org/drawingml/2006/main" w="19050">
            <a:solidFill>
              <a:srgbClr val="52F2B0">
                <a:alpha val="53333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AD66158-1EFE-4554-ABDC-258B7FD3A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95300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ENERGY_SAVING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093C774-CF23-43F9-BF21-C29B8FDBE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495300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empty or bright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3375FAD-3D92-4B77-87AC-916D44149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10200"/>
            <a:ext cx="476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9AAC">
              <a:alpha val="14118"/>
            </a:srgbClr>
          </a:solidFill>
          <a:ln xmlns:a="http://schemas.openxmlformats.org/drawingml/2006/main" w="19050">
            <a:solidFill>
              <a:srgbClr val="7E9AAC">
                <a:alpha val="53333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14748AF-837B-4841-8B4F-86E8FDB43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48640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NORMAL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4B4B1D6-C7A1-4363-B533-7FDBF72EA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548640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monitoring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21F6A51-5F5A-4060-8DA8-C80719E49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47900"/>
            <a:ext cx="3810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000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7835DA2-E727-4472-AE87-674EF7501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647950"/>
            <a:ext cx="2571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FAE081D-B8F3-428E-8D02-D0EA8E680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190875"/>
            <a:ext cx="3048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Dashboard explains what happened and why.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F00CF1A-3504-4202-9C05-75BCB8761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381500"/>
            <a:ext cx="30003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That turns raw telemetry into an operational classroom service.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804F533-25D9-484D-B70E-076FC84A5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F2C36FF-8759-484B-A496-180393825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</p:spTree>
    <p:extLst>
      <p:ext uri="{BB962C8B-B14F-4D97-AF65-F5344CB8AC3E}">
        <p14:creationId xmlns:p14="http://schemas.microsoft.com/office/powerpoint/2010/main" val="77206576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416A478-1B9E-47C4-AE71-FC06085B3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42D658-D52B-4AEC-9226-913201E2F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574F71-C79C-4FF9-8EF6-3EAB6D457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66B05D-0583-4B7E-A113-490313DE0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94BBE6-7F0D-4B05-9F65-7A78DB15B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3D030B-7BF5-4812-ABDF-7CAB75D2D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559282-4539-4E15-9219-C640E3C9D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709042-90C1-4BEB-A413-A73BDAE99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55FE61-7A78-44C3-84CD-1AAE33777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E8F68C-865E-44FE-8490-439A1E4C1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D52054-5773-4821-AA3C-0DD57D71E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86C2CF-431E-4F72-9931-2A874C370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4096BB-16A3-4F27-B496-CFAF274A8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9A1773-95B5-41AA-A728-B002BFE6F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0B4663-00CE-49B1-B45E-7F4AE4797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A24815-3C96-4ABF-84E4-C64C2C344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6B1325-0EDE-433C-BF5E-F954A46B8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E9D316-DC64-42BA-AF63-D2C451B56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9A5E55-7EB6-40C8-ACC9-C3C175452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A55C7F-5ED5-493F-899B-F7109BF1C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21F644-ECCB-461B-AEBC-53E1A7812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8D0D63-7525-495C-A7AA-7A72F5176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33BF5D-C3B2-4FDF-A563-0BDDFAE8E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6EF3BE-C6F8-417D-8474-6755E33B0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5CFC7C-2E3C-491C-90FA-CEA61E0EA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3F8BE9-EA06-4980-81F7-C240CB37D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FF5E7E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BD68224-6FC0-4BCD-B2FB-CF660D1AA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3BAE08D-E3E8-4D44-A6C7-DDF717A42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SAFETY ALARM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552B79A-8BF7-4737-8F73-B97259D83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The highest-priority path is visible and local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F7814D1-624B-4DE4-A5EB-B197F31F9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The button gives a safe live demo while gas and flame remain the real sensor paths.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B9A4F5D-D8F3-4BC6-ADF9-F2BB774BB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4B446EF-D748-4721-BAFA-C1C2327CD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76500"/>
            <a:ext cx="257175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5E7E">
                <a:alpha val="44706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DDAB2CE-21E0-47FA-864E-793DF7660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486025"/>
            <a:ext cx="2552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BB53B7C-6DDF-435D-8752-2AF1F5E7E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051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11765"/>
            </a:srgbClr>
          </a:solidFill>
          <a:ln xmlns:a="http://schemas.openxmlformats.org/drawingml/2006/main" w="9525">
            <a:solidFill>
              <a:srgbClr val="FF5E7E">
                <a:alpha val="53333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F931D9F-2C0F-4535-803F-7274AA8B3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8003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5E7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5E7E"/>
                </a:solidFill>
                <a:latin typeface="Aptos"/>
                <a:ea typeface="Aptos"/>
                <a:cs typeface="Aptos"/>
              </a:rPr>
              <a:t>Trigger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5578902-1134-46FF-8630-CF3D0E2E3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00400"/>
            <a:ext cx="2114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Three inputs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9878954-52B6-4627-B8DA-7E370018A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43300"/>
            <a:ext cx="211455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gasDanger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flameDetected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demoEmergency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1142007-935D-4ABE-9311-B139F4D7A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476500"/>
            <a:ext cx="257175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CD6E">
                <a:alpha val="44706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B6FB4E2-CF1D-46E8-A01B-A92E3EB9B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486025"/>
            <a:ext cx="2552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C81560A-1D17-4B06-9C59-EF74B442F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27051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11765"/>
            </a:srgbClr>
          </a:solidFill>
          <a:ln xmlns:a="http://schemas.openxmlformats.org/drawingml/2006/main" w="9525">
            <a:solidFill>
              <a:srgbClr val="FFCD6E">
                <a:alpha val="53333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DF230DB-3C93-4ADE-937C-139777439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28003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CD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CD6E"/>
                </a:solidFill>
                <a:latin typeface="Aptos"/>
                <a:ea typeface="Aptos"/>
                <a:cs typeface="Aptos"/>
              </a:rPr>
              <a:t>Decision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0781E4E-4492-4259-B214-05EF3E900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3200400"/>
            <a:ext cx="2114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SAFETY ALARM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9648EF3-C75D-4CF3-B5E1-4F7CBEB25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3543300"/>
            <a:ext cx="211455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Overrides lighting, cooling and energy-saving logic immediately.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7438299-690C-41FD-8C1D-93EAB865C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476500"/>
            <a:ext cx="257175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4706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BA76AE7-AD63-49A6-AF21-4F66EA36C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2486025"/>
            <a:ext cx="2552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C69A6D9-2C90-4BAF-8868-05AE3A9EE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7051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11765"/>
            </a:srgbClr>
          </a:solidFill>
          <a:ln xmlns:a="http://schemas.openxmlformats.org/drawingml/2006/main" w="9525">
            <a:solidFill>
              <a:srgbClr val="6FEAFF">
                <a:alpha val="53333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D269C81-2CBA-4549-86AB-D2760C165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8003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Action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15BD043-AD10-480B-B71D-F63BFA610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200400"/>
            <a:ext cx="2114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Physical response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DA6FE02-85E9-445C-9B81-54394932A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543300"/>
            <a:ext cx="211455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red light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pulsed buzzer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fan relay ON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PWM = 255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176937B-3E4D-4D26-8000-D26F25FA3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619500"/>
            <a:ext cx="10096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DC8DD46-D198-4997-8DA9-8516677A3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467100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5E7E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5E7E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58A2FE0-6157-4228-83C8-6EE35FBAF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3619500"/>
            <a:ext cx="10096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3622634-240C-4C5E-AE77-28D790162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3467100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CD6E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CD6E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5DC745E-57F7-4F3D-BA63-6F0555D23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29250"/>
            <a:ext cx="9906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5E7E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F5E7E"/>
                </a:solidFill>
                <a:latin typeface="Aptos"/>
                <a:ea typeface="Aptos"/>
                <a:cs typeface="Aptos"/>
              </a:rPr>
              <a:t>Demo first: press D4, then watch red light, buzzer, fan and dashboard alarm.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1A3109A-5A9E-4D44-AF3A-FAC216A57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4D76E45-F5D3-4761-BD3B-A137840BE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</p:spTree>
    <p:extLst>
      <p:ext uri="{BB962C8B-B14F-4D97-AF65-F5344CB8AC3E}">
        <p14:creationId xmlns:p14="http://schemas.microsoft.com/office/powerpoint/2010/main" val="69327252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7E9A97F-DA47-468A-9773-623AD56E4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9C1EDC-820F-47F1-BDA6-7A7171675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B9C8C8-C85F-4280-90A1-032414CC9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AE4943-CD05-43B1-A231-AFAE84069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D506BD-E296-45E0-8BE5-ED5CB41D6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F92608-426F-4CAA-90EE-58ABC4C4C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EEE731-D069-4AD3-80FA-DFBB1F56E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90F014-C46A-4918-BF8B-DB28573BF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596088-EDEF-4027-85F1-F03B528AB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9E5D34-1EAC-49D3-8FBD-1BC0979EC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E63B58-9A27-46CB-AB5C-A36739559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C7AB6D-FBCE-4186-969B-52B379398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54E7B9-D538-425A-A84E-BA0A17AEB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3C3059-278B-4A48-A49F-2E9DEAA93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F7D8B7-D9F2-4738-A2C3-066E02BC9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312E0A-593E-43F7-9E96-88B502C30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17AEB4-0048-4CC4-B564-31F0303BD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3406A2-FBC1-46AC-9965-51BB03B3E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AD20C4-0998-46C8-BB14-DFAA69A7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EE6444-3090-4378-B810-A451A6DDB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46CFF1-30EB-45B0-BDF1-04CF567FF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39A4C5-AFC6-4CC5-AC55-117C4A948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7C6960-DA2E-47D2-9B4B-2FBBE4AC4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13674C-E435-4C74-8CD1-07068EE29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176DC2-D44D-4269-9A67-600075DD2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7AA19F-BD2E-4D0F-9858-8029A46D3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78F08B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4B3FE5-15E1-4380-92B0-EF439733A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D085A24-F84A-4721-B40E-F7FC50850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COMFORT + ENERGY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2486208-C3F8-4E9F-88B5-B67599A2C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Human-friendly automation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D5B2AF9-2814-4BCE-89E3-BF8ACB5AC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The classroom avoids waste without making the controls feel abrupt.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BFA91C-4B1E-4C88-9ADE-14AB932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A2925AE-3BBF-4A17-BC54-4B9DC2B14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81250"/>
            <a:ext cx="47625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78F08B">
                <a:alpha val="44706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78856E4-1504-44A6-8911-C3DB8A752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390775"/>
            <a:ext cx="4743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F08B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1F3893F-E93E-402A-BFDD-F3F244D74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4305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78F08B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8F08B"/>
                </a:solidFill>
                <a:latin typeface="Aptos"/>
                <a:ea typeface="Aptos"/>
                <a:cs typeface="Aptos"/>
              </a:rPr>
              <a:t>Lighting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97EC1BD-8E46-4E01-A81D-B19763D60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048000"/>
            <a:ext cx="4305300" cy="1514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Bright room: lamp stays off even if PIR sees motion.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Dark room + occupied: lamp turns on.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No occupancy timeout: lamp turns off.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02B4AA3-6B37-481C-9679-46FA160AA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81250"/>
            <a:ext cx="47625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CD6E">
                <a:alpha val="44706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FC4B81B-4287-4078-8C3B-5F53436C0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390775"/>
            <a:ext cx="4743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3F3E61F-C37B-4D8D-B180-0A4A8EE87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590800"/>
            <a:ext cx="4305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CD6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CD6E"/>
                </a:solidFill>
                <a:latin typeface="Aptos"/>
                <a:ea typeface="Aptos"/>
                <a:cs typeface="Aptos"/>
              </a:rPr>
              <a:t>Cooling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3C977FD-F079-47D0-9BAF-EF70E5B97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048000"/>
            <a:ext cx="4305300" cy="1514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Temperature threshold starts the relay.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PWM ramps fan intensity.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Tach RPM is interrupt-based and never blocks the system.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1638A04-5EB2-44EF-B3D4-FD91D18C1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91125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78F08B">
                <a:alpha val="44706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2D1F239-6527-4D1F-B092-558A949A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5200650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F08B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E0037A7-E711-42E5-9421-DE89F9C20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362575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78F08B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78F08B"/>
                </a:solidFill>
                <a:latin typeface="Aptos Display"/>
                <a:ea typeface="Aptos Display"/>
                <a:cs typeface="Aptos Display"/>
              </a:rPr>
              <a:t>10s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F6F759B-67A3-4CC8-9481-F49364A41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915025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occupancy timeout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E520C15-1406-40D8-8953-DD3D9DAB7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191125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CD6E">
                <a:alpha val="44706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1E71D79-CDB4-449B-A11D-EC4AD15BD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200650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9DD773F-E977-448C-8FEB-0211B85F4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362575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CD6E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FCD6E"/>
                </a:solidFill>
                <a:latin typeface="Aptos Display"/>
                <a:ea typeface="Aptos Display"/>
                <a:cs typeface="Aptos Display"/>
              </a:rPr>
              <a:t>PWM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C32D9C1-BA44-4956-8EA6-7B97CC7D0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915025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smooth fan path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73287B2-ECFC-45D9-B94F-766193B8E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191125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52F2B0">
                <a:alpha val="44706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D570ED9-706F-4477-91EA-CD9728C23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5200650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C2DCD82-4BB9-4306-845C-3418668A5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362575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52F2B0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52F2B0"/>
                </a:solidFill>
                <a:latin typeface="Aptos Display"/>
                <a:ea typeface="Aptos Display"/>
                <a:cs typeface="Aptos Display"/>
              </a:rPr>
              <a:t>ACK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6F01A45-DF4A-4757-AE55-BAA43FFAF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915025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config confirmed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ABB07EF-9274-42C1-8923-92DD6F564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191125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4706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DF7858C-AB75-406D-B559-1C73F9C96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5200650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9B6B212-64B4-4CBB-8FD3-EFAD7AA5A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362575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6FEAFF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6FEAFF"/>
                </a:solidFill>
                <a:latin typeface="Aptos Display"/>
                <a:ea typeface="Aptos Display"/>
                <a:cs typeface="Aptos Display"/>
              </a:rPr>
              <a:t>Local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BFEED06-9C9A-4D0C-BD53-90895298D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915025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works offline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BA2CC86-51B8-488F-B43D-AABEE3AE9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4F02772-90CC-4CEF-A866-5ABC2184E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</p:spTree>
    <p:extLst>
      <p:ext uri="{BB962C8B-B14F-4D97-AF65-F5344CB8AC3E}">
        <p14:creationId xmlns:p14="http://schemas.microsoft.com/office/powerpoint/2010/main" val="208191742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1840E7A-ED0E-460A-AABE-CFEF84CAB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8B079A-CF30-4377-A5F7-691005246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4B9BF8-1324-45E9-8D22-2D83A8957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A79077-729F-4B48-9336-02EC8E0D1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C4A764-FFE2-4191-9B89-2354C379D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D1AB9A-FD9E-495A-ABA2-5D250D42E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F4996A-D312-4DC5-8589-2D4356679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514F53-0476-4F27-A60E-B57965EB6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DBC101-C3D2-4625-8B12-AC1DD5D70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7CAF17-44AD-4DAD-A10D-8889507C4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F65378-4813-4E46-8177-6D806B62E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0CBBD3-D3E9-490F-93BE-4EEDA595B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1ECA67-D658-49C5-8C1B-3E63912C0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9639A3-8C35-4AF0-86EA-421A1A4AA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9ED849-500C-4C28-8CC6-6B1630D8D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C16F6B-06D1-4632-A931-5E3170192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AA7648-AB7E-4197-944C-C44FCEEF5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9BCEA9-EE38-494D-BB30-2E49491F8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0DDA7B-8075-4634-8552-EADEC0F30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728A91-4514-415E-B3DD-6CED54F66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C5702B-225A-43E2-82CC-036A7ABEE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773A43-3E7E-40DF-B120-B6BDB7CA3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F39440-ACE6-444A-88A0-DE8CF3E16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716118-1BDB-47C5-B40B-998E28EAC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C5201C-48D0-44C7-9D28-9BE73F051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43CEE6-351F-45FB-A948-62800FFB9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52F2B0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8C90B20-25A1-49B4-853C-F41C23DCD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5F9FF7-997C-4933-A0E2-74B19B70E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MQTT NETWORK LAYER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A291955-67C0-4844-B37A-DE497ACF3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Telemetry goes up; commands come back with ACK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23010F-B957-4107-80EB-DA165DC1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The protocol is simple enough to debug and structured enough for a dashboard.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E1BFD95-C3DF-4CAB-923A-449182D07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571099-9039-4587-A0F2-804451E13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66950"/>
            <a:ext cx="10287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722"/>
          </a:solidFill>
          <a:ln xmlns:a="http://schemas.openxmlformats.org/drawingml/2006/main" w="19050">
            <a:solidFill>
              <a:srgbClr val="6FEAFF">
                <a:alpha val="46667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D66758E-F0E4-46B8-B698-816EBCE4E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57450"/>
            <a:ext cx="9753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FEAFF"/>
                </a:solidFill>
                <a:latin typeface="Aptos Mono"/>
                <a:ea typeface="Aptos Mono"/>
                <a:cs typeface="Aptos Mono"/>
              </a:defRPr>
            </a:pPr>
            <a:r>
              <a:rPr sz="1650" b="0">
                <a:solidFill>
                  <a:srgbClr val="6FEAFF"/>
                </a:solidFill>
                <a:latin typeface="Aptos Mono"/>
                <a:ea typeface="Aptos Mono"/>
                <a:cs typeface="Aptos Mono"/>
              </a:rPr>
              <a:t>SC2,mode=SAFETY_ALARM,pir=1,temp10=286,gas=520</a:t>
            </a:r>
          </a:p>
          <a:p xmlns:a="http://schemas.openxmlformats.org/drawingml/2006/main">
            <a:pPr algn="l">
              <a:defRPr sz="1650" b="0">
                <a:solidFill>
                  <a:srgbClr val="6FEAFF"/>
                </a:solidFill>
                <a:latin typeface="Aptos Mono"/>
                <a:ea typeface="Aptos Mono"/>
                <a:cs typeface="Aptos Mono"/>
              </a:defRPr>
            </a:pPr>
            <a:r>
              <a:rPr sz="1650" b="0">
                <a:solidFill>
                  <a:srgbClr val="6FEAFF"/>
                </a:solidFill>
                <a:latin typeface="Aptos Mono"/>
                <a:ea typeface="Aptos Mono"/>
                <a:cs typeface="Aptos Mono"/>
              </a:rPr>
              <a:t>fan=1,pwm=255,rpm=1320,status=R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6082C50-338F-4F06-A660-642BA1277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19500"/>
            <a:ext cx="2095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CD6E">
                <a:alpha val="44706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34D1593-E6B5-4F34-BE8E-BAFC3E80B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629025"/>
            <a:ext cx="2076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EE0359A-8FBA-4A31-A4F9-4600EF56D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38481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11765"/>
            </a:srgbClr>
          </a:solidFill>
          <a:ln xmlns:a="http://schemas.openxmlformats.org/drawingml/2006/main" w="9525">
            <a:solidFill>
              <a:srgbClr val="FFCD6E">
                <a:alpha val="53333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2DE327D-05D1-4122-B45C-602AFF11F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9433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CD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CD6E"/>
                </a:solidFill>
                <a:latin typeface="Aptos"/>
                <a:ea typeface="Aptos"/>
                <a:cs typeface="Aptos"/>
              </a:rPr>
              <a:t>UNO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D58F013-D760-427E-A369-FE45D23A8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4343400"/>
            <a:ext cx="1638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Emit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1642835-B99E-45AB-835E-3F4E3EE91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4686300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SoftwareSerial line every second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B6BCB25-A804-40D8-A5D2-85D8C38F5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619500"/>
            <a:ext cx="2095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52F2B0">
                <a:alpha val="44706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F567FD5-DD91-46F4-84B4-4F0E4C464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629025"/>
            <a:ext cx="2076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F1F766F-E7F3-494B-B040-855F5FAEE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8481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11765"/>
            </a:srgbClr>
          </a:solidFill>
          <a:ln xmlns:a="http://schemas.openxmlformats.org/drawingml/2006/main" w="9525">
            <a:solidFill>
              <a:srgbClr val="52F2B0">
                <a:alpha val="53333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1EBC172-5BD9-424C-A479-64C25763C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39433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ESP32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DE45C2F-793B-4B5B-A0DB-007892B63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4343400"/>
            <a:ext cx="1638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Parse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DB9EED4-B687-4E12-B9CD-CA09DD5E0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4686300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Serial2 + Wi-Fi reconnect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D1AE6E3-19B0-4445-837E-4D9C97E2F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619500"/>
            <a:ext cx="2095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B68CFF">
                <a:alpha val="44706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FE58BE4-CE1C-4C9F-83E2-9B63DA8B0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629025"/>
            <a:ext cx="2076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8C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CA1992C-0174-4FC3-94C0-485CC41D0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38481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8CFF">
              <a:alpha val="11765"/>
            </a:srgbClr>
          </a:solidFill>
          <a:ln xmlns:a="http://schemas.openxmlformats.org/drawingml/2006/main" w="9525">
            <a:solidFill>
              <a:srgbClr val="B68CFF">
                <a:alpha val="53333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2E4AB04-B3F4-4F3C-8CA4-44FAF5D63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39433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68C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68CFF"/>
                </a:solidFill>
                <a:latin typeface="Aptos"/>
                <a:ea typeface="Aptos"/>
                <a:cs typeface="Aptos"/>
              </a:rPr>
              <a:t>MQTT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BD5D553-4331-4342-B545-310750C91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4343400"/>
            <a:ext cx="1638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Publish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477BAEE-0954-42F1-8EC2-A04EF5813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4686300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JSON plus key topics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53DDD7A-6BE6-404E-91E0-72452E150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3619500"/>
            <a:ext cx="2095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4706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B420A43-80E6-40EE-9555-96080FA54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629025"/>
            <a:ext cx="2076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5BD0B48-10AD-409E-A1AB-47E192628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8481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11765"/>
            </a:srgbClr>
          </a:solidFill>
          <a:ln xmlns:a="http://schemas.openxmlformats.org/drawingml/2006/main" w="9525">
            <a:solidFill>
              <a:srgbClr val="6FEAFF">
                <a:alpha val="53333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51386D3-DBBB-4239-B2D2-24EBA2CB7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39433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Web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294F9F3-2C99-433D-8ECB-EBA41F64E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4343400"/>
            <a:ext cx="1638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Operate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CA4352D-3489-45E2-ABBD-7A3B99F92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4686300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Config + presets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manual mode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1EFA660-DF50-4DEC-A334-9566BFD94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410075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D7D01B2-4561-4893-BFFA-B7D56CFE6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25767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CD6E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CD6E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FBE27F1-46FD-44B1-BB26-51B65E9F7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410075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E7E5730-3F59-4557-9644-9C7D773B7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5767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0AD070C-D96B-4E8D-9D29-59A768ADC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410075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8C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C37D236-713E-4277-A674-FF8AD0778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25767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B68C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B68CF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283CE39-5611-4677-88F4-EBA3FF5F8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667375"/>
            <a:ext cx="800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ACK loop proves the command actually landed on the UNO.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3E01510-FB8A-4F39-A916-0193C0F84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56DD3E0-2BDF-40C1-B518-D058B2923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</p:spTree>
    <p:extLst>
      <p:ext uri="{BB962C8B-B14F-4D97-AF65-F5344CB8AC3E}">
        <p14:creationId xmlns:p14="http://schemas.microsoft.com/office/powerpoint/2010/main" val="193781383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CE065EB-D066-4ACE-BCCE-65E09B93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A99D55-AAAD-4FF4-9D66-7DBE51FA7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6D9C40-C231-42F2-B71B-338EBF3DE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1338FC-26FD-463D-80AB-085AD7CA6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BFE9AD-9F63-4AB4-B712-A69A006F7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315F8A-132F-4D87-86D6-FB33E0570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99A9B2-92E8-4EF8-9CDA-0184B4F4E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48907C-6898-429C-AB87-F8898D080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38869F-EB89-4EA8-B4D7-0A9633618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708157-F263-4378-BE7F-BA578DE42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7FFD3E-4860-4E43-9EC8-F111F650D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8ADBDC-8635-4D99-9584-CFCE3D365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FCB7D7-4618-4E57-AF0A-148D4415F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D9B660-10B7-4EB6-BD8F-71E1CD8DF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96568E-117B-4D59-B143-CDCED71EC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FD340C-BA18-4F8E-BEC8-D7BB90EEC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A3B315-EB1F-42C0-A6B3-E04905F25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F6FFA4-3463-4CF1-ABD5-9A71E9BCB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267A30-5C05-4629-8C98-FB98453D7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B04FA7-7F0D-4A7B-BF82-80DF3DC21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2B9018-A474-44B1-B8A4-B5DE14C2C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CBB677-6F60-476A-9F46-4433F032B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9448BA-5C99-436F-BBD2-B355C7574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AD091D-8D5D-4112-BE97-E859DF425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3133C6-C55E-4B7E-8887-9F3684EEF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7325106-27EA-43B2-9B4A-AE9EC587B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6FEAFF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C289D03-DD78-4100-8BDC-8F5442A94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69A5A35-E9E9-4A9B-806D-905E620B7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DASHBOARD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B97994-C4C5-43D4-8679-3F9B70DAD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An operator console, not a raw JSON page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A3F9D98-5425-47B8-A453-C963C1B6B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Large cards, live charts, mobile access, manual mode and scene presets make the system usable.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F388A55-AFD8-4CB8-A545-8F1AB82F0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A427BD5-B1F9-4A36-AAC6-72697DFEC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95500"/>
            <a:ext cx="624840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275"/>
            </a:srgbClr>
          </a:solidFill>
          <a:ln xmlns:a="http://schemas.openxmlformats.org/drawingml/2006/main" w="9525">
            <a:solidFill>
              <a:srgbClr val="FFFFFF">
                <a:alpha val="18431"/>
              </a:srgbClr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1c2a628a0c46b2"/>
          <a:srcRect xmlns:a="http://schemas.openxmlformats.org/drawingml/2006/main" l="0" t="8112" r="0" b="81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2171700"/>
            <a:ext cx="6096000" cy="3333750"/>
          </a:xfrm>
          <a:prstGeom xmlns:a="http://schemas.openxmlformats.org/drawingml/2006/main" prst="rect">
            <a:avLst/>
          </a:prstGeom>
        </p:spPr>
      </p:pic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F386C6A-165E-4E7B-B2E8-BDA571687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095500"/>
            <a:ext cx="32956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275"/>
            </a:srgbClr>
          </a:solidFill>
          <a:ln xmlns:a="http://schemas.openxmlformats.org/drawingml/2006/main" w="9525">
            <a:solidFill>
              <a:srgbClr val="FFFFFF">
                <a:alpha val="18431"/>
              </a:srgbClr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f00650d6a9472d"/>
          <a:srcRect xmlns:a="http://schemas.openxmlformats.org/drawingml/2006/main" l="1092" t="0" r="109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43750" y="2171700"/>
            <a:ext cx="3143250" cy="1562100"/>
          </a:xfrm>
          <a:prstGeom xmlns:a="http://schemas.openxmlformats.org/drawingml/2006/main" prst="rect">
            <a:avLst/>
          </a:prstGeom>
        </p:spPr>
      </p:pic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D4BFF04-59B3-4672-AD27-D31DF0058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2095500"/>
            <a:ext cx="12001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275"/>
            </a:srgbClr>
          </a:solidFill>
          <a:ln xmlns:a="http://schemas.openxmlformats.org/drawingml/2006/main" w="9525">
            <a:solidFill>
              <a:srgbClr val="FFFFFF">
                <a:alpha val="18431"/>
              </a:srgbClr>
            </a:solidFill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e0db43dd0344ee"/>
          <a:srcRect xmlns:a="http://schemas.openxmlformats.org/drawingml/2006/main" l="19780" t="0" r="1978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572750" y="2171700"/>
            <a:ext cx="1047750" cy="3333750"/>
          </a:xfrm>
          <a:prstGeom xmlns:a="http://schemas.openxmlformats.org/drawingml/2006/main" prst="rect">
            <a:avLst/>
          </a:prstGeom>
        </p:spPr>
      </p:pic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F6E0892-FE14-46D9-8F51-3A0765660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171950"/>
            <a:ext cx="15240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52F2B0">
                <a:alpha val="44706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725FB5C-D8FC-434F-80CE-ACD668C9A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181475"/>
            <a:ext cx="1504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D20E68A-1BC3-4619-AD88-785C571CB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343400"/>
            <a:ext cx="114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52F2B0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52F2B0"/>
                </a:solidFill>
                <a:latin typeface="Aptos Display"/>
                <a:ea typeface="Aptos Display"/>
                <a:cs typeface="Aptos Display"/>
              </a:rPr>
              <a:t>Auto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C978D35-77DC-4B84-9CDF-98B7E6EC7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895850"/>
            <a:ext cx="114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manual switch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241F09B-FB10-496F-B9FA-162055065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171950"/>
            <a:ext cx="1581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CD6E">
                <a:alpha val="44706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153C9EF-A15F-4C99-A44D-407188B1C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4181475"/>
            <a:ext cx="1562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881CCA5-4869-4507-8597-B7532DFE4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343400"/>
            <a:ext cx="1200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CD6E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FCD6E"/>
                </a:solidFill>
                <a:latin typeface="Aptos Display"/>
                <a:ea typeface="Aptos Display"/>
                <a:cs typeface="Aptos Display"/>
              </a:rPr>
              <a:t>Scenes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60783DA-7D4A-465B-802D-E1148416F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895850"/>
            <a:ext cx="1200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one-click presets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69E8423-7F93-4A47-A16C-3095A6249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9ACB810-0FD6-4E83-9AEA-CCC67E296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Dashboard screenshots captured from the local running system.</a:t>
            </a:r>
          </a:p>
        </p:txBody>
      </p:sp>
    </p:spTree>
    <p:extLst>
      <p:ext uri="{BB962C8B-B14F-4D97-AF65-F5344CB8AC3E}">
        <p14:creationId xmlns:p14="http://schemas.microsoft.com/office/powerpoint/2010/main" val="207194621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FB1725A-381F-4B3D-AEE4-06B9954BA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FE8F8D-E2F0-434D-9CD4-700455178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49C2B4-0A2E-4D90-BBB7-D6A28501D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E5C7AC-EBC6-466A-ABE1-D7DA5FD9A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1DA5B0-34CE-477A-A83A-AF18BA34A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A444ED-216A-487E-A74A-BEAC9F853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C00C46-CFDF-4C83-AE7D-400B745D4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2B8D42-AFC0-4633-9083-838073866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6D818D-52F5-4DD8-9CC0-A14B621F0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3753F4-2C14-431D-841B-AF1B9D811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E6E697-523E-433A-8CE3-8A30A47BA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AC4F80-9D4C-429B-A55D-F0765732A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9BE8F8-CC57-41F1-9CE6-A3387971E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41E76A-51C3-4A04-9EAD-840A8CF76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8C83D0-91EB-45D9-AE18-50DE0E7E6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2E00CD-DFC6-48C4-BA06-4CA2D3F38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E5A13F-5782-4E86-9B58-FC10C7432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2DA0C9-D6DE-4A45-BD4A-068BFE4D5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D6C315-4DC8-40F9-A508-139751F8D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07A63B-EA2A-4504-AAA7-EDF1EC0BF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CDEA35-08CE-4023-BFA6-94E97BA57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20AFB6-289F-40BF-9510-91AC8C45A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A6566A-8DA8-4620-B380-7D08DC157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13FC1A-193F-4B3F-835F-F36CE3900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6DEAEB-0DBD-4EF4-BDE5-4CEEB7476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E6C0377-3C53-402E-8808-C1F5886B6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FFCD6E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75D9B33-DCA7-4B85-9663-B7CC65683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4CA4108-16AA-40B4-9E16-C4A66747D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TELEMETRY EVIDENCE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32842D2-FB5D-4901-A6DD-B0128DA3B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The demo has history, not just live values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00F826D-05EC-40A5-9323-6788517CB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Recorded data supports behavior explanation: modes, temperature response, fan duty and safety events.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4587377-1D4B-443C-BE04-E5DEF2597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1B21331-5C98-4456-82C7-5ADD53BE1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05050"/>
            <a:ext cx="529590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275"/>
            </a:srgbClr>
          </a:solidFill>
          <a:ln xmlns:a="http://schemas.openxmlformats.org/drawingml/2006/main" w="9525">
            <a:solidFill>
              <a:srgbClr val="FFFFFF">
                <a:alpha val="18431"/>
              </a:srgbClr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0d6d0b46fd42c5"/>
          <a:stretch xmlns:a="http://schemas.openxmlformats.org/drawingml/2006/main"/>
        </p:blipFill>
        <p:spPr>
          <a:xfrm xmlns:a="http://schemas.openxmlformats.org/drawingml/2006/main">
            <a:off x="666750" y="2697892"/>
            <a:ext cx="5143500" cy="2224216"/>
          </a:xfrm>
          <a:prstGeom xmlns:a="http://schemas.openxmlformats.org/drawingml/2006/main" prst="rect">
            <a:avLst/>
          </a:prstGeom>
        </p:spPr>
      </p:pic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D8DADF9-8336-4C02-A66D-41D98BB5F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305050"/>
            <a:ext cx="462915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275"/>
            </a:srgbClr>
          </a:solidFill>
          <a:ln xmlns:a="http://schemas.openxmlformats.org/drawingml/2006/main" w="9525">
            <a:solidFill>
              <a:srgbClr val="FFFFFF">
                <a:alpha val="18431"/>
              </a:srgbClr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26b569c07e45ba"/>
          <a:stretch xmlns:a="http://schemas.openxmlformats.org/drawingml/2006/main"/>
        </p:blipFill>
        <p:spPr>
          <a:xfrm xmlns:a="http://schemas.openxmlformats.org/drawingml/2006/main">
            <a:off x="6381750" y="2566634"/>
            <a:ext cx="4476750" cy="2486732"/>
          </a:xfrm>
          <a:prstGeom xmlns:a="http://schemas.openxmlformats.org/drawingml/2006/main" prst="rect">
            <a:avLst/>
          </a:prstGeom>
        </p:spPr>
      </p:pic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0F24E7B-E46C-4A8B-993E-058A47188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619750"/>
            <a:ext cx="971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CD6E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CD6E"/>
                </a:solidFill>
                <a:latin typeface="Aptos"/>
                <a:ea typeface="Aptos"/>
                <a:cs typeface="Aptos"/>
              </a:rPr>
              <a:t>9,764 samples | avg temp 28.3C | fan duty 31.5% | safety events 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57B04C4-1CC0-4015-B743-5E8652F02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3B0CE81-FFE9-4032-A34A-6870999F3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</p:spTree>
    <p:extLst>
      <p:ext uri="{BB962C8B-B14F-4D97-AF65-F5344CB8AC3E}">
        <p14:creationId xmlns:p14="http://schemas.microsoft.com/office/powerpoint/2010/main" val="135855991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DBB87C-D959-4E29-B4CE-2B770CD27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4E0B28-859A-43CD-B5FA-7A340DC33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1063CF-707E-489C-A753-A3FF3C01B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4C5FD8-169F-4C40-9BC5-85D981BD9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680BAF-95BC-4F4B-82EE-D38CDB68B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A355AC-3819-4AE5-918E-153010B0B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6F62B6-67E5-4027-A257-B9E6BA62D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087A3C-C33A-41A9-B8D7-42FE86E7B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C7C9AF-6CAA-4C0C-9C87-DF613A5E1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9FCD09-ABD4-4DD8-85FA-6F0F7B225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941C3D-0D15-4837-8F14-7BDBAE524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AD06C2-13C6-42AA-861E-78053DE0F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3F95D1-B5B3-4F8D-A670-E5CC25375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FA7B75-4823-444A-895F-61A7A2F39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BCCB1A-2761-4344-9B6E-2ED78E8A0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F257D6-D988-4AD9-BE8E-A57C774D5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5DF4BC-9165-4E8E-93A6-57254E5C7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3CF665-63C7-4D61-ADDA-DFD4C0AA5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8EED56-CE82-44A0-B03E-0313BA47F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C2DEE6-013B-4717-A253-A2CE9BF38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57380D-192C-45E4-856E-1A000BCD9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012F90-081D-4EC6-B106-04A623340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242175-768C-4848-876A-92752F6EC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B19976F-8D59-4EDF-8CB8-AE7FDBA8D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851DB68-B9DA-49AD-8FEC-296FC78BA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872B2A-1C1C-4028-B4D8-3F1A197EC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5E84442-27F8-4069-8801-B1587C74B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D7D917-38B9-44AA-9A21-2A7A8BB89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MEASURED COMPLEXITY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05DE680-74DD-456D-966A-19F436BB8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Complexity comes from closed loops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BA6194A-AB03-4706-9C1B-A80B7F96D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Sensors, control, gateway, dashboard, persistence and AI all interact with the same physical system.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C0B40A9-CE5C-438E-BE1E-BAF8E9880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0EE855E-6A11-420D-8F0C-C2DDF7B58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57425"/>
            <a:ext cx="510540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275"/>
            </a:srgbClr>
          </a:solidFill>
          <a:ln xmlns:a="http://schemas.openxmlformats.org/drawingml/2006/main" w="9525">
            <a:solidFill>
              <a:srgbClr val="FFFFFF">
                <a:alpha val="18431"/>
              </a:srgbClr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d45fc223474342"/>
          <a:stretch xmlns:a="http://schemas.openxmlformats.org/drawingml/2006/main"/>
        </p:blipFill>
        <p:spPr>
          <a:xfrm xmlns:a="http://schemas.openxmlformats.org/drawingml/2006/main">
            <a:off x="685800" y="2387708"/>
            <a:ext cx="4953000" cy="2749335"/>
          </a:xfrm>
          <a:prstGeom xmlns:a="http://schemas.openxmlformats.org/drawingml/2006/main" prst="rect">
            <a:avLst/>
          </a:prstGeom>
        </p:spPr>
      </p:pic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3E85719-9015-4989-825D-570DA4488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8600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4706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B08E881-51FF-4B90-861A-2BEAA797E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229552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644378F-4D53-4BFF-98EC-BED037213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5745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6FEAFF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6FEAFF"/>
                </a:solidFill>
                <a:latin typeface="Aptos Display"/>
                <a:ea typeface="Aptos Display"/>
                <a:cs typeface="Aptos Display"/>
              </a:rPr>
              <a:t>9,764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78FA004-CDA2-4666-8287-19F439445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00990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telemetry samples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5B82170-DE27-4F17-93E6-C8CB46076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8600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CD6E">
                <a:alpha val="44706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7A4950E-5665-4933-BA5C-21BAE9BE0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229552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DCEC115-972F-4A87-857C-51569941B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45745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CD6E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FCD6E"/>
                </a:solidFill>
                <a:latin typeface="Aptos Display"/>
                <a:ea typeface="Aptos Display"/>
                <a:cs typeface="Aptos Display"/>
              </a:rPr>
              <a:t>12+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836ABF4-0255-4374-9FBB-0998CC593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00990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MQTT topics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0020AA2-B025-4A2B-82A9-5E390897E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B68CFF">
                <a:alpha val="44706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473B447-7300-4E29-B940-A374CFBFD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372427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8C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FA3EAAF-C057-4DDA-9112-1475B832D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8620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B68CFF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B68CFF"/>
                </a:solidFill>
                <a:latin typeface="Aptos Display"/>
                <a:ea typeface="Aptos Display"/>
                <a:cs typeface="Aptos Display"/>
              </a:rPr>
              <a:t>2-way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2072E25-2445-40C3-97E4-C0C425AA3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UART command + ACK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0A8D708-3D0D-491C-8D3B-83B64A4D8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1475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5E7E">
                <a:alpha val="44706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5A95990-5C53-4DC6-B62C-04B3511F6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72427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A7D5AC8-2B9B-4F92-A6C5-E689D2F22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8620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5E7E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F5E7E"/>
                </a:solidFill>
                <a:latin typeface="Aptos Display"/>
                <a:ea typeface="Aptos Display"/>
                <a:cs typeface="Aptos Display"/>
              </a:rPr>
              <a:t>Local-first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02EC944-D451-49EE-AA6E-FD3A7DC03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43865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safety path offline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6752C74-05FE-48A6-8E61-AA7AFBF9C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14350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52F2B0">
                <a:alpha val="44706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610F184-F206-4E4D-BD16-CC36E644B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515302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2BB73A9-0EDC-48F1-BED0-301D13C8A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31495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52F2B0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52F2B0"/>
                </a:solidFill>
                <a:latin typeface="Aptos Display"/>
                <a:ea typeface="Aptos Display"/>
                <a:cs typeface="Aptos Display"/>
              </a:rPr>
              <a:t>34/34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A499876-0C1A-4AC0-8726-677C4B6A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86740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delivery self-check PASS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C27354C-2077-4789-8547-6B3D5E919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E734445-449F-465A-9BC5-99B8C0E14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</p:spTree>
    <p:extLst>
      <p:ext uri="{BB962C8B-B14F-4D97-AF65-F5344CB8AC3E}">
        <p14:creationId xmlns:p14="http://schemas.microsoft.com/office/powerpoint/2010/main" val="17981523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A50715-00A2-4C52-9BE5-F876439A4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5366EE-EE71-4040-B527-7F2048AFE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04BAEE-93D7-4C5A-BADD-14E10CD61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D4AD4A-0133-423C-9A6F-99B04E257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3E6FE4-41C4-4A67-86BA-9DB4D23D9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D96E8C-C552-4603-918C-5A736550B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2E93AB-C53D-4EE4-9165-30EE83205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ED2DD6-022F-4B7C-B816-46ED396C4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DE4C23-B5D9-490D-83BB-1F77339D5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CEA2FC-9E4A-4A6E-9596-D17EAB284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6ECC78-3046-4B86-8E54-9C8A588DA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F76370-76CF-4DD4-A181-1BCE93AE7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02328F-D589-4237-B618-13B1FC2C4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27BB83-CC54-47DD-854C-1F2724AA3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443E77-C945-47F9-9159-03A018F7E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2E85CA-ECAB-4C3C-8145-559D8E30C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908E7F-1CD5-46A0-9327-4A68857A4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DA1364-84C6-42DF-B9E1-1DD93618A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C86048-7C4A-4F05-8F8C-83C71B132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6EFFD8-D424-4A34-BE42-A7C6A48B4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BE1611-6302-48AC-AEFF-51EF139F3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D933F2-E00A-427A-9C02-01672451E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0571BF-3FF1-447D-8278-B0207681E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6FF242E-67B3-47A9-83FA-D46498C50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2E3A2E-5C0C-4BAE-B63D-19AAC8202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D77220-2D56-45D6-89FC-FB2547135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5F9CFF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98E602-0E22-4613-A9E7-44023367C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E12C2F7-99BF-4433-B391-67ADCD450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AI OPERATIONS LAYER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29A2BBD-168E-4F07-A898-6C0441A5A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Natural language becomes structured control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B2023AD-B7AC-4220-AFA3-505E2072D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AI is useful because it turns vague operator intent into ordered tasks and timed actions.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410B1A7-1A7E-4A0B-B0F6-D6E028FA7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F84E7B5-1D0B-4BD3-8878-B9000D1A1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05050"/>
            <a:ext cx="501015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275"/>
            </a:srgbClr>
          </a:solidFill>
          <a:ln xmlns:a="http://schemas.openxmlformats.org/drawingml/2006/main" w="9525">
            <a:solidFill>
              <a:srgbClr val="FFFFFF">
                <a:alpha val="18431"/>
              </a:srgbClr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f2bca7e9ea417e"/>
          <a:srcRect xmlns:a="http://schemas.openxmlformats.org/drawingml/2006/main" l="6910" t="0" r="691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2381250"/>
            <a:ext cx="4857750" cy="2857500"/>
          </a:xfrm>
          <a:prstGeom xmlns:a="http://schemas.openxmlformats.org/drawingml/2006/main" prst="rect">
            <a:avLst/>
          </a:prstGeom>
        </p:spPr>
      </p:pic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886FCFA-8435-4CE2-83D8-882FA02F8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81250"/>
            <a:ext cx="161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4706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69C282D-951F-45FF-A98C-9859813CB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2390775"/>
            <a:ext cx="1600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92B810A-2B96-4D31-A870-F3487896D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09850"/>
            <a:ext cx="1200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11765"/>
            </a:srgbClr>
          </a:solidFill>
          <a:ln xmlns:a="http://schemas.openxmlformats.org/drawingml/2006/main" w="9525">
            <a:solidFill>
              <a:srgbClr val="6FEAFF">
                <a:alpha val="53333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89E725E-9C89-430A-BF90-BE92D0C0F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705100"/>
            <a:ext cx="895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Voice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8D2482D-7511-43E7-B1D7-B9D5B9B40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05150"/>
            <a:ext cx="1162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Capture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A464A1F-7541-433B-B1BC-7FAB72AF0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448050"/>
            <a:ext cx="1162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Browser mic input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AC91DFF-D7EA-43C4-8C6A-BA6C4D3C7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381250"/>
            <a:ext cx="161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52F2B0">
                <a:alpha val="44706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F4A4E62-298B-4BCD-A578-2D8BAFF8D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90775"/>
            <a:ext cx="1600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16293BB-CAD6-4AE2-81C4-822ACF708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609850"/>
            <a:ext cx="1200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11765"/>
            </a:srgbClr>
          </a:solidFill>
          <a:ln xmlns:a="http://schemas.openxmlformats.org/drawingml/2006/main" w="9525">
            <a:solidFill>
              <a:srgbClr val="52F2B0">
                <a:alpha val="53333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F556BCC-917D-4ABB-AAC8-4591DE1C1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705100"/>
            <a:ext cx="895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STT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AD6244A-358B-4207-BB3E-D48DE861B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105150"/>
            <a:ext cx="1162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Text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634733E-5BE8-44BE-AB84-FEEF5888A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448050"/>
            <a:ext cx="1162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faster-whisper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F2435A0-5B15-49F1-9255-93B99F8F6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381250"/>
            <a:ext cx="161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B68CFF">
                <a:alpha val="44706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8A9C2A5-CFF6-4A6B-BDAC-C728E3747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2390775"/>
            <a:ext cx="1600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8C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229EA1E-2250-4437-8949-75E8655F6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609850"/>
            <a:ext cx="1200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8CFF">
              <a:alpha val="11765"/>
            </a:srgbClr>
          </a:solidFill>
          <a:ln xmlns:a="http://schemas.openxmlformats.org/drawingml/2006/main" w="9525">
            <a:solidFill>
              <a:srgbClr val="B68CFF">
                <a:alpha val="53333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04889BD-4B46-4872-B982-27A37AD00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705100"/>
            <a:ext cx="895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68C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68CFF"/>
                </a:solidFill>
                <a:latin typeface="Aptos"/>
                <a:ea typeface="Aptos"/>
                <a:cs typeface="Aptos"/>
              </a:rPr>
              <a:t>Qwen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8D6B262-521D-49AD-A328-558F0628F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3105150"/>
            <a:ext cx="1162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9781DB2-764A-4A06-A0AA-D309D6BC2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3448050"/>
            <a:ext cx="1162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structured tasks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E9C01FE-C2A9-4D00-8656-620A5B629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219450"/>
            <a:ext cx="1047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1FBB0BD-B1C8-4570-8559-C96F37523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067050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5A33FB7-0808-4796-8E24-269AFF639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219450"/>
            <a:ext cx="1047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2AFA7D8-06CD-4991-ABB9-E57C99F8E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067050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886597C-0BCC-4394-B6DB-DB1B659E3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572000"/>
            <a:ext cx="3429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CD6E">
                <a:alpha val="44706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7D33D53-1C2E-4FBA-BDE5-2D7EDACA3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4581525"/>
            <a:ext cx="3409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E2C59C3-3E24-434F-B9F9-68CC44152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781550"/>
            <a:ext cx="2971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CD6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CD6E"/>
                </a:solidFill>
                <a:latin typeface="Aptos"/>
                <a:ea typeface="Aptos"/>
                <a:cs typeface="Aptos"/>
              </a:rPr>
              <a:t>Timeline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E260556-B197-4891-908E-1D4DFD419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238750"/>
            <a:ext cx="2971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Delayed actions auto-clear after completion.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AEAEDB9-4935-4A94-AA33-D53652295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572000"/>
            <a:ext cx="1809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5E7E">
                <a:alpha val="44706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AC066E2-E189-4A42-A37F-9570DB4EB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4581525"/>
            <a:ext cx="1790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ADC70C5-EEDE-4766-BF58-C6016AC16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781550"/>
            <a:ext cx="1352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5E7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5E7E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50C7706-F3C6-4896-9F06-1E6992D59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5238750"/>
            <a:ext cx="13525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Overrides guide comfort.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9603D8B-DFAC-4C11-A8D2-07E25D89E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FD90429-56A8-4EC8-9E2B-4C668AF09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</p:spTree>
    <p:extLst>
      <p:ext uri="{BB962C8B-B14F-4D97-AF65-F5344CB8AC3E}">
        <p14:creationId xmlns:p14="http://schemas.microsoft.com/office/powerpoint/2010/main" val="1476486086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7833FAC-2D62-49D1-8E14-BA0DA6AC7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11CDB6-A654-47DA-93DD-B4FF9ADFB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0CF911-69EC-4683-AB66-B058F69AB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30ADB5-08E2-4533-8754-BE5C5400A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A0D45B-69A5-4042-A8BD-9FA9B8A1C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0E19C0-BBE7-4318-9E4A-BC6DFC7E8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27F34C-BED5-43B4-8F7D-C551696BE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904371-4104-4FBD-A9CA-4E5110BB3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DA12EE-4800-47C6-B8EC-9901CBE11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176A76-1C48-4786-97E0-545C347C4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9F94CE-E139-47E9-8865-C40B95CCC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4039EC-4412-4B5D-A851-9AAD61741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AC6A02-6839-4217-BD76-B33B5E48E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ECDECF-0DC0-4ACB-B01E-F7CC48080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6F4117-3818-46AB-B8B6-BDDFD6F8F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27D122-A6CB-4D77-A6C1-24B3BB1C4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A4A2CB-0297-4DD1-8526-B21975B67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84DC9E-0FBE-48DA-AB5E-21A3AB090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605C5D-3C91-4EE3-A6E7-B6F085B5F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673D7D-DB59-4037-BDC3-00880BC52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E1E072-F99F-4A9B-B546-C9BF635ED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958956-4C0C-4A02-8489-80AD8DD07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270FBE-C032-4004-B279-90F25197F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EAA33FF-B0DE-4F68-B2DF-C0908093C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23AEB1-B052-4826-83DE-8922B54E2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CE59257-9F01-423E-87D2-B17EDD1BE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52F2B0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2A88AA0-D3EA-4B30-824E-9FEB75E03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4DC2857-0B0B-4C56-A5BB-9454821C7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SECURITY, PRIVACY &amp; OPERATIONS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DECDCC-A9FD-4C80-B54A-5874048B9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Demo-friendly, but risk-aware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86F8A34-7558-4BD9-B60F-C0645B318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The project separates safety-critical local control from network convenience and AI assistance.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AE0B81C-DD23-4BB8-81BA-A5A04CFE2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7F1233A-8EBA-4626-B8BC-58FBB8C5D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76500"/>
            <a:ext cx="31432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5E7E">
                <a:alpha val="44706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8F79B2F-552A-4437-9CAA-81D99B469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486025"/>
            <a:ext cx="3124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B3453AC-7113-44AD-8400-36F8F5DC4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686050"/>
            <a:ext cx="2686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5E7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5E7E"/>
                </a:solidFill>
                <a:latin typeface="Aptos"/>
                <a:ea typeface="Aptos"/>
                <a:cs typeface="Aptos"/>
              </a:rPr>
              <a:t>Safety boundary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DC3A632-08EF-4D70-8591-E26B103FD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143250"/>
            <a:ext cx="26860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Safety alarm, buzzer, red light and fan response are local on UNO.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F7F09CB-778A-41FB-B6BF-6B15388F5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476500"/>
            <a:ext cx="31432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4706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E60FC4D-6463-4F5E-B2A2-DF077572B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86025"/>
            <a:ext cx="3124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51C8114-BE20-4872-9500-4BFAC0DC2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686050"/>
            <a:ext cx="2686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Privacy boundary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5349288-5ED3-4908-ADCF-E247ABD17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3143250"/>
            <a:ext cx="26860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Microphone is user-triggered and requires browser permission.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AC5BDA0-080B-4297-9348-CB73C15A3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76500"/>
            <a:ext cx="31432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52F2B0">
                <a:alpha val="44706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23E7F07-701C-461C-A4C4-6D2F17A43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486025"/>
            <a:ext cx="3124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DC1D25F-E6FA-464A-9DE7-2C505E315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686050"/>
            <a:ext cx="2686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Operations boundary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B32346B-B19F-4DC1-BCC4-122DD0F77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143250"/>
            <a:ext cx="26860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MQTT status, ACK logs, persistence and self-check reduce demo risk.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ABDB7DC-AA66-462A-BB36-1B97CE4BF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476875"/>
            <a:ext cx="9525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CD6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CD6E"/>
                </a:solidFill>
                <a:latin typeface="Aptos"/>
                <a:ea typeface="Aptos"/>
                <a:cs typeface="Aptos"/>
              </a:rPr>
              <a:t>Production hardening path: authenticated MQTT, TLS, enclosure, fuse, isolation and power filtering.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02B1689-2661-489C-AA55-52C20FD18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C417690-C642-4BBF-AC52-5DDC5687D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</p:spTree>
    <p:extLst>
      <p:ext uri="{BB962C8B-B14F-4D97-AF65-F5344CB8AC3E}">
        <p14:creationId xmlns:p14="http://schemas.microsoft.com/office/powerpoint/2010/main" val="98662376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45A4EB7-C70D-4DCE-A58A-66785908F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37E49C-784A-4CC6-9B0B-F91DF036B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C94FC4-851A-408A-9E24-67461C9C9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03C519-8C5B-453B-897B-6099DE1A3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C07633-0744-47E7-ACB8-32586D5BF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6A59A9-16FC-44DB-9E37-57F76F135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56FC4A-ADFE-4D44-91C2-9090DD6DD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8866BF-E934-4B26-A52A-1738FCCF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8F831D-59FB-4CD2-A5BA-87E0D24A4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FE0C8C-38EF-4A46-BE80-0FC4D9463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44504C-1453-45DA-8577-68D439026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3C0005-E9DE-4E70-AAC1-F2E1F000F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E49841-DB93-4011-BA5E-8E202AB5C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044C7D-E7A1-4223-A22A-34E66FDC6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132869-787F-4DFA-A5F0-5CF6B0EBE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2069CE-D19D-44B5-8B18-60B63D456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E0DEB6-657B-49DB-8B66-97E8EA098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99CCA2-669B-45CB-8A79-C9E282644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B4CD38-AF71-4908-966E-F3785F9C5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23F743-712A-4ADC-BDD1-2D01459A9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52F73B-9F3E-447A-B661-FE59BD347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65DAA4-5B2C-4C51-B9BB-16BA18807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173220-0CD6-4C90-B146-01075200F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AB1648-7031-424C-8B58-F1BE993B6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D76606-ED97-4A65-95B0-39438525D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75B7DD8-02DB-4568-8A32-5DA400AD3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6FEAFF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590A85-6399-463F-9C6B-FCD90B447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E86D513-BC03-403C-B3AA-C43795048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DEMO CHOREOGRAPHY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9370C2A-CF26-4C62-8414-EA9CA2169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Show the strongest engineering first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342FAAB-C370-4DEB-9F33-05C026436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The audience should see safety and edge control before dashboard polish and AI features.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2553F44-3D59-45CF-B4CE-69692FAA1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07667A0-CEDC-4FE5-85F4-1F767B13F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195262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5E7E">
                <a:alpha val="44706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8B876D8-F413-43BA-BF6E-C66472518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486025"/>
            <a:ext cx="193357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D153F32-044B-437A-82D3-D2DFFE241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051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11765"/>
            </a:srgbClr>
          </a:solidFill>
          <a:ln xmlns:a="http://schemas.openxmlformats.org/drawingml/2006/main" w="9525">
            <a:solidFill>
              <a:srgbClr val="FF5E7E">
                <a:alpha val="53333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21F58FB-65C2-485D-AEFA-6B9B10709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5E7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5E7E"/>
                </a:solidFill>
                <a:latin typeface="Aptos"/>
                <a:ea typeface="Aptos"/>
                <a:cs typeface="Aptos"/>
              </a:rPr>
              <a:t>P1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69C0B70-5D6D-4EDE-AE86-A18A42B98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00400"/>
            <a:ext cx="14954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Safety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7D8A553-0321-4C61-8B35-E22F4C946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43300"/>
            <a:ext cx="149542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button -&gt; red light -&gt; buzzer -&gt; fan high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96E325E-9549-4C4C-AAEC-C928B5D7F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476500"/>
            <a:ext cx="195262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4706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626EEA1-427A-4017-BBF6-B32A9C387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486025"/>
            <a:ext cx="193357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3C91622-D5A7-4991-BD2F-882F2E287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7051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11765"/>
            </a:srgbClr>
          </a:solidFill>
          <a:ln xmlns:a="http://schemas.openxmlformats.org/drawingml/2006/main" w="9525">
            <a:solidFill>
              <a:srgbClr val="6FEAFF">
                <a:alpha val="53333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E3E46DC-18EF-4FD2-BDC0-8DB9059D7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28003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P2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8319813-E354-4894-9A93-6725B538E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200400"/>
            <a:ext cx="14954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Edge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ED157C2-A789-4A99-BC89-86BD07C92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543300"/>
            <a:ext cx="149542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UNO local controller and priority modes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08A5A82-3D56-46F7-8647-B495E3465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476500"/>
            <a:ext cx="195262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78F08B">
                <a:alpha val="44706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BB06A7A-7B5A-48F1-9B02-EC89084B0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2486025"/>
            <a:ext cx="193357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F08B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E423543-26AC-4B2A-B226-62B540AAD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7051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F08B">
              <a:alpha val="11765"/>
            </a:srgbClr>
          </a:solidFill>
          <a:ln xmlns:a="http://schemas.openxmlformats.org/drawingml/2006/main" w="9525">
            <a:solidFill>
              <a:srgbClr val="78F08B">
                <a:alpha val="53333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B94CDCD-42D1-4CF8-B518-E1340D272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8003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8F08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8F08B"/>
                </a:solidFill>
                <a:latin typeface="Aptos"/>
                <a:ea typeface="Aptos"/>
                <a:cs typeface="Aptos"/>
              </a:rPr>
              <a:t>P3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1F7492E-7B34-47D2-A3B4-B9D9BD88A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200400"/>
            <a:ext cx="14954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Energy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8A78646-EBEC-4CB0-83D7-BACE8BE92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543300"/>
            <a:ext cx="149542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PIR + light + temp drive lamp and fan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810F89B-7D63-483B-AC61-7134140FA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476500"/>
            <a:ext cx="195262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52F2B0">
                <a:alpha val="44706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3726E91-6CE5-4B33-86F9-40C8DE57D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486025"/>
            <a:ext cx="193357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5FF35B7-34FC-49FB-B8B5-26CF7B70C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27051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11765"/>
            </a:srgbClr>
          </a:solidFill>
          <a:ln xmlns:a="http://schemas.openxmlformats.org/drawingml/2006/main" w="9525">
            <a:solidFill>
              <a:srgbClr val="52F2B0">
                <a:alpha val="53333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C174A2E-4642-4A81-B6F7-385EAAD9F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28003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P4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637837E-7DD2-47A9-AC14-B142542E7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3200400"/>
            <a:ext cx="14954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IoT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98561C4-5128-4D9F-822C-2E9D3ED34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3543300"/>
            <a:ext cx="149542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UART, MQTT topics and ACK command loop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4F57A49-AD38-407D-9CC3-DD5E3B928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476500"/>
            <a:ext cx="195262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B68CFF">
                <a:alpha val="44706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427877F-FA49-444B-AABA-1EE1081AE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2486025"/>
            <a:ext cx="193357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8C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B889BFD-7CA0-4360-8A56-8AE6EE1BC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7051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8CFF">
              <a:alpha val="11765"/>
            </a:srgbClr>
          </a:solidFill>
          <a:ln xmlns:a="http://schemas.openxmlformats.org/drawingml/2006/main" w="9525">
            <a:solidFill>
              <a:srgbClr val="B68CFF">
                <a:alpha val="53333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92BA6D3-5763-4181-AAE9-8F3A1293D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8003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68C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68CFF"/>
                </a:solidFill>
                <a:latin typeface="Aptos"/>
                <a:ea typeface="Aptos"/>
                <a:cs typeface="Aptos"/>
              </a:rPr>
              <a:t>P5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7B53FF7-30CB-4271-9117-2E30EFEF4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200400"/>
            <a:ext cx="14954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AI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4917656-9158-425F-8F4D-1E42A91BC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543300"/>
            <a:ext cx="149542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voice, Qwen, timeline and data preference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F8457B5-78D8-41C5-A294-ABD8D2D6F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505200"/>
            <a:ext cx="57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BC14B0F-7BAC-478D-B0CB-1C036F90E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352800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5E7E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5E7E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2051723-600C-4DA3-90F1-3B6D71731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505200"/>
            <a:ext cx="57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B1886DA-86FE-4014-82AB-587F2EC14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352800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E3F9BED-FBDD-4A6C-912C-4526DE1A9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505200"/>
            <a:ext cx="57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F08B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CE13061-61E0-4FF0-8FC3-1639C55DF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52800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78F08B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78F08B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BC1FD9A-EB8C-4526-A396-59AF33B18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505200"/>
            <a:ext cx="57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6C08B3C-BC50-4740-AA7F-5BA25CB0F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3352800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9F65976-54E0-46DE-90E0-E0DE8FAE2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381625"/>
            <a:ext cx="876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Do not open with AI. Open with physical safety response.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021FC30-B3CF-45D1-98B5-7FCA629C8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8892DC2-464E-47E1-AC7D-CD930D3A5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</p:spTree>
    <p:extLst>
      <p:ext uri="{BB962C8B-B14F-4D97-AF65-F5344CB8AC3E}">
        <p14:creationId xmlns:p14="http://schemas.microsoft.com/office/powerpoint/2010/main" val="12457668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FABB6C8-6154-47DC-9EF8-4240013E0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465291-A119-4CC1-AA2A-3185BC930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B6BBA9-3A3A-4423-A307-94CAB3ED0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D47C9C-765A-4AC4-BF40-F01CC02E1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A3A3D5-6219-4F9E-9A72-597E52B98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0E5C0A-B844-493F-9463-8BD973E7C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9EAD99-884C-4218-9B29-A7945C533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699190-2E00-4D29-B066-BA370C2BC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B71EDC-0A4C-4E96-9818-669D41EFD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5A1ABE-0BE6-4640-9471-1B194C1DE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F60A28-57D3-4222-B37C-FDF2AE54C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67A6DC-8A7A-4784-8FD3-6C9C87CB5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AA13BC-7333-48CB-AC94-7A26DACFD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15729B-F397-4B4C-9382-ADBBF4BFB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F441B8-0862-42DC-81CD-446FF8798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252FBD-F8A8-46C0-8854-87D87E7D2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52FE54-D5F6-4183-9B19-9E810BE35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12D577-E769-4DA5-9982-0CC4713B8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B548CF-C5CF-4DA7-8082-0A974F861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51590D-BBC5-4AA8-995C-E70F34D5A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DDB060-B145-42EC-97B1-C45A5F9FC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4656B7-6BB3-4D6A-9C83-0D5F241D9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76BF4D-FAA8-48F3-A341-567B88A34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FFCF83-F6BA-497B-B0E3-4BA889198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8B774D3-2CF1-4BC8-8C18-B9606491F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818A59C-3A18-4F9E-8970-0CECE67A4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E4E79C9-7C57-4449-B539-E046C1F34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B81EA1E-6FA6-4E01-9EA6-FE7AD3BC5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REFERENCES + SELF-CHECK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6E6CEC-CE39-46C7-9BC5-2A0DD1738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Ready to inspect, rebuild and present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2BD5D0-419F-4EBE-AF4C-EA8EEBCA4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The final package includes sources, assembly materials, scripts and a repeatable delivery check.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618FA3D-4C8A-4771-8231-04A4B9052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524C7F2-006B-4D5E-BEE0-D443BE378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33625"/>
            <a:ext cx="4762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4706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B7D30ED-2FBE-4B6E-87DA-84CA448E4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343150"/>
            <a:ext cx="4743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1F799D8-3B01-43FB-AE92-66D4BB081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43175"/>
            <a:ext cx="4305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References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A2ED492-54DD-4E2F-825D-12C2A1B34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000375"/>
            <a:ext cx="43053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Arduino UNO R3 docs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Espressif Arduino-ESP32 Serial docs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Eclipse Mosquitto config docs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Arduino PubSubClient docs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Texas Instruments LM35 page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7675CB8-0E18-48F0-9506-77B6D2B9F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33625"/>
            <a:ext cx="4762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52F2B0">
                <a:alpha val="44706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4DA5E11-61A9-410D-AE6A-4243C2F61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343150"/>
            <a:ext cx="4743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89EB24A-182C-4D18-8F12-D461FEAD1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543175"/>
            <a:ext cx="4305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Self-check gates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B3195EC-2EC6-443E-A79A-E3A0BFDB4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000375"/>
            <a:ext cx="43053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PPT structure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required docs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firmware presence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secret scan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Node/Python syntax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UNO + ESP32 compile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1B789B3-25CF-476D-8791-68C795E1D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572125"/>
            <a:ext cx="9715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Final claim: a local-first IoT classroom controller with safety, energy saving, operations and evidence-backed intelligence.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0E000D8-A4A3-477C-9C90-35043FE63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985F1F1-B2CA-4D7E-9E45-5027B50C4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Smart Classroom IoT104TC final presentation package</a:t>
            </a:r>
          </a:p>
        </p:txBody>
      </p:sp>
    </p:spTree>
    <p:extLst>
      <p:ext uri="{BB962C8B-B14F-4D97-AF65-F5344CB8AC3E}">
        <p14:creationId xmlns:p14="http://schemas.microsoft.com/office/powerpoint/2010/main" val="1622013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2026-05-24T14:06:18.7170000Z</dcterms:created>
  <dcterms:modified xsi:type="dcterms:W3CDTF">2026-05-24T14:06:18.7170000Z</dcterms:modified>
</coreProperties>
</file>