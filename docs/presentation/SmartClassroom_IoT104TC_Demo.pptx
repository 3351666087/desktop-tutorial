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f62d7083dad499b" /><Relationship Type="http://schemas.openxmlformats.org/officeDocument/2006/relationships/extended-properties" Target="/docProps/app.xml" Id="R54f93011b5284eb6" /><Relationship Type="http://schemas.openxmlformats.org/officeDocument/2006/relationships/officeDocument" Target="/ppt/presentation.xml" Id="R66d4587124d64da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1fd67f955aa46f1"/>
  </p:sldMasterIdLst>
  <p:notesMasterIdLst>
    <p:notesMasterId xmlns:r="http://schemas.openxmlformats.org/officeDocument/2006/relationships" r:id="R596e7dffbe514c7a"/>
  </p:notesMasterIdLst>
  <p:sldIdLst>
    <p:sldId xmlns:r="http://schemas.openxmlformats.org/officeDocument/2006/relationships" id="256" r:id="R7d5c2a8f2cfb497c"/>
    <p:sldId xmlns:r="http://schemas.openxmlformats.org/officeDocument/2006/relationships" id="257" r:id="Rc2dc30e157f3480f"/>
    <p:sldId xmlns:r="http://schemas.openxmlformats.org/officeDocument/2006/relationships" id="258" r:id="R5e713ad0ea464067"/>
    <p:sldId xmlns:r="http://schemas.openxmlformats.org/officeDocument/2006/relationships" id="259" r:id="R0508a0d24f594280"/>
    <p:sldId xmlns:r="http://schemas.openxmlformats.org/officeDocument/2006/relationships" id="260" r:id="R333633f538264b47"/>
    <p:sldId xmlns:r="http://schemas.openxmlformats.org/officeDocument/2006/relationships" id="261" r:id="R49de9fca3e464a94"/>
    <p:sldId xmlns:r="http://schemas.openxmlformats.org/officeDocument/2006/relationships" id="262" r:id="R8987c6173e52425e"/>
    <p:sldId xmlns:r="http://schemas.openxmlformats.org/officeDocument/2006/relationships" id="263" r:id="Rb056d0be445f487d"/>
    <p:sldId xmlns:r="http://schemas.openxmlformats.org/officeDocument/2006/relationships" id="264" r:id="R3c48e4c20ecf47b4"/>
    <p:sldId xmlns:r="http://schemas.openxmlformats.org/officeDocument/2006/relationships" id="265" r:id="Rff360d4a14f0419a"/>
    <p:sldId xmlns:r="http://schemas.openxmlformats.org/officeDocument/2006/relationships" id="266" r:id="Rcdfcdfad34f14e44"/>
    <p:sldId xmlns:r="http://schemas.openxmlformats.org/officeDocument/2006/relationships" id="267" r:id="R26c8a712db224efa"/>
    <p:sldId xmlns:r="http://schemas.openxmlformats.org/officeDocument/2006/relationships" id="268" r:id="R4a6bf62fcd5743cb"/>
    <p:sldId xmlns:r="http://schemas.openxmlformats.org/officeDocument/2006/relationships" id="269" r:id="R352be8bbc21b47c2"/>
    <p:sldId xmlns:r="http://schemas.openxmlformats.org/officeDocument/2006/relationships" id="270" r:id="R15ed975077bf46c5"/>
    <p:sldId xmlns:r="http://schemas.openxmlformats.org/officeDocument/2006/relationships" id="271" r:id="R70b946042c7a417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fd67f955aa46f1" /><Relationship Type="http://schemas.openxmlformats.org/officeDocument/2006/relationships/theme" Target="/ppt/theme/theme1.xml" Id="Rf6ae3d8e6b6d4c7b" /><Relationship Type="http://schemas.openxmlformats.org/officeDocument/2006/relationships/notesMaster" Target="/ppt/notesMasters/notesMaster1.xml" Id="R596e7dffbe514c7a" /><Relationship Type="http://schemas.openxmlformats.org/officeDocument/2006/relationships/presProps" Target="/ppt/presProps.xml" Id="R8c38626a956b4355" /><Relationship Type="http://schemas.openxmlformats.org/officeDocument/2006/relationships/viewProps" Target="/ppt/viewProps.xml" Id="R784b946391274139" /><Relationship Type="http://schemas.openxmlformats.org/officeDocument/2006/relationships/tableStyles" Target="/ppt/tableStyles.xml" Id="Rb93f3e6552444b1f" /><Relationship Type="http://schemas.openxmlformats.org/officeDocument/2006/relationships/slide" Target="/ppt/slides/slide1.xml" Id="R7d5c2a8f2cfb497c" /><Relationship Type="http://schemas.openxmlformats.org/officeDocument/2006/relationships/slide" Target="/ppt/slides/slide2.xml" Id="Rc2dc30e157f3480f" /><Relationship Type="http://schemas.openxmlformats.org/officeDocument/2006/relationships/slide" Target="/ppt/slides/slide3.xml" Id="R5e713ad0ea464067" /><Relationship Type="http://schemas.openxmlformats.org/officeDocument/2006/relationships/slide" Target="/ppt/slides/slide4.xml" Id="R0508a0d24f594280" /><Relationship Type="http://schemas.openxmlformats.org/officeDocument/2006/relationships/slide" Target="/ppt/slides/slide5.xml" Id="R333633f538264b47" /><Relationship Type="http://schemas.openxmlformats.org/officeDocument/2006/relationships/slide" Target="/ppt/slides/slide6.xml" Id="R49de9fca3e464a94" /><Relationship Type="http://schemas.openxmlformats.org/officeDocument/2006/relationships/slide" Target="/ppt/slides/slide7.xml" Id="R8987c6173e52425e" /><Relationship Type="http://schemas.openxmlformats.org/officeDocument/2006/relationships/slide" Target="/ppt/slides/slide8.xml" Id="Rb056d0be445f487d" /><Relationship Type="http://schemas.openxmlformats.org/officeDocument/2006/relationships/slide" Target="/ppt/slides/slide9.xml" Id="R3c48e4c20ecf47b4" /><Relationship Type="http://schemas.openxmlformats.org/officeDocument/2006/relationships/slide" Target="/ppt/slides/slide10.xml" Id="Rff360d4a14f0419a" /><Relationship Type="http://schemas.openxmlformats.org/officeDocument/2006/relationships/slide" Target="/ppt/slides/slide11.xml" Id="Rcdfcdfad34f14e44" /><Relationship Type="http://schemas.openxmlformats.org/officeDocument/2006/relationships/slide" Target="/ppt/slides/slide12.xml" Id="R26c8a712db224efa" /><Relationship Type="http://schemas.openxmlformats.org/officeDocument/2006/relationships/slide" Target="/ppt/slides/slide13.xml" Id="R4a6bf62fcd5743cb" /><Relationship Type="http://schemas.openxmlformats.org/officeDocument/2006/relationships/slide" Target="/ppt/slides/slide14.xml" Id="R352be8bbc21b47c2" /><Relationship Type="http://schemas.openxmlformats.org/officeDocument/2006/relationships/slide" Target="/ppt/slides/slide15.xml" Id="R15ed975077bf46c5" /><Relationship Type="http://schemas.openxmlformats.org/officeDocument/2006/relationships/slide" Target="/ppt/slides/slide16.xml" Id="R70b946042c7a417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41fd12b07ebd4f8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498da6df0aa4528" /><Relationship Type="http://schemas.openxmlformats.org/officeDocument/2006/relationships/notesMaster" Target="/ppt/notesMasters/notesMaster1.xml" Id="R3fbdecbec2ab42e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923870bcc534b13" /><Relationship Type="http://schemas.openxmlformats.org/officeDocument/2006/relationships/notesMaster" Target="/ppt/notesMasters/notesMaster1.xml" Id="R91a53b63b270465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64c772a17984cd1" /><Relationship Type="http://schemas.openxmlformats.org/officeDocument/2006/relationships/notesMaster" Target="/ppt/notesMasters/notesMaster1.xml" Id="R9457a2bf2c5b4f7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40cadd6408c4fbb" /><Relationship Type="http://schemas.openxmlformats.org/officeDocument/2006/relationships/notesMaster" Target="/ppt/notesMasters/notesMaster1.xml" Id="Rbca587c6cebc4da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e59c92132f54269" /><Relationship Type="http://schemas.openxmlformats.org/officeDocument/2006/relationships/notesMaster" Target="/ppt/notesMasters/notesMaster1.xml" Id="R5ae48b0baf4348a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10ddc5aed6c4980" /><Relationship Type="http://schemas.openxmlformats.org/officeDocument/2006/relationships/notesMaster" Target="/ppt/notesMasters/notesMaster1.xml" Id="R4286dc1e8dc04d1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cb133c5f23a4cae" /><Relationship Type="http://schemas.openxmlformats.org/officeDocument/2006/relationships/notesMaster" Target="/ppt/notesMasters/notesMaster1.xml" Id="Refd278bf22f4496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8ff3896825b491d" /><Relationship Type="http://schemas.openxmlformats.org/officeDocument/2006/relationships/notesMaster" Target="/ppt/notesMasters/notesMaster1.xml" Id="Rbfe79f738d744ce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3421c01bfc94fc1" /><Relationship Type="http://schemas.openxmlformats.org/officeDocument/2006/relationships/notesMaster" Target="/ppt/notesMasters/notesMaster1.xml" Id="R06d11133e07a4fe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8343ee5e63a49fa" /><Relationship Type="http://schemas.openxmlformats.org/officeDocument/2006/relationships/notesMaster" Target="/ppt/notesMasters/notesMaster1.xml" Id="Rc528dc5815e941f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e520a37bb574732" /><Relationship Type="http://schemas.openxmlformats.org/officeDocument/2006/relationships/notesMaster" Target="/ppt/notesMasters/notesMaster1.xml" Id="Rf834f394a1ae4d1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91c812090304668" /><Relationship Type="http://schemas.openxmlformats.org/officeDocument/2006/relationships/notesMaster" Target="/ppt/notesMasters/notesMaster1.xml" Id="R4e5f36e9a2f741f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3c2518dbb8d46c6" /><Relationship Type="http://schemas.openxmlformats.org/officeDocument/2006/relationships/notesMaster" Target="/ppt/notesMasters/notesMaster1.xml" Id="Ra9a46656c9f2421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0d134e8fc1f430e" /><Relationship Type="http://schemas.openxmlformats.org/officeDocument/2006/relationships/notesMaster" Target="/ppt/notesMasters/notesMaster1.xml" Id="Rb3db4aa5f6c3466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7467ab8768b4cdd" /><Relationship Type="http://schemas.openxmlformats.org/officeDocument/2006/relationships/notesMaster" Target="/ppt/notesMasters/notesMaster1.xml" Id="Rc41910f73f8743f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abb9cf1bfde4e29" /><Relationship Type="http://schemas.openxmlformats.org/officeDocument/2006/relationships/notesMaster" Target="/ppt/notesMasters/notesMaster1.xml" Id="R12d77afcc1d34d4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f71ddf52e04077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286b545427ec40e0" /><Relationship Type="http://schemas.openxmlformats.org/officeDocument/2006/relationships/slideLayout" Target="/ppt/slideLayouts/slideLayout2.xml" Id="R15c45d557553442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5c45d557553442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c906267d6ad4c56" /><Relationship Type="http://schemas.openxmlformats.org/officeDocument/2006/relationships/notesSlide" Target="/ppt/notesSlides/notesSlide1.xml" Id="R801229f9b78f411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4c2a69f85be4686" /><Relationship Type="http://schemas.openxmlformats.org/officeDocument/2006/relationships/image" Target="/ppt/media/image.png" Id="R5a550876642b4c33" /><Relationship Type="http://schemas.openxmlformats.org/officeDocument/2006/relationships/notesSlide" Target="/ppt/notesSlides/notesSlide2.xml" Id="Rd611bf7c257946c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2eb0eb6e4384387" /><Relationship Type="http://schemas.openxmlformats.org/officeDocument/2006/relationships/notesSlide" Target="/ppt/notesSlides/notesSlide3.xml" Id="R5c7e6d0f098a4aa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d92d5c9a7114584" /><Relationship Type="http://schemas.openxmlformats.org/officeDocument/2006/relationships/notesSlide" Target="/ppt/notesSlides/notesSlide4.xml" Id="Rf261e1053a47456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087b1239a274557" /><Relationship Type="http://schemas.openxmlformats.org/officeDocument/2006/relationships/notesSlide" Target="/ppt/notesSlides/notesSlide5.xml" Id="Rb08c6ae0c5e94f3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5d882747af14787" /><Relationship Type="http://schemas.openxmlformats.org/officeDocument/2006/relationships/notesSlide" Target="/ppt/notesSlides/notesSlide6.xml" Id="Rf1241f284ff6429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1dfe368e1564e89" /><Relationship Type="http://schemas.openxmlformats.org/officeDocument/2006/relationships/notesSlide" Target="/ppt/notesSlides/notesSlide7.xml" Id="Re9ad2c7a3d71443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f907976460647f9" /><Relationship Type="http://schemas.openxmlformats.org/officeDocument/2006/relationships/notesSlide" Target="/ppt/notesSlides/notesSlide8.xml" Id="Rde75257458e54ce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b408858b5534219" /><Relationship Type="http://schemas.openxmlformats.org/officeDocument/2006/relationships/notesSlide" Target="/ppt/notesSlides/notesSlide9.xml" Id="R54beb3d82ece460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388074da4da4e54" /><Relationship Type="http://schemas.openxmlformats.org/officeDocument/2006/relationships/image" Target="/ppt/media/image2.png" Id="R54fa3d1e3e824b23" /><Relationship Type="http://schemas.openxmlformats.org/officeDocument/2006/relationships/image" Target="/ppt/media/image3.png" Id="Rf386e9e4494646c4" /><Relationship Type="http://schemas.openxmlformats.org/officeDocument/2006/relationships/image" Target="/ppt/media/image4.png" Id="R7fde1159ceb04ee9" /><Relationship Type="http://schemas.openxmlformats.org/officeDocument/2006/relationships/notesSlide" Target="/ppt/notesSlides/notesSlide10.xml" Id="Rb1b9b8f88157443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331601aceeb411e" /><Relationship Type="http://schemas.openxmlformats.org/officeDocument/2006/relationships/image" Target="/ppt/media/image5.png" Id="R04c29c820ab64f5c" /><Relationship Type="http://schemas.openxmlformats.org/officeDocument/2006/relationships/image" Target="/ppt/media/image6.png" Id="R474b32f08661432c" /><Relationship Type="http://schemas.openxmlformats.org/officeDocument/2006/relationships/notesSlide" Target="/ppt/notesSlides/notesSlide11.xml" Id="Re83db31567bd478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e39928c67af4f8b" /><Relationship Type="http://schemas.openxmlformats.org/officeDocument/2006/relationships/image" Target="/ppt/media/image7.png" Id="R79982c923b1a4c5e" /><Relationship Type="http://schemas.openxmlformats.org/officeDocument/2006/relationships/notesSlide" Target="/ppt/notesSlides/notesSlide12.xml" Id="Raec661a923d44a7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1fb1d077b7440fc" /><Relationship Type="http://schemas.openxmlformats.org/officeDocument/2006/relationships/image" Target="/ppt/media/image8.png" Id="Rad22713c162f4960" /><Relationship Type="http://schemas.openxmlformats.org/officeDocument/2006/relationships/notesSlide" Target="/ppt/notesSlides/notesSlide13.xml" Id="R883d532112f8437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75fc97aa11f46eb" /><Relationship Type="http://schemas.openxmlformats.org/officeDocument/2006/relationships/notesSlide" Target="/ppt/notesSlides/notesSlide14.xml" Id="R579f526abc314c9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1401333289b462c" /><Relationship Type="http://schemas.openxmlformats.org/officeDocument/2006/relationships/notesSlide" Target="/ppt/notesSlides/notesSlide15.xml" Id="Ra31a79ad89db4df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cc105946be249d3" /><Relationship Type="http://schemas.openxmlformats.org/officeDocument/2006/relationships/notesSlide" Target="/ppt/notesSlides/notesSlide16.xml" Id="R7782b1520296456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885B686-1E05-471F-AB81-E5A60E825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EDDFDF-A46F-49FB-9E92-71377EED6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899DA3-1AAD-4EBF-869E-61C0BC165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D516DC-8BFC-41DA-BB57-45500A089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CF41F2-AB87-4CE7-8FBA-5D31314D7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5C36F8-D2B4-4FC9-AC01-54DD63B54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6F0490-9468-41E2-B221-CDCE4FFAA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775CEC-E385-4919-BCA5-32B95EAA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47309C-7CAD-480B-A5B8-D9BB8A453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0EA7B6-F453-4252-A5C8-0568D6060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7E6443-B7A4-4A2F-8F72-96F81A32F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15FCA0-3D7D-479E-B071-35EC99578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F8079C-9250-4426-9323-319FD1A91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0E7C5C-0148-4D77-869C-DAE760EE8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359DB5-2301-4BF1-AA80-F87C1826F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2612B9-A3E2-4B18-95DB-11CEBFDE5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EC6339-CE39-414C-848F-A57C765B0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8E246D-D66D-4ABB-90F9-F8278FCF7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73C2F7-323C-4024-BE91-3C489B64D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090ADC-6C1C-457C-A311-EDBC24A08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80A448-0598-4D43-AA91-2889F145E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958984-FABC-45A5-BE3E-2F8BC7DB8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842EBF-3693-4716-B5C3-7D21135C5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206D34E-CB49-4444-8B56-9DA955A7F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B9DAB6E-29E8-4A32-A198-3F5860988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A0E6D6-289A-4CFF-9887-D1653CB1A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6FEAFF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C9D6844-EB73-4CF4-8475-0EBC58B1B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51A1098-F47F-47A6-A239-99499019E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4350"/>
            <a:ext cx="2286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11765"/>
            </a:srgbClr>
          </a:solidFill>
          <a:ln xmlns:a="http://schemas.openxmlformats.org/drawingml/2006/main" w="9525">
            <a:solidFill>
              <a:srgbClr val="6FEAFF">
                <a:alpha val="53333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733517D-AC40-4640-A3E2-3F192548D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9600"/>
            <a:ext cx="1981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IOT104TC PROJECT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21B96F1-44EF-4BCA-9130-90A63E427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43000"/>
            <a:ext cx="6667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Smart Classroom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66E2F9A-A3D6-4250-9321-ADAF1F604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85950"/>
            <a:ext cx="6858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Energy-Saving, Safety</a:t>
            </a:r>
          </a:p>
          <a:p xmlns:a="http://schemas.openxmlformats.org/drawingml/2006/main">
            <a:pPr algn="l">
              <a:defRPr sz="34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&amp; Asset Monitoring System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A83E3C4-4B92-4323-8E5A-9BCCFF50C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33750"/>
            <a:ext cx="6858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Local-first classroom control with real sensors, actuators, MQTT operations, dashboard analytics and AI-assisted commands.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6C79844-0F77-413F-80DE-C0E665FA4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895350"/>
            <a:ext cx="3048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980"/>
            </a:srgbClr>
          </a:solidFill>
          <a:ln xmlns:a="http://schemas.openxmlformats.org/drawingml/2006/main" w="19050">
            <a:solidFill>
              <a:srgbClr val="6FEAFF">
                <a:alpha val="4000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8A688BD-E3B6-4735-8A3E-CA480A339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29540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UNO Edge Node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219E498-D6EC-4E42-A268-0B3591DAB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95450"/>
            <a:ext cx="247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Sensors, state machine and actuators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BE125C5-E1C1-4CBD-98A7-8B310B949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476500"/>
            <a:ext cx="1905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722"/>
          </a:solidFill>
          <a:ln xmlns:a="http://schemas.openxmlformats.org/drawingml/2006/main" w="19050">
            <a:solidFill>
              <a:srgbClr val="6FEAFF">
                <a:alpha val="53333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A3768B0-5D42-4EF0-BFEC-567020139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66700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UART + ACK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9814D95-F811-4958-9307-41448D732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63855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52F2B0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52F2B0"/>
                </a:solidFill>
                <a:latin typeface="Aptos"/>
                <a:ea typeface="Aptos"/>
                <a:cs typeface="Aptos"/>
              </a:rPr>
              <a:t>ESP32 Gateway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DFCA686-A238-4F7B-8BAD-9AC08450B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3860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Wi-Fi, MQTT and dashboard bridge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5CA32C6-B74A-43F6-9E5D-70B15B5FD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43500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6FEAFF">
                <a:alpha val="44706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40C7ED0-FBC4-43B7-985B-39C396637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15302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01DFD13-BD81-4C0E-BB72-62CCC1C65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1495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6FEAFF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6FEAFF"/>
                </a:solidFill>
                <a:latin typeface="Aptos Display"/>
                <a:ea typeface="Aptos Display"/>
                <a:cs typeface="Aptos Display"/>
              </a:rPr>
              <a:t>9+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EB910E4-740D-4876-9362-FB5E23C19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86740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hardware signals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65F5311-21F6-4598-8078-0B91F3D3D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143500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5E7E">
                <a:alpha val="44706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CF68E6B-17C6-4064-8B24-ECE0400DA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515302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67B473E-821A-469E-9794-EE83F8A77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31495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5E7E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FF5E7E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7AFFF84-CCCA-42D7-AA41-183CE45D0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86740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priority modes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FFAD847-40B3-4F4C-8D3B-1033A0955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5143500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52F2B0">
                <a:alpha val="44706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F288167-75C5-4BA2-8D96-D3406E75F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1175" y="515302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91C845B-D721-44F5-B582-EE5AAA31F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531495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52F2B0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52F2B0"/>
                </a:solidFill>
                <a:latin typeface="Aptos Display"/>
                <a:ea typeface="Aptos Display"/>
                <a:cs typeface="Aptos Display"/>
              </a:rPr>
              <a:t>1s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C13F4B5-1D1F-4339-8A35-08F359CA7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586740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telemetry cadence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F2E6311-FB8C-47C1-A328-4B2B1873C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143500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CD6E">
                <a:alpha val="44706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A638254-FFC8-46DB-AE1B-AD1B95FDC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515302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BAB946A-5CC7-4FA7-9189-2A9BDB4DF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31495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CD6E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FFCD6E"/>
                </a:solidFill>
                <a:latin typeface="Aptos Display"/>
                <a:ea typeface="Aptos Display"/>
                <a:cs typeface="Aptos Display"/>
              </a:rPr>
              <a:t>432m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E5E8F18-4011-4555-ADAB-F6337437F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86740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recorded evidence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733B79C-CB7A-4CB9-8BB8-21D34532D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CF8B958-9EEA-4998-83FE-61705629E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Local safety works even when the network is offline.</a:t>
            </a:r>
          </a:p>
        </p:txBody>
      </p:sp>
    </p:spTree>
    <p:extLst>
      <p:ext uri="{BB962C8B-B14F-4D97-AF65-F5344CB8AC3E}">
        <p14:creationId xmlns:p14="http://schemas.microsoft.com/office/powerpoint/2010/main" val="202813625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B2BE207-EE3A-4EF0-A069-28F6B34F7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A677EE-7A41-4919-BA9C-48F590331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CE2424-E25B-45DE-A1A3-DD127AF36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B7821C-A36D-4FCD-87EB-4B1C9BEA1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E4DE52-8FD4-4B6B-B4B1-307149A3D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E081B5-3AB3-4E7E-A716-0452C46E5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C21E8A-539E-4BF9-B365-87A9E770B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8A0F7A-FF9A-40D2-9784-CF5E84F98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BF843A-F4FE-41C4-8C0B-7248B2B57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266DCF-33C6-4E20-B4F6-D17B90757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547F42-390F-4B05-8C83-13AC3B6EE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197D96-2BFA-4345-A156-D50D65771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2F6AFE-9232-4847-8A69-8DCFC3074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4F8900-F402-4B1A-9888-225DC9C42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799C40-AD45-4B8D-9B20-4C1D043D9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D87C4E-76B3-4676-A4D0-14745894E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251552-31F1-4524-A46A-EC561828C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53E503-BDCD-484C-B0F0-90A7ACB9A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657534-4F71-4633-858E-A70593027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C074EA-F0F3-4E0D-B2BF-9380E1554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80A4BE-F1EF-4AA9-A47C-53A8BB4C1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1F51099-2C3D-470B-A25D-B38F95802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53C1E5-740F-4B48-9A50-CCD3C8C6E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A5A186-8BC6-41D8-A689-4F3DFEFA8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30211B-9B77-44BD-9491-5F4FCA3E8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89B72C3-5F7D-42C9-BE55-573AD634C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5BAAACE-C82A-4B6B-B58C-25921F652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56C9E27-0739-4563-9952-5B19E7A15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19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ASSESSMENT FIT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E8F4D71-65E0-4680-B27E-F6BDF09C4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Built around the marking scheme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2691906-B00D-4D55-ADF2-058D04C40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857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The demo connects hardware, software, architecture, security/privacy, operations and a practical classroom use-case.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A07680C-39AB-42F8-98A1-F9D9EC914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00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648F59E-7CBC-40AE-80BC-AA4EFF61B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43150"/>
            <a:ext cx="5295900" cy="300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275"/>
            </a:srgbClr>
          </a:solidFill>
          <a:ln xmlns:a="http://schemas.openxmlformats.org/drawingml/2006/main" w="9525">
            <a:solidFill>
              <a:srgbClr val="FFFFFF">
                <a:alpha val="18431"/>
              </a:srgbClr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550876642b4c33"/>
          <a:stretch xmlns:a="http://schemas.openxmlformats.org/drawingml/2006/main"/>
        </p:blipFill>
        <p:spPr>
          <a:xfrm xmlns:a="http://schemas.openxmlformats.org/drawingml/2006/main">
            <a:off x="723900" y="2420561"/>
            <a:ext cx="5143500" cy="2855078"/>
          </a:xfrm>
          <a:prstGeom xmlns:a="http://schemas.openxmlformats.org/drawingml/2006/main" prst="rect">
            <a:avLst/>
          </a:prstGeom>
        </p:spPr>
      </p:pic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4AE2462-5B93-4E21-8962-F50920A21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09800"/>
            <a:ext cx="2381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6FEAFF">
                <a:alpha val="44706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DA14D63-0145-40B8-AB42-E40B80E82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219325"/>
            <a:ext cx="2362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FD3448F-107A-4760-B0CC-EC3ABBAE7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41935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Application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9B6AE42-C4B6-44F0-99FB-131A3238B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76550"/>
            <a:ext cx="19240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Energy, comfort and safety in one classroom service.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43D5F30-1217-4867-BD19-BAC25ACD9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209800"/>
            <a:ext cx="2381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52F2B0">
                <a:alpha val="44706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219A045-67A7-4CF2-81CB-86F4DB04D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19325"/>
            <a:ext cx="2362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69CA247-220E-476D-9A96-EED1EBB2D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241935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2F2B0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52F2B0"/>
                </a:solidFill>
                <a:latin typeface="Aptos"/>
                <a:ea typeface="Aptos"/>
                <a:cs typeface="Aptos"/>
              </a:rPr>
              <a:t>Architecture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41401C6-2159-4FF8-A2B7-BF3E10800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2876550"/>
            <a:ext cx="19240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UNO local control. ESP32 MQTT gateway.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B23BEEF-E189-4C3E-8F22-4F16844A5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00500"/>
            <a:ext cx="2381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CD6E">
                <a:alpha val="44706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05606E6-C14E-466C-B392-F5D549E8C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010025"/>
            <a:ext cx="2362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1E9544B-271D-485A-9A21-B9BDDC856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21005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CD6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CD6E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C1FA9CC-EF0B-4045-B7B5-E40C73B50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667250"/>
            <a:ext cx="19240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Telemetry, screenshots and self-check.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248A1AF-5C5C-4228-B792-C76356E10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4000500"/>
            <a:ext cx="2381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5E7E">
                <a:alpha val="44706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7774BE2-5A3D-4D9F-99FB-0C9A9834B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010025"/>
            <a:ext cx="2362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9DEC402-1D5D-4C98-BD38-189BFE81E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421005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5E7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5E7E"/>
                </a:solidFill>
                <a:latin typeface="Aptos"/>
                <a:ea typeface="Aptos"/>
                <a:cs typeface="Aptos"/>
              </a:rPr>
              <a:t>Security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B9716E6-B4FC-4824-A908-EA99BEB54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4667250"/>
            <a:ext cx="19240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Fail-safe local control and ignored secrets.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F81C554-82B2-4D2B-BF6C-4226F978E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81D9187-017A-4AA7-B6DD-FE3DBE049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</p:spTree>
    <p:extLst>
      <p:ext uri="{BB962C8B-B14F-4D97-AF65-F5344CB8AC3E}">
        <p14:creationId xmlns:p14="http://schemas.microsoft.com/office/powerpoint/2010/main" val="143701807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ECD9B30-237E-4DF0-9F4C-ACD3396CE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8F7064-25A6-4775-84D8-198C38DCE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A96307-C73E-4E67-A069-113EA42D4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E85D7D-5757-414E-A3B7-70077C070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AC9F58-BB56-42D7-9A92-2FA278186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28ABA9-D0AC-4A02-A6CD-74B988DF1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8D6203-1701-4CF9-99B8-579A2E4E8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BB4E1C-6562-421A-B9A1-01D8F9A57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4DFF10-50E1-4A66-8DD8-42D09E630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301995-74F2-45EF-9D74-AC98DA90E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D3FDDB-A5C0-4BCE-B91E-E0421189A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B0C377-C7E7-40E3-945F-9D4427360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2909C2-3B1C-41F5-AAAD-3B3D03293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74BE10-18F4-4722-A499-9E69BE702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F8F04E-D4E4-4EEF-AF30-F7D76C435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D2ACB9-B27D-4D16-8398-06F423756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BA8732-AD7B-4EAB-8D74-267271FFD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FB1BA9-8D43-4266-8050-B212A9620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4276E8-9AB3-4216-8FCE-EB120314B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74761C-4B40-4E3A-BE8C-2B4FAD9B0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C7B0D3-7171-4234-B718-EC4CED777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0BD513-4C0E-49F3-BB21-D9D261227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203124-446F-41B7-9264-E81823D28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88CE50-4589-4FDA-BAB8-97115C339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79AA16-1377-4725-9AA7-516C79E57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9C4BE8-E90A-4439-8900-E3BB3EC6F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52F2B0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2EDB2A4-99BF-4AEC-BED7-F67A25FEC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E845D8A-6298-4316-9885-B55A866DE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19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USE-CASE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73F64F7-A4A9-478F-A969-66C3F8051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A classroom that reacts locally and reports globally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5C0ED7-8058-4A0D-8A9A-E50EC3449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857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The system behaves like a small building-management service, not a sensor list.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A24489-3465-4721-965B-7DF460AAE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00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A6F919A-80EE-4A36-B05C-4248A0BAA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43150"/>
            <a:ext cx="2190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6FEAFF">
                <a:alpha val="44706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77A6169-490F-4736-B545-C5615051E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35267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D346A52-63F3-486B-B406-B459EECDB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11765"/>
            </a:srgbClr>
          </a:solidFill>
          <a:ln xmlns:a="http://schemas.openxmlformats.org/drawingml/2006/main" w="9525">
            <a:solidFill>
              <a:srgbClr val="6FEAFF">
                <a:alpha val="53333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8B05C88-7276-4630-ACF9-2A794E238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6700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7948ECF-0BFC-4A0A-A78E-1D59E6F28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67050"/>
            <a:ext cx="1733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Sense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E37A1FF-5F3C-4AFB-9D70-8746209DF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09950"/>
            <a:ext cx="17335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Occupancy, light, temperature, gas, flame and emergency button.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12E434B-430B-4F02-931F-9B1101FAE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343150"/>
            <a:ext cx="2190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CD6E">
                <a:alpha val="44706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7D329DD-BEE5-4509-B505-E88138E8E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35267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988AE07-8D8B-441B-A0CB-BC3354F24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57175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11765"/>
            </a:srgbClr>
          </a:solidFill>
          <a:ln xmlns:a="http://schemas.openxmlformats.org/drawingml/2006/main" w="9525">
            <a:solidFill>
              <a:srgbClr val="FFCD6E">
                <a:alpha val="53333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B0F02D2-611C-44D8-9100-72336B9B0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66700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CD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CD6E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8C459BE-7334-4EF0-B324-032EA4F59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067050"/>
            <a:ext cx="1733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Decide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A1FB33B-C02A-4BC3-A376-9F1307EFA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409950"/>
            <a:ext cx="17335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Priority state machine: safety first, then comfort and energy saving.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AF87BDE-6776-480D-98FE-E4F5CD65D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343150"/>
            <a:ext cx="2190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5E7E">
                <a:alpha val="44706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5C1359E-20A4-4C4E-9731-93CBE4CE0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235267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AACBB3C-CB18-41F9-9188-406C0226D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57175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11765"/>
            </a:srgbClr>
          </a:solidFill>
          <a:ln xmlns:a="http://schemas.openxmlformats.org/drawingml/2006/main" w="9525">
            <a:solidFill>
              <a:srgbClr val="FF5E7E">
                <a:alpha val="53333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3D6612F-1CEE-4177-89B1-A4B98DDE4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6700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5E7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5E7E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05D5D42-1DB4-4E1F-88ED-855CA2A17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067050"/>
            <a:ext cx="1733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Act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D142A54-BCCE-449B-A742-68A10B0A1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409950"/>
            <a:ext cx="17335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Lamp, fan, PWM, tach, buzzer and status light.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ECBB9F5-B500-483D-8BC9-083F29A72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343150"/>
            <a:ext cx="2190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52F2B0">
                <a:alpha val="44706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B6AA227-56E4-4B2D-96FF-F86B4BE22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35267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E00A0CE-61F6-473E-AF73-F1D893C03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57175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11765"/>
            </a:srgbClr>
          </a:solidFill>
          <a:ln xmlns:a="http://schemas.openxmlformats.org/drawingml/2006/main" w="9525">
            <a:solidFill>
              <a:srgbClr val="52F2B0">
                <a:alpha val="53333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6EEE402-662D-446F-BF9C-2F30980E2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66700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2F2B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2F2B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C46D389-FC16-4796-BFA3-F5FFF620C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67050"/>
            <a:ext cx="1733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Operate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A29A474-48E9-427D-A062-E24B7958E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409950"/>
            <a:ext cx="17335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MQTT dashboard, manual override, presets, charts and AI timeline.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87525FA-87E5-48FC-A4D0-9068536DB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409950"/>
            <a:ext cx="361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D6477F1-5300-4324-86DD-6A1C28A28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257550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594C204-286D-4D10-B527-B9C65C220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09950"/>
            <a:ext cx="361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3CA2D6C-ED7E-43CE-8AC8-822A46C52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257550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CD6E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CD6E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CEC2CEB-E1C2-4518-B314-389C441B5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409950"/>
            <a:ext cx="361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6F2AFBE-8FD9-4EC2-92C8-461B2B92C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257550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5E7E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5E7E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5928A2A-E278-4B95-9FBA-811653D23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43500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5E7E">
                <a:alpha val="44706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9EB49A5-5E0B-40F3-9AE5-B0AF994F5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515302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133D2A0-B2CF-4C2E-9AB2-57E8DE99B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31495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5E7E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FF5E7E"/>
                </a:solidFill>
                <a:latin typeface="Aptos Display"/>
                <a:ea typeface="Aptos Display"/>
                <a:cs typeface="Aptos Display"/>
              </a:rPr>
              <a:t>Safety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66A1263-41B0-4AC0-84A8-F799899F5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86740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highest priority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FFD9BCD-90BF-49E3-BCC7-8C5BA769A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143500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6FEAFF">
                <a:alpha val="44706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56F0329-8980-4D13-99D9-FEADF20D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515302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E8863D1-B60C-4F3F-AEED-B36B28B58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31495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6FEAFF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6FEAFF"/>
                </a:solidFill>
                <a:latin typeface="Aptos Display"/>
                <a:ea typeface="Aptos Display"/>
                <a:cs typeface="Aptos Display"/>
              </a:rPr>
              <a:t>Comfort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E6EC8FB-B5B5-4E01-B932-C9D0F3745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86740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adaptive fan/lamp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FF4DD560-80A3-49A0-9DCC-4F5FA3C5E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43500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52F2B0">
                <a:alpha val="44706"/>
              </a:srgbClr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758B0CBE-A162-4ED4-A7EB-F147803AB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515302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61F6DC5-1592-4727-979D-1FBE4330F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31495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52F2B0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52F2B0"/>
                </a:solidFill>
                <a:latin typeface="Aptos Display"/>
                <a:ea typeface="Aptos Display"/>
                <a:cs typeface="Aptos Display"/>
              </a:rPr>
              <a:t>Ops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B0767A3F-645E-4B92-A7CB-6D77FCA9B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86740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ACK + persistence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40ABCC0E-B77E-4588-A35D-659532306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143500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CD6E">
                <a:alpha val="44706"/>
              </a:srgbClr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B865832-D4E1-4318-873B-8BB0F943E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515302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9955F15B-E3DF-4148-AFBB-A3C0F65BD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31495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CD6E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FFCD6E"/>
                </a:solidFill>
                <a:latin typeface="Aptos Display"/>
                <a:ea typeface="Aptos Display"/>
                <a:cs typeface="Aptos Display"/>
              </a:rPr>
              <a:t>Data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D63C5B2-D157-4ED3-94D4-66D52961A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86740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charts + history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665BEB01-8614-4240-83F3-F9496B06D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D8F5B9B8-293C-488A-A06F-D9A576092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</p:spTree>
    <p:extLst>
      <p:ext uri="{BB962C8B-B14F-4D97-AF65-F5344CB8AC3E}">
        <p14:creationId xmlns:p14="http://schemas.microsoft.com/office/powerpoint/2010/main" val="183071014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C6370F1-9DC0-45E8-A6A8-C7C403AE6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390BB9-7F4F-4986-A09E-7E632B4CB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FC32AD-60FB-481D-8103-B2504983A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5D552F-2312-4604-904E-70C9A0CBB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CF7255-E80C-4ABE-BF6B-57CCBC626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1DADDC-F0BC-4CEE-B6FD-8883B83DC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460867-B3F7-4F78-82B8-127802353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2BBE74-AD1C-4E89-BCB9-B1C21C07A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117E33-0343-41A7-98AF-79D1523B6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1CA4D6-CC2F-47F7-9CF2-4937222A5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ED6BFB-C4FA-444D-BCF7-16F308C1A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8456AF-757F-4833-BF44-E79488D7C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863592-7F55-4C22-B920-980533469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19A10D-44B1-4F31-A3A7-7AF151B1D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E9C1F6-F0FD-4BA6-84D8-ACED607B4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C64676-3735-477F-A7BF-CC0860A98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0AA689-A08F-48BE-9E1A-B3B430D48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1EF9EB-3870-49FB-B64D-3E9711B04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4C73D8-FAFE-4B37-B846-BBF0A8ED1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9FA666-4388-4887-9BD8-3753FDC65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75DE07-8C80-400B-A067-D2956E771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B93E57-57D0-4C63-AA0A-B0994626E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5F7C5F-B1B9-4B4B-AAB4-F151D0168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C2E0C1-32C9-4503-97B5-62204B664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58075F-F738-450B-89F1-18AADA385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EFF7115-B546-4262-9107-9757BAD7D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5F9CFF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643EC66-BDA5-48EB-BDBF-346AA65AE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9243CBB-9B71-4DEA-9282-B0F4FC8FA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19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SYSTEM ARCHITECTURE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2F58C8-EE57-45FE-9C3C-B9A750D59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Real-time control stays on UNO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CA9AEE8-2F53-44AD-AB5E-D78796EB3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857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Networking adds visibility and commands, but does not become a dependency for safety.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81AEFBC-D549-417A-9B5C-797400A1F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00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D03D277-7B25-4AE7-8808-0EA9ED420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2286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6FEAFF">
                <a:alpha val="44706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200F7CF-EEA9-4EF8-B402-110242377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33625"/>
            <a:ext cx="2266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07F4549-DA57-4930-980B-7849A4F42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527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11765"/>
            </a:srgbClr>
          </a:solidFill>
          <a:ln xmlns:a="http://schemas.openxmlformats.org/drawingml/2006/main" w="9525">
            <a:solidFill>
              <a:srgbClr val="6FEAFF">
                <a:alpha val="53333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9F09577-D5C9-49BA-9355-93A671C7B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479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250B4CB-CF76-4137-80D9-8D1D7E754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48000"/>
            <a:ext cx="1828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Sensors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189C594-C99E-4508-8F46-F55B26031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8288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D2 PIR / A0 Light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A1 Gas / A2 LM35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D8/A3 Flame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D4 Button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F20ABAC-81FE-4126-AD23-E8FE0EC71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324100"/>
            <a:ext cx="2286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CD6E">
                <a:alpha val="44706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6C18673-D6B3-468A-9F57-58226521F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333625"/>
            <a:ext cx="2266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E3CBD52-93BA-432D-BD61-9E39996AC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5527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11765"/>
            </a:srgbClr>
          </a:solidFill>
          <a:ln xmlns:a="http://schemas.openxmlformats.org/drawingml/2006/main" w="9525">
            <a:solidFill>
              <a:srgbClr val="FFCD6E">
                <a:alpha val="53333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803B77E-0052-4F55-9A86-D5501F9C0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6479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CD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CD6E"/>
                </a:solidFill>
                <a:latin typeface="Aptos"/>
                <a:ea typeface="Aptos"/>
                <a:cs typeface="Aptos"/>
              </a:rPr>
              <a:t>Edge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36B0408-2F52-455B-B22B-2A815D9CF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048000"/>
            <a:ext cx="1828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Arduino UNO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C10D180-384C-49B4-8100-F8C10A1E2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390900"/>
            <a:ext cx="18288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millis loop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state machine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relay / PWM / tach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buzzer + status light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9F129A1-E97C-40DB-AA11-D404BE501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24100"/>
            <a:ext cx="2286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52F2B0">
                <a:alpha val="44706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E866D5A-205C-4389-B673-792B6C897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333625"/>
            <a:ext cx="2266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F8BCCD6-6928-4569-9CED-1CB789469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5527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11765"/>
            </a:srgbClr>
          </a:solidFill>
          <a:ln xmlns:a="http://schemas.openxmlformats.org/drawingml/2006/main" w="9525">
            <a:solidFill>
              <a:srgbClr val="52F2B0">
                <a:alpha val="53333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21AEC12-5FFF-46C9-9683-D32E5C91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6479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2F2B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2F2B0"/>
                </a:solidFill>
                <a:latin typeface="Aptos"/>
                <a:ea typeface="Aptos"/>
                <a:cs typeface="Aptos"/>
              </a:rPr>
              <a:t>Gateway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55353B5-BA77-4257-955D-96709F7CC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48000"/>
            <a:ext cx="1828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ESP32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C5638E2-BD7C-48B9-BF4F-B309F1ED1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390900"/>
            <a:ext cx="18288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Serial2 UART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Wi-Fi reconnect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MQTT publish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command bridge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ED872E9-5DF7-4C2C-ADF8-11C1B483C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324100"/>
            <a:ext cx="2286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B68CFF">
                <a:alpha val="44706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106B022-AFB4-43C2-9260-A38871A61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333625"/>
            <a:ext cx="2266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8C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9311472-4A69-4474-912D-9C6A89F61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5527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8CFF">
              <a:alpha val="11765"/>
            </a:srgbClr>
          </a:solidFill>
          <a:ln xmlns:a="http://schemas.openxmlformats.org/drawingml/2006/main" w="9525">
            <a:solidFill>
              <a:srgbClr val="B68CFF">
                <a:alpha val="53333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F0300FE-0EE1-45E8-9D0A-710644F0A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6479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68C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68CFF"/>
                </a:solidFill>
                <a:latin typeface="Aptos"/>
                <a:ea typeface="Aptos"/>
                <a:cs typeface="Aptos"/>
              </a:rPr>
              <a:t>Service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0C07ACD-6F8C-404E-829C-AF235201F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048000"/>
            <a:ext cx="1828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Laptop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AF1FC47-F8FC-400E-A5FF-12A7433D8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390900"/>
            <a:ext cx="18288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Mosquitto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web dashboard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history store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AI planner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04D6709-F44F-4FF8-A836-E97C26AFE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60045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9C253BF-E774-49CD-90DA-2D1D76444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448050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8312BC6-98E4-47FA-B1AC-0C68DBFF0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60045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148384A-40F2-4BF4-940D-E8797D5DE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448050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CD6E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CD6E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1963182-122C-49DC-8C93-3898EEE50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60045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1AD5FD1-0FF9-44E2-B5A7-8CD0F1DFA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448050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52F2B0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52F2B0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8D38711-BF74-4A91-BF27-1C9CC18AF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476875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Design decision: ESP32 is a gateway; UNO remains the controller of record.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000A653-D9CD-4977-B024-F0D6213FF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435D8C9-03A1-4858-82DB-7EBD9F65D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</p:spTree>
    <p:extLst>
      <p:ext uri="{BB962C8B-B14F-4D97-AF65-F5344CB8AC3E}">
        <p14:creationId xmlns:p14="http://schemas.microsoft.com/office/powerpoint/2010/main" val="140059797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2FF9230-0EC0-47FA-BE4B-BD594FADC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9D403F-42FF-4147-A3E0-10960020F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17B9AC-7474-4B1E-BFEF-6EFEBAAAB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487759-9253-40BB-ABA5-6C36022EF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D9B413-8726-40D9-996A-F6978877C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FA9DED-12E6-45FE-A00F-E10C33699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729D87-B552-4EF4-8BB6-90ECDF724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D6C6D2-E134-41A6-8951-7F29763C5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834A29-71CF-41A8-BE48-AF00300AE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7B1917-DEEE-4C24-A18C-1A9E341E7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432552-AD1E-4E15-ABB1-BCEAEC66B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441020-E82C-4D3B-A2EB-7D17ED902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4040B9-025F-434C-B5D4-666FD5E49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8497A2-FC15-4138-BC72-336C0A4A2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59AB6B-D343-4635-A128-92C086B4E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EAC33E-DBA4-42D5-95C1-1158716FD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BC071A-F5EB-4FF0-AE80-9602470F0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5C3A04-09B0-416C-A60E-CB0697FC4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15C37A-F15F-4314-B3FC-A8AD8794E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C4D256-8E4D-42AD-981F-A2E84AA39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07F8A5-B89F-443E-BAE2-02B814DB1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17407C-8594-42AE-A792-F4C76543D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8446A3-189C-45D1-962D-04E879111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B17CAE-AC20-411F-BA47-2243E1981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71DF55-8953-424C-8764-541F75013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0AEDD1-C1E9-40D3-87A9-804687AD3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6FEAFF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FDEFE1-8B7B-46D0-81B4-BB16C2E5F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43FC846-43A6-4D00-BB1E-17E4B31A2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19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HARDWARE EVIDENCE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7E38300-8E75-4251-ABAD-89A00D56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Dense hardware, clean responsibility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0BD119A-E56D-4074-B97C-EECE8170D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857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The build is complex, but each module has a clear role in the service.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9FD20B-A6B0-4B68-BC9C-790A2A5E9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00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DACB906-6744-4505-85D1-972B13292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31432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6FEAFF">
                <a:alpha val="44706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4FDC96E-741F-416B-9297-14DD44C17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43150"/>
            <a:ext cx="3124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57FCDEC-1749-490F-BB32-1B9B71597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43175"/>
            <a:ext cx="2686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48-kit modules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D88AF02-F133-44EB-96DB-B0CD00EB8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00375"/>
            <a:ext cx="2686050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#18 PIR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#31 TEMT6000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#25 Gas Sensor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#16 Flame Sensor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#5 Active Buzzer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Traffic Light Module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BCBE813-B92F-4DE0-821F-968B4E58C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333625"/>
            <a:ext cx="31432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52F2B0">
                <a:alpha val="44706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D476269-FE0C-4A24-86EB-101505E1B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343150"/>
            <a:ext cx="3124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51FCD62-0481-423E-B1E3-AB704F8F4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543175"/>
            <a:ext cx="2686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2F2B0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52F2B0"/>
                </a:solidFill>
                <a:latin typeface="Aptos"/>
                <a:ea typeface="Aptos"/>
                <a:cs typeface="Aptos"/>
              </a:rPr>
              <a:t>External components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E333146-AF4C-4396-BABB-878799066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3000375"/>
            <a:ext cx="2686050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UNO R3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ESP32 Gateway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LM35 powered from ESP32 5V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6-channel relay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12V 4-wire fan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LED + resistor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5570B35-A0A0-482A-AD8B-C779F038B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33625"/>
            <a:ext cx="31432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CD6E">
                <a:alpha val="44706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2C2554A-A01A-43D2-8574-051D42085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2343150"/>
            <a:ext cx="3124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FBE8343-E2BA-4ADC-9F63-5195CF4A6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543175"/>
            <a:ext cx="2686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CD6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CD6E"/>
                </a:solidFill>
                <a:latin typeface="Aptos"/>
                <a:ea typeface="Aptos"/>
                <a:cs typeface="Aptos"/>
              </a:rPr>
              <a:t>Wiring rules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07B2AAA-B80A-4F49-9AA3-C4C6E3905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000375"/>
            <a:ext cx="2686050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Common ground is required.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UNO A5 to ESP32 RX2 uses divider.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Relay logic uses RELAY_ON / RELAY_OFF.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No capacitor is added in this build.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4D973F8-49B8-4B89-975B-C06B0F68E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657850"/>
            <a:ext cx="2286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11765"/>
            </a:srgbClr>
          </a:solidFill>
          <a:ln xmlns:a="http://schemas.openxmlformats.org/drawingml/2006/main" w="9525">
            <a:solidFill>
              <a:srgbClr val="FF5E7E">
                <a:alpha val="53333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BCC3E81-FE56-441B-A517-158F55123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753100"/>
            <a:ext cx="1981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5E7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5E7E"/>
                </a:solidFill>
                <a:latin typeface="Aptos"/>
                <a:ea typeface="Aptos"/>
                <a:cs typeface="Aptos"/>
              </a:rPr>
              <a:t>ENGINEERING FIX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53F4F4C-CF88-4F33-8412-AE20C71F0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638800"/>
            <a:ext cx="6096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LM35 became stable after moving power to ESP32 5V and adding ADC guard compensation.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866B38E-3BD1-456E-825A-2EAAB7296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3E10B44-2D43-4BA1-96B6-FB0F42735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</p:spTree>
    <p:extLst>
      <p:ext uri="{BB962C8B-B14F-4D97-AF65-F5344CB8AC3E}">
        <p14:creationId xmlns:p14="http://schemas.microsoft.com/office/powerpoint/2010/main" val="118054321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CE96250-E2E4-4BCE-91F5-86C1AE9F3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48576D-75DE-4D7B-BE34-27431BFEE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EFE0D5-109F-424E-AE5F-B3BA38001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C5A5BA-2F13-461B-A25C-45FC2E157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04AADA-ABBF-4D1A-97A0-80CC7D6A4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83F828-4485-4063-AEC1-37397609B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6D26DF-8F5D-4249-A2D6-CE3937CE1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CD18BF-50F4-49E1-A87F-8A058CC91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4936F4-BA81-4AD2-AF2C-2A48C0AF6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A0E8BB-9718-4CD9-A8EC-23D0EC493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AAA747-383C-43FC-8967-A1C898551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07DE5A-091E-4DED-81D6-FF7C29130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5CDF8F-A267-4C97-84F6-36BA26C9E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EB3092-3FEC-4078-AFE0-222A6C84E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6CDFD6-CC27-487F-9E2A-0BFB37086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1490C8-2056-4234-91F3-E8EA7A623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BCA6E9-3EC8-48EC-AC3D-ABB5C8F8A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DC819C-5B34-4762-BADA-AA6A92EE6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56A065-C73A-4BD2-ABE7-89FDE227B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1B7C71-DAAB-46D6-A61D-225A112E5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B418D2-113B-45C9-AB91-7BC9C24A6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47C1B2-0101-44FD-864E-8CB272DF4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F8CACE-397C-4499-A49D-7B02AA1EB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450575F-AE66-493F-8321-A8EE99E4A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B17425-4300-43A3-9BF0-A4C9A1787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EF993C3-F5B5-48C3-A0D2-A7A791CCD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FFCD6E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2513FCA-BC64-4827-B46C-0A4445158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954B26E-51D6-4DED-A3AF-A387B6C6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19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EDGE INTELLIGENCE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9B0EE8E-D9C0-4391-8981-C8DE0164B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Priority is a state machine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908E0CC-0595-4D4B-87DB-27028D260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857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Mixed behavior stays predictable because safety, sensor health, manual control, cooling, lighting and saving are ordered.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DB0F405-2F99-48B3-8146-6D4BC6D5F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00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972C4C3-80E0-4648-826F-23BB3C258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476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14118"/>
            </a:srgbClr>
          </a:solidFill>
          <a:ln xmlns:a="http://schemas.openxmlformats.org/drawingml/2006/main" w="19050">
            <a:solidFill>
              <a:srgbClr val="FF5E7E">
                <a:alpha val="53333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43DA205-8B8B-49C7-9CCF-DBD436799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8600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5E7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5E7E"/>
                </a:solidFill>
                <a:latin typeface="Aptos"/>
                <a:ea typeface="Aptos"/>
                <a:cs typeface="Aptos"/>
              </a:rPr>
              <a:t>SAFETY_ALARM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43DFA35-674B-4EA6-BDF8-04E89B90B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28600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gas/flame/button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104ADEB-F9DA-48FE-B6E5-ACA09D253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43200"/>
            <a:ext cx="476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8CFF">
              <a:alpha val="14118"/>
            </a:srgbClr>
          </a:solidFill>
          <a:ln xmlns:a="http://schemas.openxmlformats.org/drawingml/2006/main" w="19050">
            <a:solidFill>
              <a:srgbClr val="B68CFF">
                <a:alpha val="53333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72FB23E-B8BC-4427-A5DB-71B97DD83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1940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68C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68CFF"/>
                </a:solidFill>
                <a:latin typeface="Aptos"/>
                <a:ea typeface="Aptos"/>
                <a:cs typeface="Aptos"/>
              </a:rPr>
              <a:t>SENSOR_ERROR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7CE552A-5289-4FDE-A2B3-CADCBA3DD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81940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invalid sensor state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1DFB9A5-DD95-4EF6-8BCE-C0284621B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76600"/>
            <a:ext cx="476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14118"/>
            </a:srgbClr>
          </a:solidFill>
          <a:ln xmlns:a="http://schemas.openxmlformats.org/drawingml/2006/main" w="19050">
            <a:solidFill>
              <a:srgbClr val="6FEAFF">
                <a:alpha val="53333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6AFA2AA-1E1F-4F56-A913-739AB6243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5280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MANUAL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CD673EE-B19A-4611-9D95-B84442442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35280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operator override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8F2606E-1185-4868-A143-3BC6BB558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10000"/>
            <a:ext cx="476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14118"/>
            </a:srgbClr>
          </a:solidFill>
          <a:ln xmlns:a="http://schemas.openxmlformats.org/drawingml/2006/main" w="19050">
            <a:solidFill>
              <a:srgbClr val="FFCD6E">
                <a:alpha val="53333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BDDE02E-A047-4DE2-A8BC-E5A82AF8C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8620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CD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CD6E"/>
                </a:solidFill>
                <a:latin typeface="Aptos"/>
                <a:ea typeface="Aptos"/>
                <a:cs typeface="Aptos"/>
              </a:rPr>
              <a:t>COOLING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AD9C5C4-2F9B-46BD-9660-932D9163B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88620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temperature high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96F2734-3341-4897-B0EE-A22904E68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476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F08B">
              <a:alpha val="14118"/>
            </a:srgbClr>
          </a:solidFill>
          <a:ln xmlns:a="http://schemas.openxmlformats.org/drawingml/2006/main" w="19050">
            <a:solidFill>
              <a:srgbClr val="78F08B">
                <a:alpha val="53333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5B804F2-F098-4394-ACD7-BF5B6FC5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41960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8F08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8F08B"/>
                </a:solidFill>
                <a:latin typeface="Aptos"/>
                <a:ea typeface="Aptos"/>
                <a:cs typeface="Aptos"/>
              </a:rPr>
              <a:t>LIGHTING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F0ED1C6-573D-4085-99FD-B0D21369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441960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occupied + dark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91047D0-2099-4654-AAAD-E34A3E7AD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76800"/>
            <a:ext cx="476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14118"/>
            </a:srgbClr>
          </a:solidFill>
          <a:ln xmlns:a="http://schemas.openxmlformats.org/drawingml/2006/main" w="19050">
            <a:solidFill>
              <a:srgbClr val="52F2B0">
                <a:alpha val="53333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9ABEA6F-DB36-4558-A452-D695AE09C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95300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2F2B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2F2B0"/>
                </a:solidFill>
                <a:latin typeface="Aptos"/>
                <a:ea typeface="Aptos"/>
                <a:cs typeface="Aptos"/>
              </a:rPr>
              <a:t>ENERGY_SAVING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BEE9B33-C189-4877-97FB-78E6C3633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495300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empty or bright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8F7B241-C5CF-4F2E-93D8-A1D8B2E2E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10200"/>
            <a:ext cx="476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E9AAC">
              <a:alpha val="14118"/>
            </a:srgbClr>
          </a:solidFill>
          <a:ln xmlns:a="http://schemas.openxmlformats.org/drawingml/2006/main" w="19050">
            <a:solidFill>
              <a:srgbClr val="7E9AAC">
                <a:alpha val="53333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C2F204D-1BC2-4456-B0F7-220F24F14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48640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NORMAL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EFE2070-599E-4236-A585-E14203313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548640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monitoring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DB7730B-7CE5-4A41-A7B2-0A3B3F2CA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47900"/>
            <a:ext cx="3810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6FEAFF">
                <a:alpha val="4000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E68200D-6C60-4A60-B27F-7DBB9D2EC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647950"/>
            <a:ext cx="2571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2796C4E-0562-463C-BC18-5CF350E22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190875"/>
            <a:ext cx="3048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Dashboard explains what happened and why.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CEB7DAD-82B1-48B8-8042-7A2CCEB6C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381500"/>
            <a:ext cx="30003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That turns raw telemetry into an operational classroom service.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C412144-D669-4ABF-8D58-2B96651C7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850AC4F-3D69-4B19-8099-CA22532DA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</p:spTree>
    <p:extLst>
      <p:ext uri="{BB962C8B-B14F-4D97-AF65-F5344CB8AC3E}">
        <p14:creationId xmlns:p14="http://schemas.microsoft.com/office/powerpoint/2010/main" val="129901355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CA5F7A9-1872-47AD-B4DB-1739643C2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DE26BD-518E-41FD-B7CC-C29D08ADF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9A2D4D-28F0-4016-90E2-B3B0FFD35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6D0812-F8A8-420E-B527-DB1FB247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A115EB-ACC0-40CC-8969-AB228D5C7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BA6177-3777-4F6B-AAA7-C98A6F5B8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E2D6CA-D64E-444C-9A3B-F3B6C831A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FFCF35-A91F-4D6F-B601-A8EF6324C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CEC747-3BDB-47DC-8782-02C63B0A9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CB0DFA-96C6-42DD-88BD-AB67CFB2C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1BE677-B3BD-44BB-9744-CAD6C9823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006480-8102-45F2-B5D3-21F18F716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4DCFF6-9E5C-4A0F-B055-0862D9708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6CDBBE-D4B3-4E4A-8932-FB9F3A2BB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349990-A265-48B2-AE8B-98DB7DA4A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7560EC-FABD-44EB-A75C-240359657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DC412D-9A3C-47A0-8A64-2DD09BB42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C1F146-7F40-4100-A304-B167B372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EA575F-563D-47D4-AADE-27782E5FC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B596E2-7BE7-416A-B5D9-1468ABC16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D88E7C-583F-4F8B-8D25-3BBC799CC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CCE441-D992-49B5-9B91-5147C11F9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DAD551-56AF-4DE2-B14D-1468F7B58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3AB5A4A-3595-4AB6-A3C7-E50425D71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2A56F76-1405-4B3D-A949-2FA9FFF18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0CBEA5-7EB4-4DE0-A4D1-3424E491D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FF5E7E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C622956-3910-495A-B5B9-17C42CCA6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6DD343D-520A-41AF-8BE6-20E3E6118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19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SAFETY ALARM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9F7CB9B-6790-411D-94B7-D0CB6C749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The highest-priority path is visible and local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B44B628-46CE-46C7-985B-D1D67077B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857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The button gives a safe live demo while gas and flame remain the real sensor paths.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BB0EBE-DDE3-4CBF-A507-76D99FA38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00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C882727-7D37-41F0-AB75-A3875C2A8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76500"/>
            <a:ext cx="257175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5E7E">
                <a:alpha val="44706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6CF88C9-4006-4059-9C86-9CEA9ADE6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486025"/>
            <a:ext cx="2552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FCD03BE-1AD6-4D79-8C9B-F2E2970E4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051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11765"/>
            </a:srgbClr>
          </a:solidFill>
          <a:ln xmlns:a="http://schemas.openxmlformats.org/drawingml/2006/main" w="9525">
            <a:solidFill>
              <a:srgbClr val="FF5E7E">
                <a:alpha val="53333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1ADB038-FAA5-4975-B70B-3861916B9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8003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5E7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5E7E"/>
                </a:solidFill>
                <a:latin typeface="Aptos"/>
                <a:ea typeface="Aptos"/>
                <a:cs typeface="Aptos"/>
              </a:rPr>
              <a:t>Trigger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8FB5611-388D-465F-BA78-340077ECD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00400"/>
            <a:ext cx="2114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Three inputs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26B41A5-EA87-4E1E-B442-F6D9B7E39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43300"/>
            <a:ext cx="211455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gasDanger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flameDetected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demoEmergency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CB76ED3-F08E-4B31-A0A0-329B41931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476500"/>
            <a:ext cx="257175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CD6E">
                <a:alpha val="44706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EF089F2-A6F3-45B3-85D9-754CB159A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486025"/>
            <a:ext cx="2552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9254908-A82F-4E1A-9297-B94340FD4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27051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11765"/>
            </a:srgbClr>
          </a:solidFill>
          <a:ln xmlns:a="http://schemas.openxmlformats.org/drawingml/2006/main" w="9525">
            <a:solidFill>
              <a:srgbClr val="FFCD6E">
                <a:alpha val="53333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0EE735B-4DA3-402E-9E7E-C116B5DD4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28003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CD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CD6E"/>
                </a:solidFill>
                <a:latin typeface="Aptos"/>
                <a:ea typeface="Aptos"/>
                <a:cs typeface="Aptos"/>
              </a:rPr>
              <a:t>Decision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BA10355-CBA6-4528-8A70-4DA69B10C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725" y="3200400"/>
            <a:ext cx="2114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SAFETY ALARM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4D77A4A-3580-4578-9BC3-B102DC58C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725" y="3543300"/>
            <a:ext cx="211455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Overrides lighting, cooling and energy-saving logic immediately.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0DE3A20-779F-42E7-8954-08376CBEA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476500"/>
            <a:ext cx="257175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6FEAFF">
                <a:alpha val="44706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F153295-AD0B-4E17-9E1C-1ED16B959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2486025"/>
            <a:ext cx="2552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A63F72B-7BB3-4E49-BC5D-943B827E7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7051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11765"/>
            </a:srgbClr>
          </a:solidFill>
          <a:ln xmlns:a="http://schemas.openxmlformats.org/drawingml/2006/main" w="9525">
            <a:solidFill>
              <a:srgbClr val="6FEAFF">
                <a:alpha val="53333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7257271-4902-484D-8759-25745BDD8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8003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Action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407FE4B-C242-411B-934C-8842DBBCC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200400"/>
            <a:ext cx="2114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Physical response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F7C353E-AAAE-4986-919D-C954C005D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543300"/>
            <a:ext cx="211455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red light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pulsed buzzer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fan relay ON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PWM = 255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2653A39-DF76-49AC-9DBA-3117C1B97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619500"/>
            <a:ext cx="10096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C2872E4-8795-47DF-9433-566ED6FFE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467100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5E7E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5E7E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6B7DFDE-1C9B-45D2-BE96-36FEA6EF7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3619500"/>
            <a:ext cx="10096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24C3A2B-A2A9-4DFF-8C22-AC59839AA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3467100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CD6E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CD6E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485BF9C-E690-42EF-A8E9-0842AAF98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29250"/>
            <a:ext cx="9906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5E7E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F5E7E"/>
                </a:solidFill>
                <a:latin typeface="Aptos"/>
                <a:ea typeface="Aptos"/>
                <a:cs typeface="Aptos"/>
              </a:rPr>
              <a:t>Demo first: press D4, then watch red light, buzzer, fan and dashboard alarm.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36DA34F-F014-486D-94FC-0149810D3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8FA2158-23F7-4586-B8F7-DBF487202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</p:spTree>
    <p:extLst>
      <p:ext uri="{BB962C8B-B14F-4D97-AF65-F5344CB8AC3E}">
        <p14:creationId xmlns:p14="http://schemas.microsoft.com/office/powerpoint/2010/main" val="65567394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8E36D40-6281-46B2-8C5B-9118C784C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FE6694-7202-4432-AFD8-DD987BFA3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8AAE35-B04F-47A8-97D4-D0BEBA0D6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2B37EE-72FB-4E1B-ACAF-80C0124E0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1E8722-A1CE-40DF-B281-C996A9097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57BCAD-9BF9-4FF7-8757-06896ED18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2EF4B8-0D40-4462-B084-DD2107B65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287ACF-E16A-471F-B626-50372F53A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3C5515-CCB9-4F03-A1FE-E8DFA57A6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3DD312-3431-402B-8829-5AE1DC797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D0FE6F-2C40-45A7-99A1-2BDE7C331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CDD8F9-9D52-4724-8DAE-A0F43BA14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E9F0EB-9279-40B6-B1F2-697579D6D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14BCDC-477A-4CCC-82C4-D60978407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51E9C4-DD43-4017-A22F-2F509685E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FD3366-5670-4BC5-8410-E0229C177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37E659-9A54-4911-B8AF-81F4A7034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DCF3D4-CAFD-449B-9B43-5540CFBBE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8C9029-FC7C-49B2-8981-D50E5C571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EF98AE-7F0E-48A7-9244-5ED8F1B58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8B5588-0C17-44D8-82E0-E67C8F270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837860-A0D8-4BC1-B335-2F7BED010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F055590-B1C7-4301-97CD-A4D5CFBEC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360E8C-9EBF-4C45-AE3D-B26BC79A1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208787-C824-41F7-880C-883F994B5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5878B5-9396-44DE-910C-8370050C2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78F08B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F7704F4-46AC-4037-8728-4D04EF0E7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8995A2-7C83-476E-A72D-0202B332A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19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COMFORT + ENERGY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E4F138A-B252-44A7-9AFD-F6D75C96B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Human-friendly automation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FD35EF4-EF68-4700-8786-B70DB8059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857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The classroom avoids waste without making the controls feel abrupt.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B565DBE-B4AE-4EB8-9A96-F2DFAF3DE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00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7843F7A-1A28-420B-8823-B304E6A8E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81250"/>
            <a:ext cx="47625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78F08B">
                <a:alpha val="44706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430B873-536E-4410-8C3A-A8C39A88E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390775"/>
            <a:ext cx="4743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F08B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A67DEAC-A39F-4F2D-A43F-9B505069B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90800"/>
            <a:ext cx="4305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78F08B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78F08B"/>
                </a:solidFill>
                <a:latin typeface="Aptos"/>
                <a:ea typeface="Aptos"/>
                <a:cs typeface="Aptos"/>
              </a:rPr>
              <a:t>Lighting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FD2A616-F887-4689-9ED8-806508A3A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048000"/>
            <a:ext cx="4305300" cy="1514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Bright room: lamp stays off even if PIR sees motion.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Dark room + occupied: lamp turns on.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No occupancy timeout: lamp turns off.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D06D78F-4672-465F-9A72-22F2118A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81250"/>
            <a:ext cx="47625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CD6E">
                <a:alpha val="44706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2B18C98-5914-4664-80A7-4763CAB0E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390775"/>
            <a:ext cx="4743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FD552D8-7253-4D42-8157-7805A398A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590800"/>
            <a:ext cx="4305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CD6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CD6E"/>
                </a:solidFill>
                <a:latin typeface="Aptos"/>
                <a:ea typeface="Aptos"/>
                <a:cs typeface="Aptos"/>
              </a:rPr>
              <a:t>Cooling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AF091F9-503B-45E0-884A-C82EF9C8C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048000"/>
            <a:ext cx="4305300" cy="1514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Temperature threshold starts the relay.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PWM ramps fan intensity.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Tach RPM is interrupt-based and never blocks the system.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613FD13-4F14-4587-9FBB-68334AE85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91125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78F08B">
                <a:alpha val="44706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48A47EF-5AF9-40D1-9A1F-349024DD1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5200650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F08B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87DAF59-4593-44C7-AC89-F52E811C2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362575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78F08B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78F08B"/>
                </a:solidFill>
                <a:latin typeface="Aptos Display"/>
                <a:ea typeface="Aptos Display"/>
                <a:cs typeface="Aptos Display"/>
              </a:rPr>
              <a:t>10s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C5166D8-FB24-417A-992C-256C316C9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915025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occupancy timeout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4997AAB-6556-4CC6-83C4-19D25506A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191125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CD6E">
                <a:alpha val="44706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851A059-1938-4A77-B6BE-108D3A858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200650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9823369-1AE7-4028-9DFC-44ED42E9E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362575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CD6E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FFCD6E"/>
                </a:solidFill>
                <a:latin typeface="Aptos Display"/>
                <a:ea typeface="Aptos Display"/>
                <a:cs typeface="Aptos Display"/>
              </a:rPr>
              <a:t>PWM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C228FBE-9F7E-4636-B754-BA9B9ABD3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915025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smooth fan path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490A37B-29F2-4A4D-BB90-A640685B6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191125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52F2B0">
                <a:alpha val="44706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A2EF7F8-38B3-413E-909F-9DCAA4D0D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5200650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EC62C85-5E6D-487C-A8A3-9A5386D2C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362575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52F2B0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52F2B0"/>
                </a:solidFill>
                <a:latin typeface="Aptos Display"/>
                <a:ea typeface="Aptos Display"/>
                <a:cs typeface="Aptos Display"/>
              </a:rPr>
              <a:t>ACK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650510D-2F9A-4050-8DDB-F8B98A175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915025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config confirmed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EDEB4DE-4ACF-48D6-A927-20D4CF0F8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191125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6FEAFF">
                <a:alpha val="44706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783BA1F-C676-4784-AFE8-7F471E5F0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5200650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156D214-0386-4F18-A243-934D436B7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362575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6FEAFF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6FEAFF"/>
                </a:solidFill>
                <a:latin typeface="Aptos Display"/>
                <a:ea typeface="Aptos Display"/>
                <a:cs typeface="Aptos Display"/>
              </a:rPr>
              <a:t>Local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6BC5560-0B11-468B-8C2B-B4C8C772C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915025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works offline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420EA6C-81D8-49B1-9B02-D814B104B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24FC4BD-7B0B-48EA-A10A-C7F41F568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</p:spTree>
    <p:extLst>
      <p:ext uri="{BB962C8B-B14F-4D97-AF65-F5344CB8AC3E}">
        <p14:creationId xmlns:p14="http://schemas.microsoft.com/office/powerpoint/2010/main" val="153241353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88BE0A1-CA07-4282-A2DB-ADE764E53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934C47-AD92-40AE-BBFA-0161F63DD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FE561F-F0B0-4FBA-8612-6388EE7A1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7E7A2F-02C8-4D48-9E01-966E32DE5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94E1A3-7C7C-4465-BC77-03EA68F5A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D238FF-EE31-4474-A0D9-6279B38CA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6454E4-53AF-49F0-BF6B-66FAE5D9F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F91AAB-13C6-4F2C-9AD6-E8C932B37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B1BC3D-ED7D-48DA-AB8F-E9AE78ADF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F740D5-6039-4FB8-8DE3-61B30CE44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9B1ED4-F338-4F9B-B339-90F7F7722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A46A0A-3EE9-41E5-8B9F-C572DC396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C33EFD-AEFB-4457-880F-39549B9AC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4F5A49-48AF-4138-948D-E8C0542F6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8D15AD-8F7D-4469-980B-C37344CD0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9DD236-14DE-4616-8744-17196FD3E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10AB91-A76A-4598-815C-49AC8309E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3352C0-335A-419C-B772-735CC3B74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1F1E2D-5E7E-479F-8CAA-03AAE1BDB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1DAF1DA-9220-4700-80FC-ABBB5F27D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6F3FA0-6D32-416F-BE84-613409F3A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69718D-4F19-4DDD-9D95-48B7DD4E7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6CEFB5F-3382-4172-8AE7-DA26CC35E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87B6F15-AC24-4672-99F6-76A937D08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B10597-6C46-42B6-84A7-A8E583412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80A0F1C-C98E-487D-85D7-7E5A3C28F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52F2B0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E1925CC-D025-4F5E-8D03-DE0D4B2A7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5211A82-7575-4FAF-ABFB-CE1909D6C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19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MQTT NETWORK LAYER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5CB37E3-E3CA-4B16-AD53-1BA46509A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Telemetry goes up; commands come back with ACK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A2C1DCF-3548-4367-97B7-BC2231439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857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The protocol is simple enough to debug and structured enough for a dashboard.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E629AC3-B9C1-4ECC-B367-E23F81CB7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00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FD7C14F-6942-4CC8-A77D-F146AAF9F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66950"/>
            <a:ext cx="10287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722"/>
          </a:solidFill>
          <a:ln xmlns:a="http://schemas.openxmlformats.org/drawingml/2006/main" w="19050">
            <a:solidFill>
              <a:srgbClr val="6FEAFF">
                <a:alpha val="46667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604B94D-0763-4578-9E06-31C9CDEA5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57450"/>
            <a:ext cx="9753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FEAFF"/>
                </a:solidFill>
                <a:latin typeface="Aptos Mono"/>
                <a:ea typeface="Aptos Mono"/>
                <a:cs typeface="Aptos Mono"/>
              </a:defRPr>
            </a:pPr>
            <a:r>
              <a:rPr sz="1650" b="0">
                <a:solidFill>
                  <a:srgbClr val="6FEAFF"/>
                </a:solidFill>
                <a:latin typeface="Aptos Mono"/>
                <a:ea typeface="Aptos Mono"/>
                <a:cs typeface="Aptos Mono"/>
              </a:rPr>
              <a:t>SC2,mode=SAFETY_ALARM,pir=1,temp10=286,gas=520</a:t>
            </a:r>
          </a:p>
          <a:p xmlns:a="http://schemas.openxmlformats.org/drawingml/2006/main">
            <a:pPr algn="l">
              <a:defRPr sz="1650" b="0">
                <a:solidFill>
                  <a:srgbClr val="6FEAFF"/>
                </a:solidFill>
                <a:latin typeface="Aptos Mono"/>
                <a:ea typeface="Aptos Mono"/>
                <a:cs typeface="Aptos Mono"/>
              </a:defRPr>
            </a:pPr>
            <a:r>
              <a:rPr sz="1650" b="0">
                <a:solidFill>
                  <a:srgbClr val="6FEAFF"/>
                </a:solidFill>
                <a:latin typeface="Aptos Mono"/>
                <a:ea typeface="Aptos Mono"/>
                <a:cs typeface="Aptos Mono"/>
              </a:rPr>
              <a:t>fan=1,pwm=255,rpm=1320,status=R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DDCE74D-3102-4A53-85D3-1F5AF0498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19500"/>
            <a:ext cx="2095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CD6E">
                <a:alpha val="44706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BD6A8A0-6233-479F-B5F9-9CAB91033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629025"/>
            <a:ext cx="2076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7788D11-847F-4080-82ED-691771602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38481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11765"/>
            </a:srgbClr>
          </a:solidFill>
          <a:ln xmlns:a="http://schemas.openxmlformats.org/drawingml/2006/main" w="9525">
            <a:solidFill>
              <a:srgbClr val="FFCD6E">
                <a:alpha val="53333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00F8242-975F-4730-A8B0-DB1074135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9433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CD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CD6E"/>
                </a:solidFill>
                <a:latin typeface="Aptos"/>
                <a:ea typeface="Aptos"/>
                <a:cs typeface="Aptos"/>
              </a:rPr>
              <a:t>UNO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8D47844-AE56-4A95-BFC8-E711801D5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4343400"/>
            <a:ext cx="1638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Emit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77B4E90-F612-47A5-96F0-A4EF87487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4686300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SoftwareSerial line every second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B6D86DF-15C8-44D3-98AB-965F56429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619500"/>
            <a:ext cx="2095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52F2B0">
                <a:alpha val="44706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E9AB2D6-3DDF-4D86-BB5C-933129EEA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629025"/>
            <a:ext cx="2076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A2A57A3-0F36-4300-85F8-21DC3C710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8481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11765"/>
            </a:srgbClr>
          </a:solidFill>
          <a:ln xmlns:a="http://schemas.openxmlformats.org/drawingml/2006/main" w="9525">
            <a:solidFill>
              <a:srgbClr val="52F2B0">
                <a:alpha val="53333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235235D-2D03-4868-8A36-C48FAF3A9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39433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2F2B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2F2B0"/>
                </a:solidFill>
                <a:latin typeface="Aptos"/>
                <a:ea typeface="Aptos"/>
                <a:cs typeface="Aptos"/>
              </a:rPr>
              <a:t>ESP32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97A38E8-A904-4190-A6AA-2D3733C5E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4343400"/>
            <a:ext cx="1638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Parse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4C3ECED-780A-4915-95B1-B34B8383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4686300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Serial2 + Wi-Fi reconnect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2BCD121-93DC-4E6F-8E87-8E24E8544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619500"/>
            <a:ext cx="2095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B68CFF">
                <a:alpha val="44706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091C5E7-E8B1-41C4-8FC5-219BBBA10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629025"/>
            <a:ext cx="2076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8C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0944F61-8621-4D6B-B4D6-BBDF5F0FF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38481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8CFF">
              <a:alpha val="11765"/>
            </a:srgbClr>
          </a:solidFill>
          <a:ln xmlns:a="http://schemas.openxmlformats.org/drawingml/2006/main" w="9525">
            <a:solidFill>
              <a:srgbClr val="B68CFF">
                <a:alpha val="53333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AC36F95-CA2B-4A35-86F7-D79B5431F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39433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68C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68CFF"/>
                </a:solidFill>
                <a:latin typeface="Aptos"/>
                <a:ea typeface="Aptos"/>
                <a:cs typeface="Aptos"/>
              </a:rPr>
              <a:t>MQTT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32D37BF-EA49-49C1-A81E-FEA39D01C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4343400"/>
            <a:ext cx="1638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Publish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7CAE77A-D3A4-4106-9C61-E2401573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4686300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JSON plus key topics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956D391-4A8E-42FD-A3C5-911EDAB95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3619500"/>
            <a:ext cx="2095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6FEAFF">
                <a:alpha val="44706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C71E678-3530-435C-A62B-52F02BFB6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629025"/>
            <a:ext cx="2076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21BC9E4-3221-40CB-BF20-0DBC4FAD6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8481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11765"/>
            </a:srgbClr>
          </a:solidFill>
          <a:ln xmlns:a="http://schemas.openxmlformats.org/drawingml/2006/main" w="9525">
            <a:solidFill>
              <a:srgbClr val="6FEAFF">
                <a:alpha val="53333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DAEC064-85AA-49F0-BA41-EC37DAF6C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39433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Web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961CF9D-3D8A-46AF-A75B-D6B52A1F2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4343400"/>
            <a:ext cx="1638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Operate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45364F1-A40C-437B-98C8-F6BED64E3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4686300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Config + presets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manual mode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D643306-9A03-4069-8356-412987387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410075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A85AE05-CF42-4818-BAC8-EAA996148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25767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CD6E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CD6E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E4FF146-54B7-4CA3-ABCE-25F06CB2B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410075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FA24FDA-87C6-432D-84FB-A6B230F07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5767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52F2B0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52F2B0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4B9AE6A-90B2-4D4C-BF5D-80B8B19E2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410075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8C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4685A6A-2762-4EB0-A10D-D9AFAFCF3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25767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B68C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B68CF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72B86B8-8D5A-4430-AC8B-808499979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667375"/>
            <a:ext cx="800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52F2B0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52F2B0"/>
                </a:solidFill>
                <a:latin typeface="Aptos"/>
                <a:ea typeface="Aptos"/>
                <a:cs typeface="Aptos"/>
              </a:rPr>
              <a:t>ACK loop proves the command actually landed on the UNO.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ED15F64-4CBB-4D2E-8B4D-CC16A990C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DFF0594-4689-43F3-B957-8AE504630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</p:spTree>
    <p:extLst>
      <p:ext uri="{BB962C8B-B14F-4D97-AF65-F5344CB8AC3E}">
        <p14:creationId xmlns:p14="http://schemas.microsoft.com/office/powerpoint/2010/main" val="83518044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FD238F0-5741-4AB0-8238-4DF225E36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254652-8683-4E1F-B282-BE08064E4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50D856-FF6A-4D7E-AB5A-6DC0C15D3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32D2FC-531B-429B-A7D6-F0492D942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29F64D-50F6-495F-9447-80374CF30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CD7F9A-EA16-4FC1-970F-AED559B5A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4767CB-959A-4C52-8DD0-411559ABC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453665-3704-40F5-AFD6-D62A216E4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B36347-178D-477F-97DD-E0741988E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0A7269-447B-46E3-A510-6158F5D2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631594-A56B-498D-92EE-F36FCDEE2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E7822F-BE63-421F-8221-A14817D55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28C428-E15F-4A54-89CD-361432B27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26EBDE-0DE7-4550-B69C-A6244E1E9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E2F6EE-B8EB-474D-8B9E-17F9192B7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34A45B-194B-4232-AA21-E124C64F3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A3CE70-56D5-443F-B3B9-F71C8C5D5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F30F21-0766-4B6A-9870-478C48F09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5C6BE6-B055-4DF8-842E-D19DDDA3A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5C69DC-1E61-4D82-BB6D-364232F40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FC18E8-33C8-4811-BC27-7D0AF644D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E9241A-6EEE-4395-B4A7-8E379A02C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62821A-2AB0-4789-9E3B-F9ECED8FC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B6B6F7-62C8-436B-8997-8F0D1EE5C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2349D9E-A501-4612-AAB3-01EE7FF4B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ADACA9-60C6-4BED-93E9-C4F4CFD6F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6FEAFF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0C49EDD-F4D6-4393-AFEB-D3E7DC181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1EB879D-5FD7-4B95-9538-48151F83F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19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DASHBOARD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4D0AE43-EB59-4DB9-93EA-1E6C6FA00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An operator console, not a raw JSON page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85EF9F7-C785-4185-92A8-AB753965D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857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Large cards, live charts, mobile access, manual mode and scene presets make the system usable.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EFC3218-2995-4242-9DF5-049B9C285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00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EADD582-C86C-4F51-B79C-50F540577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95500"/>
            <a:ext cx="624840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275"/>
            </a:srgbClr>
          </a:solidFill>
          <a:ln xmlns:a="http://schemas.openxmlformats.org/drawingml/2006/main" w="9525">
            <a:solidFill>
              <a:srgbClr val="FFFFFF">
                <a:alpha val="18431"/>
              </a:srgbClr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fa3d1e3e824b23"/>
          <a:srcRect xmlns:a="http://schemas.openxmlformats.org/drawingml/2006/main" l="0" t="8112" r="0" b="81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2171700"/>
            <a:ext cx="6096000" cy="3333750"/>
          </a:xfrm>
          <a:prstGeom xmlns:a="http://schemas.openxmlformats.org/drawingml/2006/main" prst="rect">
            <a:avLst/>
          </a:prstGeom>
        </p:spPr>
      </p:pic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3F0D23D-458C-49DC-966B-3D450D4E1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095500"/>
            <a:ext cx="32956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275"/>
            </a:srgbClr>
          </a:solidFill>
          <a:ln xmlns:a="http://schemas.openxmlformats.org/drawingml/2006/main" w="9525">
            <a:solidFill>
              <a:srgbClr val="FFFFFF">
                <a:alpha val="18431"/>
              </a:srgbClr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86e9e4494646c4"/>
          <a:srcRect xmlns:a="http://schemas.openxmlformats.org/drawingml/2006/main" l="1092" t="0" r="109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43750" y="2171700"/>
            <a:ext cx="3143250" cy="1562100"/>
          </a:xfrm>
          <a:prstGeom xmlns:a="http://schemas.openxmlformats.org/drawingml/2006/main" prst="rect">
            <a:avLst/>
          </a:prstGeom>
        </p:spPr>
      </p:pic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9C35BC0-75DB-4B1B-A93E-7A3C1812B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2095500"/>
            <a:ext cx="12001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275"/>
            </a:srgbClr>
          </a:solidFill>
          <a:ln xmlns:a="http://schemas.openxmlformats.org/drawingml/2006/main" w="9525">
            <a:solidFill>
              <a:srgbClr val="FFFFFF">
                <a:alpha val="18431"/>
              </a:srgbClr>
            </a:solidFill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de1159ceb04ee9"/>
          <a:srcRect xmlns:a="http://schemas.openxmlformats.org/drawingml/2006/main" l="19780" t="0" r="1978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572750" y="2171700"/>
            <a:ext cx="1047750" cy="3333750"/>
          </a:xfrm>
          <a:prstGeom xmlns:a="http://schemas.openxmlformats.org/drawingml/2006/main" prst="rect">
            <a:avLst/>
          </a:prstGeom>
        </p:spPr>
      </p:pic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241DF9A-5B72-40DB-BD06-3EE2775EC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171950"/>
            <a:ext cx="17145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52F2B0">
                <a:alpha val="44706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A90CD9B-BB23-40F9-86FA-B28C8501F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181475"/>
            <a:ext cx="1695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3D74219-AE09-4E16-995B-21D5645B3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343400"/>
            <a:ext cx="1333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52F2B0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52F2B0"/>
                </a:solidFill>
                <a:latin typeface="Aptos Display"/>
                <a:ea typeface="Aptos Display"/>
                <a:cs typeface="Aptos Display"/>
              </a:rPr>
              <a:t>Auto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42E45B7-9353-4E03-9273-58263513F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895850"/>
            <a:ext cx="1333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manual switch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99F0E51-3DD9-4D48-9397-F9A245B7B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171950"/>
            <a:ext cx="17145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CD6E">
                <a:alpha val="44706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96CF699-DF77-4D45-8DAC-BC655959C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181475"/>
            <a:ext cx="1695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0C70612-88FC-4F96-9863-9EFB38D10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4343400"/>
            <a:ext cx="1333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CD6E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FFCD6E"/>
                </a:solidFill>
                <a:latin typeface="Aptos Display"/>
                <a:ea typeface="Aptos Display"/>
                <a:cs typeface="Aptos Display"/>
              </a:rPr>
              <a:t>Presets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510D71B-3067-4588-82D6-052AD890E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4895850"/>
            <a:ext cx="1333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one-click scenes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86C7331-2CDB-4075-BC9E-1F333FB3A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37511BE-06B8-4F56-B494-00E0B602A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Dashboard screenshots captured from the local running system.</a:t>
            </a:r>
          </a:p>
        </p:txBody>
      </p:sp>
    </p:spTree>
    <p:extLst>
      <p:ext uri="{BB962C8B-B14F-4D97-AF65-F5344CB8AC3E}">
        <p14:creationId xmlns:p14="http://schemas.microsoft.com/office/powerpoint/2010/main" val="187157351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E2EBAA8-5900-4FB6-B8F5-43A314E8A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682DF1-17E7-46D6-8770-27185D71A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E2B769-83CC-43A9-A132-F82CACADD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C3DB96-F475-46B1-9A93-537C9A6A8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360D4A-56D6-4D01-901F-2D8367165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2D38DF-E516-4827-820A-58A4EDDAD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51E256-8C52-46EA-8130-659B7D177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9E0479-E6D6-416C-B3DD-5FC33A313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2B66EE-2810-4726-9D88-0F72B0343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73F1EA-3D87-400E-873D-0F6207F1D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42DC90-7FA2-4E3A-81B1-03C2E06AA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E9514C-6B09-4734-977B-B502FCC1C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CB007E-5117-4739-886C-311A8C754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F31A89-F5EF-4862-9855-657713CC2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3DB988-3C05-46C4-9FD9-8ED30D295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7F9DF6-FD62-47A5-AC3E-481D07852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79A7A0-E4E2-4365-A133-7AB43069D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C4E906-06BC-4627-BD16-9F6685A10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A70C09-6E85-4283-8002-6272E06C1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01F02E-8AFF-4CCD-B24C-B105062A5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D97F37-FB1C-4CE8-B31E-020F9F04E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E0C5FC-48AD-4326-8672-F2776946D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79B849-1A43-4B4F-B2B9-4C8E27B4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F8977F-712F-4AAD-B906-9E11F6F45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8198920-933F-4DD5-BFAE-FB65F12DB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0C20B60-4120-4316-80CD-A6AFC1B78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FFCD6E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E32D2F2-3095-49EC-B672-60BCB6322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3213914-C7AD-4BBE-B79E-2E6A8B8DA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19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TELEMETRY EVIDENCE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8F2D93A-75E4-4FDF-88C3-11847C455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The demo has history, not just live values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13A157-EF7C-403C-AC5C-0CE5BAC41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857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Recorded data supports behavior explanation: modes, temperature response, fan duty and safety events.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18886D6-31A0-4685-B595-220B6DEBB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00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CF8D27A-6E04-4C28-A2A5-4E81511C5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05050"/>
            <a:ext cx="5295900" cy="300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275"/>
            </a:srgbClr>
          </a:solidFill>
          <a:ln xmlns:a="http://schemas.openxmlformats.org/drawingml/2006/main" w="9525">
            <a:solidFill>
              <a:srgbClr val="FFFFFF">
                <a:alpha val="18431"/>
              </a:srgbClr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c29c820ab64f5c"/>
          <a:stretch xmlns:a="http://schemas.openxmlformats.org/drawingml/2006/main"/>
        </p:blipFill>
        <p:spPr>
          <a:xfrm xmlns:a="http://schemas.openxmlformats.org/drawingml/2006/main">
            <a:off x="666750" y="2697892"/>
            <a:ext cx="5143500" cy="2224216"/>
          </a:xfrm>
          <a:prstGeom xmlns:a="http://schemas.openxmlformats.org/drawingml/2006/main" prst="rect">
            <a:avLst/>
          </a:prstGeom>
        </p:spPr>
      </p:pic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58B736E-9C98-4431-94A8-5ECEF5461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305050"/>
            <a:ext cx="4629150" cy="300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275"/>
            </a:srgbClr>
          </a:solidFill>
          <a:ln xmlns:a="http://schemas.openxmlformats.org/drawingml/2006/main" w="9525">
            <a:solidFill>
              <a:srgbClr val="FFFFFF">
                <a:alpha val="18431"/>
              </a:srgbClr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4b32f08661432c"/>
          <a:stretch xmlns:a="http://schemas.openxmlformats.org/drawingml/2006/main"/>
        </p:blipFill>
        <p:spPr>
          <a:xfrm xmlns:a="http://schemas.openxmlformats.org/drawingml/2006/main">
            <a:off x="6381750" y="2566634"/>
            <a:ext cx="4476750" cy="2486732"/>
          </a:xfrm>
          <a:prstGeom xmlns:a="http://schemas.openxmlformats.org/drawingml/2006/main" prst="rect">
            <a:avLst/>
          </a:prstGeom>
        </p:spPr>
      </p:pic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7401488-7617-4B9E-A186-74EF6BECA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619750"/>
            <a:ext cx="971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CD6E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CD6E"/>
                </a:solidFill>
                <a:latin typeface="Aptos"/>
                <a:ea typeface="Aptos"/>
                <a:cs typeface="Aptos"/>
              </a:rPr>
              <a:t>9,764 samples | avg temp 28.3C | fan duty 31.5% | safety events 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F088BD6-E678-4AE7-9B20-C01A8E9BC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BA9EE63-8C7B-4808-AE80-0DE52C083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</p:spTree>
    <p:extLst>
      <p:ext uri="{BB962C8B-B14F-4D97-AF65-F5344CB8AC3E}">
        <p14:creationId xmlns:p14="http://schemas.microsoft.com/office/powerpoint/2010/main" val="112652601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84ED9CD-55A0-4F4D-8A24-B185B798D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CCF45A-FA6D-4167-820C-7699FD917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B2BD51-091C-4731-AE08-1D0DF17B4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C685EF-CDFE-4A7B-936E-0BCD8DE2A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19E390-5A91-46F7-B0DF-8FEB43A3E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5A9711-01CB-479B-80C1-EB2E0436A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CC0FFF-410B-4FF2-975B-E120BCCDC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DD71E0-3ABE-42B5-9DD0-91B46A87A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E55D03-4E59-412B-886C-E559788B7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18D7E2-3E06-4200-9A66-3686216FE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6649C5-8046-475D-95D9-00241A91D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DDF61D-C951-4306-80FD-6815B047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3D042F-3304-4823-A962-8B23AE34A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09DCD6-219B-44DF-BC8A-8580CFBED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EA1CA4-9A5E-44CE-B039-49E1EE876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F4E769-5FD0-40CA-BD61-610D61430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9F6091-31DE-4B8C-8FD7-AA632B56F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B21261-1229-4484-815B-417755958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7BAF37-24A3-4D86-95F7-B3A2B0240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C6ACA6-8117-49B4-92A7-09638ACA6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5D18D3-7205-42BA-A277-AF8879CA8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E7D9E1-8B77-471D-ADC5-A1C87D042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32F528-035B-445E-BC41-0400C3DFD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21E0969-5726-4B7F-B2CC-0B960A413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0ABFCA7-9A9D-47D0-8BF9-D27CBD4FA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8A1DBCE-8FDD-4942-B6F4-1E0862F3F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1C6C6E-9956-47E4-B648-7A7059015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83CA0C-2391-4E13-A22A-AB92F6E97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19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MEASURED COMPLEXITY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EA7B026-FB02-44FC-95E0-3FBF47583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Complexity comes from closed loops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AE56261-C5FE-4865-ABFE-E99E6F2F3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857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Sensors, control, gateway, dashboard, persistence and AI all interact with the same physical system.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892FC6-6CB1-4AD9-A3B9-EB2B325BE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00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3C5D04E-344D-45D7-B4D4-B15D87080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57425"/>
            <a:ext cx="5105400" cy="300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275"/>
            </a:srgbClr>
          </a:solidFill>
          <a:ln xmlns:a="http://schemas.openxmlformats.org/drawingml/2006/main" w="9525">
            <a:solidFill>
              <a:srgbClr val="FFFFFF">
                <a:alpha val="18431"/>
              </a:srgbClr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982c923b1a4c5e"/>
          <a:stretch xmlns:a="http://schemas.openxmlformats.org/drawingml/2006/main"/>
        </p:blipFill>
        <p:spPr>
          <a:xfrm xmlns:a="http://schemas.openxmlformats.org/drawingml/2006/main">
            <a:off x="685800" y="2387708"/>
            <a:ext cx="4953000" cy="2749335"/>
          </a:xfrm>
          <a:prstGeom xmlns:a="http://schemas.openxmlformats.org/drawingml/2006/main" prst="rect">
            <a:avLst/>
          </a:prstGeom>
        </p:spPr>
      </p:pic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35283C3-A1ED-4B2D-98B3-99B8AF014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86000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6FEAFF">
                <a:alpha val="44706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9E9E4A0-052F-4E79-8724-9FD25C71B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229552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B9EE120-BE97-49A4-83B5-126991042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5745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6FEAFF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6FEAFF"/>
                </a:solidFill>
                <a:latin typeface="Aptos Display"/>
                <a:ea typeface="Aptos Display"/>
                <a:cs typeface="Aptos Display"/>
              </a:rPr>
              <a:t>9,764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8FB2A75-DA7B-47F8-9D04-74E1E9F49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00990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telemetry samples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B22C708-8FE1-4BAF-8F25-09EE9BC43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286000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CD6E">
                <a:alpha val="44706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D567884-6B32-4461-99A4-067D5BABA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229552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C376E9B-805A-4E1D-928C-545229E81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45745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CD6E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FFCD6E"/>
                </a:solidFill>
                <a:latin typeface="Aptos Display"/>
                <a:ea typeface="Aptos Display"/>
                <a:cs typeface="Aptos Display"/>
              </a:rPr>
              <a:t>12+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826AD3D-BBE5-4070-87F8-6FA5A3E87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00990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MQTT topics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485B598-F7CC-43DE-A164-80247ECE6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14750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B68CFF">
                <a:alpha val="44706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79C0711-E3C1-4256-A45D-6A78BF459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372427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8C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263D69D-27B9-40FA-97C0-0D0C18B3A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8620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B68CFF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B68CFF"/>
                </a:solidFill>
                <a:latin typeface="Aptos Display"/>
                <a:ea typeface="Aptos Display"/>
                <a:cs typeface="Aptos Display"/>
              </a:rPr>
              <a:t>2-way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72C5CED-7B76-471E-8C4A-A4E70E3DE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3865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UART command + ACK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4D52814-D333-4B62-9EDA-10D68310B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714750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5E7E">
                <a:alpha val="44706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61ED974-830A-4C00-B459-75AA2A6A6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72427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827B39F-E407-4405-8EA8-EE90C76AE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8620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5E7E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FF5E7E"/>
                </a:solidFill>
                <a:latin typeface="Aptos Display"/>
                <a:ea typeface="Aptos Display"/>
                <a:cs typeface="Aptos Display"/>
              </a:rPr>
              <a:t>Local-first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A8D7790-A38B-4997-86D4-5D6184661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43865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safety path offline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57F79BA-36A7-4549-BEF5-BD9EB71CE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143500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52F2B0">
                <a:alpha val="44706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B5872ED-DB35-44D8-A00A-1DC37101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515302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B42BD4E-8B80-49CA-A794-CD07B45F1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31495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52F2B0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52F2B0"/>
                </a:solidFill>
                <a:latin typeface="Aptos Display"/>
                <a:ea typeface="Aptos Display"/>
                <a:cs typeface="Aptos Display"/>
              </a:rPr>
              <a:t>34/34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C4C8CB0-7E80-489B-BA1B-80CCB8330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86740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delivery self-check PASS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AAC67EA-4BF7-4C38-A53C-DC863EEA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FBF3D4C-E7A2-49E4-B476-FFA6D80E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</p:spTree>
    <p:extLst>
      <p:ext uri="{BB962C8B-B14F-4D97-AF65-F5344CB8AC3E}">
        <p14:creationId xmlns:p14="http://schemas.microsoft.com/office/powerpoint/2010/main" val="1228048586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E746328-F8C9-473D-AFB0-BFAD2C3BB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719534-CDA9-414E-8B77-052453618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4B871D-ED54-4665-B46A-50D2EE7AF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2706F7-0C5E-4CBA-AFA2-9628ECC91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9385F7-319F-4483-8DC5-12DB35321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0F1735-FEAB-473F-B845-05C347B6A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29F9B5-7C47-4503-B6B3-2EBEA68E1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2CF936-AF33-4B18-838B-6A7EE9F1D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0E33C8-6B41-452C-A0FA-BFE8487A6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DB0232-4E43-491D-B488-A6706A3EB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07D1E5-5847-46A2-BCC8-6F6130B05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020330-B9D2-4C97-BFEB-EF1C115BE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34C886-2C27-4C6B-987E-4769A67FD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5F9D4C-3F9D-4A83-8C25-B704BFB29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520A58-104F-47A4-AC55-DFCB44B8B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0B3B8-2238-46DF-A50F-46A63066E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B8B5BA-E5B5-4962-B6A1-CE364DFB3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861FEA-1121-4B11-B922-BCB32032E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CB9D50-E2D9-48E9-BCAC-E76000A5A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63FAAD-103F-4CCC-A4D3-18FE4900B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91703F-0F6F-4CED-84DB-24301B794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258FD9-2AEB-41C9-80F1-0CC049111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DDE7D4-74DD-415A-AD01-D809A1DD0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E7E5B5-592F-43AF-A669-3A64128CE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4D16FF-1777-4C96-890E-C56AA13F8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5C27D5F-8754-4F32-939E-37F1EACA8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5F9CFF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4324A7-690D-44D2-B3E4-D26496FC0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7B79FFD-A424-47EF-B6C3-E6548D912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19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AI OPERATIONS LAYER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BC7AAC1-7166-4ADE-988D-D20B03A32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Natural language becomes structured control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F0E6966-BB5F-4622-80F5-9C8130E0B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857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AI is useful because it turns vague operator intent into ordered tasks and timed actions.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08BB0C7-75A7-404B-9E2A-7F4706379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00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98E9EA4-9587-4258-AB66-D75F98DE2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05050"/>
            <a:ext cx="5010150" cy="300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275"/>
            </a:srgbClr>
          </a:solidFill>
          <a:ln xmlns:a="http://schemas.openxmlformats.org/drawingml/2006/main" w="9525">
            <a:solidFill>
              <a:srgbClr val="FFFFFF">
                <a:alpha val="18431"/>
              </a:srgbClr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22713c162f4960"/>
          <a:srcRect xmlns:a="http://schemas.openxmlformats.org/drawingml/2006/main" l="6910" t="0" r="691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2381250"/>
            <a:ext cx="4857750" cy="2857500"/>
          </a:xfrm>
          <a:prstGeom xmlns:a="http://schemas.openxmlformats.org/drawingml/2006/main" prst="rect">
            <a:avLst/>
          </a:prstGeom>
        </p:spPr>
      </p:pic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90CEA83-6ADA-4013-A922-34E5D80AE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81250"/>
            <a:ext cx="161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6FEAFF">
                <a:alpha val="44706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FD03805-BE46-4D21-A321-F1CFFA69A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2390775"/>
            <a:ext cx="1600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E066541-831F-4863-AEB8-CB18D99B9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09850"/>
            <a:ext cx="1200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11765"/>
            </a:srgbClr>
          </a:solidFill>
          <a:ln xmlns:a="http://schemas.openxmlformats.org/drawingml/2006/main" w="9525">
            <a:solidFill>
              <a:srgbClr val="6FEAFF">
                <a:alpha val="53333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BD906C3-506F-417F-A19F-954BC1FEA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705100"/>
            <a:ext cx="895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Voice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51B2E31-5EC6-4CCE-A4F0-F898DB27C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05150"/>
            <a:ext cx="1162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Capture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FEC999A-0D33-43F1-9158-DB034D92F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448050"/>
            <a:ext cx="1162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Browser mic input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A04A68D-01BD-4ACB-8D7B-8FD3EEDC5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381250"/>
            <a:ext cx="161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52F2B0">
                <a:alpha val="44706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920B4E2-D63B-4254-87FA-B994029C0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90775"/>
            <a:ext cx="1600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9A80C40-4266-4B92-AD95-F5D643F48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609850"/>
            <a:ext cx="1200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11765"/>
            </a:srgbClr>
          </a:solidFill>
          <a:ln xmlns:a="http://schemas.openxmlformats.org/drawingml/2006/main" w="9525">
            <a:solidFill>
              <a:srgbClr val="52F2B0">
                <a:alpha val="53333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F11C603-3876-4BEA-AA5D-D77DD67E0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705100"/>
            <a:ext cx="895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2F2B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2F2B0"/>
                </a:solidFill>
                <a:latin typeface="Aptos"/>
                <a:ea typeface="Aptos"/>
                <a:cs typeface="Aptos"/>
              </a:rPr>
              <a:t>STT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341B7DB-BD23-4CD4-BA86-E3B3560E8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105150"/>
            <a:ext cx="1162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Text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9C9DA56-736E-4B1B-9447-E4FD77027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448050"/>
            <a:ext cx="1162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faster-whisper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9F52C7B-85E6-4BAE-8BB9-A42A48EF8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381250"/>
            <a:ext cx="161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B68CFF">
                <a:alpha val="44706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E485721-5E70-4F0C-9599-E90D4A757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2390775"/>
            <a:ext cx="1600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8C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5FB46C3-00F1-4B45-AC5F-EC4FD8645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609850"/>
            <a:ext cx="1200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8CFF">
              <a:alpha val="11765"/>
            </a:srgbClr>
          </a:solidFill>
          <a:ln xmlns:a="http://schemas.openxmlformats.org/drawingml/2006/main" w="9525">
            <a:solidFill>
              <a:srgbClr val="B68CFF">
                <a:alpha val="53333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453BA37-932B-481D-8116-E5BDCC1E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705100"/>
            <a:ext cx="895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68C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68CFF"/>
                </a:solidFill>
                <a:latin typeface="Aptos"/>
                <a:ea typeface="Aptos"/>
                <a:cs typeface="Aptos"/>
              </a:rPr>
              <a:t>Qwen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1C0E8D2-1442-4642-A64E-C2C251A50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3105150"/>
            <a:ext cx="1162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BEAC24C-D8F5-4C25-B4D4-0173D151C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3448050"/>
            <a:ext cx="1162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structured tasks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AA61236-A831-4743-98DA-D9462E226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219450"/>
            <a:ext cx="1047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E864DAE-63B6-4BEF-8A94-E671F0100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067050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317DD81-D8FA-4AC6-9671-386EA27CD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219450"/>
            <a:ext cx="1047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994755E-0603-42F5-9060-D8A3363DA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067050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52F2B0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52F2B0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B16033B-BC87-4875-96D3-297AE7CA0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572000"/>
            <a:ext cx="3429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CD6E">
                <a:alpha val="44706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5DA3883-13E3-4BBD-85AA-968320292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4581525"/>
            <a:ext cx="3409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487173A-9279-4C41-AF7C-997AD6200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781550"/>
            <a:ext cx="2971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CD6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CD6E"/>
                </a:solidFill>
                <a:latin typeface="Aptos"/>
                <a:ea typeface="Aptos"/>
                <a:cs typeface="Aptos"/>
              </a:rPr>
              <a:t>Timeline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56E539E-FF23-4354-8859-9AA8049BD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238750"/>
            <a:ext cx="2971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Delayed actions auto-clear after completion.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8CFA9EE-804A-4F16-BE07-847363A4B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572000"/>
            <a:ext cx="1809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5E7E">
                <a:alpha val="44706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80F2DF0-9EFF-4968-95F2-36F9E2BB4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4581525"/>
            <a:ext cx="1790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5CBB30E-BD3D-4481-AD23-29D5C2CDC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781550"/>
            <a:ext cx="1352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5E7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5E7E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C0E76E8-B3BC-44F3-BBA5-F887D2BDA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5238750"/>
            <a:ext cx="13525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Overrides guide comfort.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1AF0043-887C-4D99-BDDB-6718563A6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21BC341-A907-4187-972E-E953A5197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</p:spTree>
    <p:extLst>
      <p:ext uri="{BB962C8B-B14F-4D97-AF65-F5344CB8AC3E}">
        <p14:creationId xmlns:p14="http://schemas.microsoft.com/office/powerpoint/2010/main" val="183651041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F8F7274-08D6-40B1-975F-42B79B94B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681DE2-E5AF-4614-814B-2B39D8B4D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9BD4B8-5F54-4742-B364-28E0163EB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43BEC9-70B4-4007-8A02-B7D29E0BC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31C34C-BD88-46C6-BFCD-074BA93E1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754451-7A2D-4398-B166-036A4DD28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22F942-2226-4B77-BAB1-01FAFE98F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8BD82F-8F48-4ABC-977F-3877E6C87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198FDC-22EB-48A4-9842-00A92B9CA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62DA4E-BCE4-4789-8AF8-D583DF561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4CEB07-ABFC-4EF7-892E-6B76C672D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FDD641-9A36-4E41-86C9-FEA9F8FE8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7759C8-706B-4122-BCEC-5E466B46C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CC7FDE-FAB4-407A-BE63-7938A0062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64BBC0-04E5-4024-B13F-04FBBCCE2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C249CA-A1B7-4C76-BA74-1DDF9B0E8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629A53-3E75-4C8E-8788-A509F9B33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DF6426-AD92-4C34-B548-F8FBD1E40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919371-808A-4CA5-93D4-E14325653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2A5BBAC-AF6B-41A9-8537-36785DDB4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1A322E-133F-4179-8644-17B7FA509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CC9D92-E164-4A9F-AC86-168B7544B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1EBA34-9758-410F-9906-EEEA15DDA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455849-6417-4ECC-934B-FF18264A6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7F48D6-C94F-4EA1-924E-3BB517DBA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C77265-9F0C-4E68-BB7E-209F1A758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52F2B0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5695E47-D9FF-4C94-9676-1AE044FB4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88FF618-D0F1-4E6F-A2CF-89F93E063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19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SECURITY, PRIVACY &amp; OPERATIONS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7CD2FE4-C033-4D80-9471-D447FAD61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Demo-friendly, but risk-aware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E45E7B2-FFE9-4396-A3CA-A2ACED709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857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The project separates safety-critical local control from network convenience and AI assistance.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072848D-EED2-4692-B95A-93FC95244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00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768C9BE-C313-4EC9-B702-984B77233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76500"/>
            <a:ext cx="31432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5E7E">
                <a:alpha val="44706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7E83BC7-9BDD-48D6-BEE6-9696B89BD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486025"/>
            <a:ext cx="3124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D8186E5-B197-4D9C-BC70-6CACE0D47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686050"/>
            <a:ext cx="2686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5E7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5E7E"/>
                </a:solidFill>
                <a:latin typeface="Aptos"/>
                <a:ea typeface="Aptos"/>
                <a:cs typeface="Aptos"/>
              </a:rPr>
              <a:t>Safety boundary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07C6EE9-7506-4D3F-8DA3-08219E745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143250"/>
            <a:ext cx="26860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Safety alarm, buzzer, red light and fan response are local on UNO.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E045EF0-7416-403A-B04B-B4B502A2E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476500"/>
            <a:ext cx="31432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6FEAFF">
                <a:alpha val="44706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222F5D8-948B-44CB-A08F-492ED9DC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86025"/>
            <a:ext cx="3124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E1C3FAD-4285-4DBA-AC85-FFC3AA00B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686050"/>
            <a:ext cx="2686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Privacy boundary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135C5F4-70F3-46BD-A990-BDBFA5ED3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3143250"/>
            <a:ext cx="26860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Microphone is user-triggered and requires browser permission.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544FC2B-F102-41AE-B0F7-A3DA762C7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76500"/>
            <a:ext cx="31432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52F2B0">
                <a:alpha val="44706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0205FE8-88B8-4003-9768-9ECCE4497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486025"/>
            <a:ext cx="3124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559AB71-DBA6-4947-AE8A-5ECDA1C84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686050"/>
            <a:ext cx="2686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2F2B0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52F2B0"/>
                </a:solidFill>
                <a:latin typeface="Aptos"/>
                <a:ea typeface="Aptos"/>
                <a:cs typeface="Aptos"/>
              </a:rPr>
              <a:t>Operations boundary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D7E2883-EE61-4872-9D7B-79ADF0775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143250"/>
            <a:ext cx="26860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MQTT status, ACK logs, persistence and self-check reduce demo risk.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7CA8D68-E991-4611-9471-FBF56622A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476875"/>
            <a:ext cx="9525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CD6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CD6E"/>
                </a:solidFill>
                <a:latin typeface="Aptos"/>
                <a:ea typeface="Aptos"/>
                <a:cs typeface="Aptos"/>
              </a:rPr>
              <a:t>Production hardening path: authenticated MQTT, TLS, enclosure, fuse, isolation and power filtering.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B875BD6-BAEE-458A-836D-0BB995AA2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CB2EBFD-B0FA-4B65-B7AC-3CC8F6EC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</p:spTree>
    <p:extLst>
      <p:ext uri="{BB962C8B-B14F-4D97-AF65-F5344CB8AC3E}">
        <p14:creationId xmlns:p14="http://schemas.microsoft.com/office/powerpoint/2010/main" val="67230338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15E92D-04CB-4422-AA59-973DEB670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7E9006-5F84-4972-9EAF-9BDD0DC2E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BE3334-568E-4EDC-A33D-D14382A91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FE8EDF-7002-44CE-B8CD-897263AC6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75E708-C8EB-4799-B5CC-5E3045FF1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DC0742-BD5E-4E61-95F9-7AD702B45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5A5413-D659-4779-AD43-1034927CE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0D8CD1-0E19-4894-8792-1F4588A46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7CFF4D-AF7C-4AD6-8168-C9D471AC0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AD8C63-C412-4AC5-9138-4BFF5DB87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17F7F2-9F81-49E3-AC1C-C805E13C3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362306-0053-429F-B9AF-02350C23E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B43A46-6D40-48F5-BDC0-5564AE034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23943E-FB54-44E4-8A34-41B993053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0A7BEF-29C2-4707-8E93-23397A83A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AE0AA6-1BFA-4547-A067-29EEA98A0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2F0E4D-6720-4098-9DC0-D4A5A4CA4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40B3E7-FC9B-42E2-B211-5DE637C2D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74CC12-7F64-4082-A15D-45BCB9ADF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4EA7D5-3AA9-4F1A-937C-9D491B55B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023ACE-ED08-4D32-A310-5F6EC2E0C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0D25F7-7F62-48F1-8AFC-02E02EA7B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9E6397-FF68-4353-A41B-705DBA87C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E8324F-71C0-4BD6-8885-5E40ADE82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D53CF8A-5AF1-4C3B-96B7-D74AFFA43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EFA8117-F2C1-420E-A64D-F05EA887D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6FEAFF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5B2CE0D-828C-4C86-BE9A-6F84FBA8F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E4BD984-1295-4642-952F-EFF4AACBB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19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DEMO CHOREOGRAPHY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52988AC-B7B5-40ED-BE32-579252D53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Show the strongest engineering first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0A74B36-E132-4C6A-8064-C9B51E231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857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The audience should see safety and edge control before dashboard polish and AI features.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172B89D-BF74-414E-8384-66854228E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00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DAF7916-474A-425A-AA84-D0624CE97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195262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5E7E">
                <a:alpha val="44706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8CE9603-C56C-4B79-928A-01F478DB2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486025"/>
            <a:ext cx="193357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726252F-4B38-4B43-A892-60696A38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051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11765"/>
            </a:srgbClr>
          </a:solidFill>
          <a:ln xmlns:a="http://schemas.openxmlformats.org/drawingml/2006/main" w="9525">
            <a:solidFill>
              <a:srgbClr val="FF5E7E">
                <a:alpha val="53333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B81D8A9-ECA1-4025-8519-59FEDE8F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5E7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5E7E"/>
                </a:solidFill>
                <a:latin typeface="Aptos"/>
                <a:ea typeface="Aptos"/>
                <a:cs typeface="Aptos"/>
              </a:rPr>
              <a:t>P1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C98F5E1-8DCD-4F40-A9E9-ADD593B4A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00400"/>
            <a:ext cx="14954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Safety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6237E73-5E0D-4198-9EB8-20A0746ED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43300"/>
            <a:ext cx="149542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button -&gt; red light -&gt; buzzer -&gt; fan high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6376A60-E4CC-49DA-9569-A50405A6A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476500"/>
            <a:ext cx="195262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6FEAFF">
                <a:alpha val="44706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5B1470F-9011-4C40-AED3-271406847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486025"/>
            <a:ext cx="193357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10D5373-DDA6-445D-AD11-62B97FD41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7051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11765"/>
            </a:srgbClr>
          </a:solidFill>
          <a:ln xmlns:a="http://schemas.openxmlformats.org/drawingml/2006/main" w="9525">
            <a:solidFill>
              <a:srgbClr val="6FEAFF">
                <a:alpha val="53333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BD6C5B3-ED8E-43F6-94C8-60B4165D9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75" y="28003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P2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941AB41-3F02-42F6-BED6-D915D4D62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200400"/>
            <a:ext cx="14954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Edge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4AC730A-CDBA-4B64-86CD-2AA148B77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543300"/>
            <a:ext cx="149542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UNO local controller and priority modes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66319CB-92FB-4989-8F9A-DA8844FD9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476500"/>
            <a:ext cx="195262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78F08B">
                <a:alpha val="44706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F115E19-589B-46CE-865B-441616CCA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2486025"/>
            <a:ext cx="193357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F08B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30EB2E2-2AC3-4372-AF2D-F72487216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7051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F08B">
              <a:alpha val="11765"/>
            </a:srgbClr>
          </a:solidFill>
          <a:ln xmlns:a="http://schemas.openxmlformats.org/drawingml/2006/main" w="9525">
            <a:solidFill>
              <a:srgbClr val="78F08B">
                <a:alpha val="53333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918A62B-B960-4E10-8A8F-EFD639034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8003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8F08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8F08B"/>
                </a:solidFill>
                <a:latin typeface="Aptos"/>
                <a:ea typeface="Aptos"/>
                <a:cs typeface="Aptos"/>
              </a:rPr>
              <a:t>P3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1517EBB-1175-45D8-8BAA-B8DF81648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200400"/>
            <a:ext cx="14954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Energy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B681D5C-3687-4DC4-91FA-629A441AF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543300"/>
            <a:ext cx="149542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PIR + light + temp drive lamp and fan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0AE81F9-DA15-4936-909F-64DF37BE4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476500"/>
            <a:ext cx="195262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52F2B0">
                <a:alpha val="44706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195F73D-C2E6-43B6-AB46-F528043DA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486025"/>
            <a:ext cx="193357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E2CC7A6-1342-4150-B70E-B854B4E94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27051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11765"/>
            </a:srgbClr>
          </a:solidFill>
          <a:ln xmlns:a="http://schemas.openxmlformats.org/drawingml/2006/main" w="9525">
            <a:solidFill>
              <a:srgbClr val="52F2B0">
                <a:alpha val="53333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95272BD-6274-4D49-BC58-6EC8B7475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28003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2F2B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2F2B0"/>
                </a:solidFill>
                <a:latin typeface="Aptos"/>
                <a:ea typeface="Aptos"/>
                <a:cs typeface="Aptos"/>
              </a:rPr>
              <a:t>P4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E26958D-954E-459E-B5B9-A9430F714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3200400"/>
            <a:ext cx="14954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IoT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17DA8B3-8122-462A-A5C2-A679D923C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3543300"/>
            <a:ext cx="149542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UART, MQTT topics and ACK command loop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51313DA-656D-4043-9278-CE1929253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476500"/>
            <a:ext cx="195262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B68CFF">
                <a:alpha val="44706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A5A105E-D1E5-4F35-AD00-7C1B262B0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2486025"/>
            <a:ext cx="193357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8C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72FCF29-E219-4703-8FC3-C06346BE9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7051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8CFF">
              <a:alpha val="11765"/>
            </a:srgbClr>
          </a:solidFill>
          <a:ln xmlns:a="http://schemas.openxmlformats.org/drawingml/2006/main" w="9525">
            <a:solidFill>
              <a:srgbClr val="B68CFF">
                <a:alpha val="53333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43B8318-A615-40DC-91A2-E2CBB8531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8003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68C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68CFF"/>
                </a:solidFill>
                <a:latin typeface="Aptos"/>
                <a:ea typeface="Aptos"/>
                <a:cs typeface="Aptos"/>
              </a:rPr>
              <a:t>P5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289D354-9188-40F1-9381-F8456A466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200400"/>
            <a:ext cx="14954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AI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0A0AAEB-120B-4056-BF17-FA7CE828C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543300"/>
            <a:ext cx="149542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voice, Qwen, timeline and data preference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D6FED34-BDD7-4D17-960E-348E70761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505200"/>
            <a:ext cx="57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BCB5814-6629-41F0-9775-5F1DA994C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352800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5E7E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5E7E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2C21975-1710-42C6-8C8D-D39246A71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505200"/>
            <a:ext cx="57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3C38A78-C0DD-4EBD-BC2A-E63892F18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352800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1FF10C0-F0FD-4F6B-A923-A0B019CC9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505200"/>
            <a:ext cx="57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F08B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3802641-2847-46F9-8FCA-502935EBA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52800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78F08B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78F08B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2D44A16-951C-4875-981F-4762AA79F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505200"/>
            <a:ext cx="57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73CA96BE-0EAC-4BEE-9B76-8F2EC9F55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3352800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52F2B0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52F2B0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B131674-D6FE-41B1-9F1C-51996D15C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381625"/>
            <a:ext cx="876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Do not open with AI. Open with physical safety response.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6C09818-114A-4D65-9CCC-772928D3A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FF0CD9D-9102-4DDA-AAA4-FF60F0E05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</p:spTree>
    <p:extLst>
      <p:ext uri="{BB962C8B-B14F-4D97-AF65-F5344CB8AC3E}">
        <p14:creationId xmlns:p14="http://schemas.microsoft.com/office/powerpoint/2010/main" val="729825245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AD02C4B-6B06-4449-BE47-AE5055C8D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88EB12-5D06-4199-85D5-AA1F30992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D9A7E4-25E3-4EE0-A415-B02E32DE1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1C8D22-D2BB-47D6-B9BB-109102079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AAAA9C-B8AA-4A03-8318-BCBB9E3D0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7D8D5F-7E25-4045-965A-4C9258DEE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1EB019-0832-4E32-ABC6-54FE5175D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29A33D-1C14-4ACC-A250-0BE46655A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6D33A7-FCE5-4C77-AB78-9A29E0B6B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04DDD6-0DE0-4FBE-B706-68BDA16A7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D425E0-FB79-4492-9938-4E18A81C8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7FBAF0-F488-4410-9718-58A8E7093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67B893-4D23-4ACF-B1B9-FB03496E7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F132C3-FFB3-47DB-BCE2-9D7043D6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AD43AF-93DB-4581-9ACF-830BA42A1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6658A3-B4E8-461F-889E-6ED825C58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851C38-3685-417C-A071-876FB0FEB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E6AB01-42F5-46E5-ADEE-F14476898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A2B147-0A98-4E30-93AD-E73972119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E45B06-189C-4392-95D4-BA50AE17E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2FA8B3-1099-44FD-8891-5581DED11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5FBCE2-F4CD-425A-9FD3-FA211B5BE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172E79-5F53-469B-AAE7-8E2763698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780A121-CD9C-4F6D-8E74-6DD6DB21B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853D320-DC99-41A6-9721-AE3CA988F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7D7B959-15D5-4A81-944B-18A294F17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9185876-94FA-4043-8280-6A635EE25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0CA16ED-5D68-4E67-A5ED-304042893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19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REFERENCES + SELF-CHECK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7783BF-53C8-4239-B02C-423E56B91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Ready to inspect, rebuild and present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3FF7C66-A80F-426D-B3AA-E759B6078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857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The final package includes sources, assembly materials, scripts and a repeatable delivery check.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3FBB9C5-F0AA-4853-A4E4-0FF728C24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00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9D7ABEC-6132-443D-9664-07526C494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33625"/>
            <a:ext cx="4762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6FEAFF">
                <a:alpha val="44706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33425F2-7E3B-4E7F-A3B7-7CE18EE5B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343150"/>
            <a:ext cx="4743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56E0E1C-34A2-40CA-B1CB-EDF547E7B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43175"/>
            <a:ext cx="4305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References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7D921CB-C44D-4B56-92C9-C83AD84C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000375"/>
            <a:ext cx="43053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Arduino UNO R3 docs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Espressif Arduino-ESP32 Serial docs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Eclipse Mosquitto config docs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Arduino PubSubClient docs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Texas Instruments LM35 page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9DFD7CC-40F5-4E6F-963E-9D94A2969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33625"/>
            <a:ext cx="4762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52F2B0">
                <a:alpha val="44706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3257364-B04F-4F90-BD61-38D7D5649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343150"/>
            <a:ext cx="4743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17167BE-5B84-474A-9F1A-BCC799153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543175"/>
            <a:ext cx="4305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2F2B0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52F2B0"/>
                </a:solidFill>
                <a:latin typeface="Aptos"/>
                <a:ea typeface="Aptos"/>
                <a:cs typeface="Aptos"/>
              </a:rPr>
              <a:t>Self-check gates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131BBA1-D93F-44B8-A3EB-62A4C8ED0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000375"/>
            <a:ext cx="43053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PPT structure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required docs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firmware presence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secret scan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Node/Python syntax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UNO + ESP32 compile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B850FC7-1E35-4580-9B1F-519B9AF73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572125"/>
            <a:ext cx="9715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Final claim: a local-first IoT classroom controller with safety, energy saving, operations and evidence-backed intelligence.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AD6254B-AFA3-410B-8ACE-6BF131476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4C80350-9405-49EB-BBAB-251387B5D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Smart Classroom IoT104TC final presentation package</a:t>
            </a:r>
          </a:p>
        </p:txBody>
      </p:sp>
    </p:spTree>
    <p:extLst>
      <p:ext uri="{BB962C8B-B14F-4D97-AF65-F5344CB8AC3E}">
        <p14:creationId xmlns:p14="http://schemas.microsoft.com/office/powerpoint/2010/main" val="141815677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2026-05-24T13:48:59.9490000Z</dcterms:created>
  <dcterms:modified xsi:type="dcterms:W3CDTF">2026-05-24T13:48:59.9490000Z</dcterms:modified>
</coreProperties>
</file>